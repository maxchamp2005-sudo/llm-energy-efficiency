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73295c698c34e10" /><Relationship Type="http://schemas.openxmlformats.org/officeDocument/2006/relationships/extended-properties" Target="/docProps/app.xml" Id="Rd7a27478cef94cab" /><Relationship Type="http://schemas.openxmlformats.org/officeDocument/2006/relationships/officeDocument" Target="/ppt/presentation.xml" Id="R2a958080d8214df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95eec58f23347ff"/>
  </p:sldMasterIdLst>
  <p:notesMasterIdLst>
    <p:notesMasterId xmlns:r="http://schemas.openxmlformats.org/officeDocument/2006/relationships" r:id="R5f097cfa8ff941f2"/>
  </p:notesMasterIdLst>
  <p:sldIdLst>
    <p:sldId xmlns:r="http://schemas.openxmlformats.org/officeDocument/2006/relationships" id="256" r:id="R660419e85dd74a48"/>
    <p:sldId xmlns:r="http://schemas.openxmlformats.org/officeDocument/2006/relationships" id="257" r:id="Rfe21568811e04f53"/>
    <p:sldId xmlns:r="http://schemas.openxmlformats.org/officeDocument/2006/relationships" id="258" r:id="R1955cd6be8b14f23"/>
    <p:sldId xmlns:r="http://schemas.openxmlformats.org/officeDocument/2006/relationships" id="259" r:id="Rddb042aa9ef1403a"/>
    <p:sldId xmlns:r="http://schemas.openxmlformats.org/officeDocument/2006/relationships" id="260" r:id="R98f2572615744b3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5b9c292e428424a" /><Relationship Type="http://schemas.openxmlformats.org/officeDocument/2006/relationships/slideMaster" Target="/ppt/slideMasters/slideMaster1.xml" Id="R395eec58f23347ff" /><Relationship Type="http://schemas.openxmlformats.org/officeDocument/2006/relationships/notesMaster" Target="/ppt/notesMasters/notesMaster1.xml" Id="R5f097cfa8ff941f2" /><Relationship Type="http://schemas.openxmlformats.org/officeDocument/2006/relationships/presProps" Target="/ppt/presProps.xml" Id="R22ebc247d99b497d" /><Relationship Type="http://schemas.openxmlformats.org/officeDocument/2006/relationships/tableStyles" Target="/ppt/tableStyles.xml" Id="Rb9c5a03197b64a7c" /><Relationship Type="http://schemas.openxmlformats.org/officeDocument/2006/relationships/slide" Target="/ppt/slides/slide1.xml" Id="R660419e85dd74a48" /><Relationship Type="http://schemas.openxmlformats.org/officeDocument/2006/relationships/slide" Target="/ppt/slides/slide2.xml" Id="Rfe21568811e04f53" /><Relationship Type="http://schemas.openxmlformats.org/officeDocument/2006/relationships/slide" Target="/ppt/slides/slide3.xml" Id="R1955cd6be8b14f23" /><Relationship Type="http://schemas.openxmlformats.org/officeDocument/2006/relationships/slide" Target="/ppt/slides/slide4.xml" Id="Rddb042aa9ef1403a" /><Relationship Type="http://schemas.openxmlformats.org/officeDocument/2006/relationships/slide" Target="/ppt/slides/slide5.xml" Id="R98f2572615744b3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c1ab050aff24bc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e2cc915c57941a4" /><Relationship Type="http://schemas.openxmlformats.org/officeDocument/2006/relationships/notesMaster" Target="/ppt/notesMasters/notesMaster1.xml" Id="Rf506122fae5546a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ae0ccc301f6411b" /><Relationship Type="http://schemas.openxmlformats.org/officeDocument/2006/relationships/notesMaster" Target="/ppt/notesMasters/notesMaster1.xml" Id="R32879d93065e488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59700108ed44b38" /><Relationship Type="http://schemas.openxmlformats.org/officeDocument/2006/relationships/notesMaster" Target="/ppt/notesMasters/notesMaster1.xml" Id="Rb012fffe6968467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65bc7b5250b4e41" /><Relationship Type="http://schemas.openxmlformats.org/officeDocument/2006/relationships/notesMaster" Target="/ppt/notesMasters/notesMaster1.xml" Id="Rc0130bc7a06645c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49be8ccdf7a4295" /><Relationship Type="http://schemas.openxmlformats.org/officeDocument/2006/relationships/notesMaster" Target="/ppt/notesMasters/notesMaster1.xml" Id="R22827d0d4b584a6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Photo supplied by the project owner in this conversation, used without alteration. Prototype scope confirmed by the published browser code: manual input comparison and calculations. The phrase successful AI task corresponds to a task passing a fixed quality acceptance test. No physical measurement, energy savings, customer adoption or GPU integration is claimed. Repository: https://github.com/maxchamp2005-sudo/llm-energy-efficiency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Illustrative defaults from src/demo/demo.js; these are not measured hardware outcomes. A: 48 Wh gross batch energy, 100 submitted, 100 completed, 96 quality-accepted tasks, 12 minutes, 820 ms measured p95 field. B: 39 Wh, 100 submitted, 100 completed, 94 accepted, 11 minutes, 1120 ms p95 field. Wh per accepted task is 48/96=0.500 and 39/94=0.414893617..., displayed 0.415. Acceptance uses accepted/submitted, requiring at least 95%; end-to-end p95 must be at most 1000 ms. B fails both gates. The graph has a zero baseline and a common scale. Complete literal chart values are embedded in a new editable workbook snapshot. Source: https://github.com/maxchamp2005-sudo/llm-energy-efficiency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Implemented in static HTML, CSS and vanilla JavaScript. No backend, cloud model API or API key is required for the calculations after downloading the self-contained HTML. Current inputs are supplied manually; no meter, GPU collector, inference runner or task-quality evaluator is included. The 116 V AC estimator assumes single-phase RMS voltage and true power factor: average real P=Vrms*Irms*PF; the product V*I alone gives apparent power in VA. E=P*h is valid for the constant-power estimate. These are estimates rather than a direct W/Wh meter feed. Repository: https://github.com/maxchamp2005-sudo/llm-energy-efficiency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proposed buyer and use case, not validated customer demand or a quantified saving. Compare a controlled workload and deployment configuration within the customer information-system perimeter. A lower energy-per-accepted-task result can inform the electricity component of operating cost if it is measured over a consistent boundary at equal useful output and an agreed tariff. Added throughput within a power limit is a separate hypothesis requiring load, memory and service validation. A small-computer demonstration cannot be multiplied directly into a 1 MW saving. Contracted or reserved capacity may not produce a smaller bill when physical use falls. No facility, interconnection or cooling expansion is solved by this browser calculator. No new market-size or industry-statistic claims are made.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Next-step measurement plan, not completed integration. The team photo documents the hackathon working context, not a measurement result. Use a suitable real-power/energy instrument at the agreed supply boundary and synchronized task logs; include idle, failures and retries in batch energy. Keep nested GPU energy separate from whole-system supply energy to prevent double counting. A clamp current measurement alone is insufficient to establish real watts or watt-hours without voltage, true PF or simultaneous waveforms and integration. Repeatability, collector overhead and uncertainty need to be evaluated. Existing published prototype and five-slide deck: https://github.com/maxchamp2005-sudo/llm-energy-efficiency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e60b5ff5d24d7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2141c72fdf4c1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934ba96b53482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44498cfe484aa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b0ec160361491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c2078adf2749a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4498454-05A4-469B-A6DF-314C15D9D7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F1CBF02-168B-43A4-92E4-9BC000DEB68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407341A-89A1-4C14-AFED-D21F3667DB3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55C08DD-CBC4-4861-AA19-A80460F644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7B7F14A-A919-42ED-8769-13C618DE4AA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60943CA-8773-47DC-86BE-738DB7D486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2C9F2A8-302B-4758-9406-7F0C5DEA82F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2482BCF-2931-46D4-99A8-C805F59E3F1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716CCE7-1265-45B3-9021-CC276749B8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35029ED-D16E-427B-A93C-0F25FECE1BC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e15442ef94e4495" /><Relationship Type="http://schemas.openxmlformats.org/officeDocument/2006/relationships/slideLayout" Target="/ppt/slideLayouts/slideLayout1.xml" Id="R69054d653a2f444e" /><Relationship Type="http://schemas.openxmlformats.org/officeDocument/2006/relationships/slideLayout" Target="/ppt/slideLayouts/slideLayout2.xml" Id="Rc990fbb597bc4f9e" /><Relationship Type="http://schemas.openxmlformats.org/officeDocument/2006/relationships/slideLayout" Target="/ppt/slideLayouts/slideLayout3.xml" Id="R95855d737e6c4f65" /><Relationship Type="http://schemas.openxmlformats.org/officeDocument/2006/relationships/slideLayout" Target="/ppt/slideLayouts/slideLayout4.xml" Id="Raca6a38b276a4cc2" /><Relationship Type="http://schemas.openxmlformats.org/officeDocument/2006/relationships/slideLayout" Target="/ppt/slideLayouts/slideLayout5.xml" Id="R4f3302edec38424c" /><Relationship Type="http://schemas.openxmlformats.org/officeDocument/2006/relationships/slideLayout" Target="/ppt/slideLayouts/slideLayout6.xml" Id="R33ab4d044e0e495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9054d653a2f444e"/>
    <p:sldLayoutId xmlns:r="http://schemas.openxmlformats.org/officeDocument/2006/relationships" id="2147483650" r:id="Rc990fbb597bc4f9e"/>
    <p:sldLayoutId xmlns:r="http://schemas.openxmlformats.org/officeDocument/2006/relationships" id="2147483651" r:id="R95855d737e6c4f65"/>
    <p:sldLayoutId xmlns:r="http://schemas.openxmlformats.org/officeDocument/2006/relationships" id="2147483652" r:id="Raca6a38b276a4cc2"/>
    <p:sldLayoutId xmlns:r="http://schemas.openxmlformats.org/officeDocument/2006/relationships" id="2147483653" r:id="R4f3302edec38424c"/>
    <p:sldLayoutId xmlns:r="http://schemas.openxmlformats.org/officeDocument/2006/relationships" id="2147483654" r:id="R33ab4d044e0e495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678c7e1d8204de3" /><Relationship Type="http://schemas.openxmlformats.org/officeDocument/2006/relationships/image" Target="/ppt/media/image.jpeg" Id="Rfb411f1961354747" /><Relationship Type="http://schemas.openxmlformats.org/officeDocument/2006/relationships/notesSlide" Target="/ppt/notesSlides/notesSlide1.xml" Id="R1d1166292afd4a0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3c5b2ca317491c" /><Relationship Type="http://schemas.openxmlformats.org/officeDocument/2006/relationships/chart" Target="/ppt/slides/charts/chart1.xml" Id="R9a4cce3394bc4f2e" /><Relationship Type="http://schemas.openxmlformats.org/officeDocument/2006/relationships/notesSlide" Target="/ppt/notesSlides/notesSlide2.xml" Id="R9d089b1fc5d3486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cb073cf100b4bc0" /><Relationship Type="http://schemas.openxmlformats.org/officeDocument/2006/relationships/notesSlide" Target="/ppt/notesSlides/notesSlide3.xml" Id="R545471b11644475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33e7f35f214189" /><Relationship Type="http://schemas.openxmlformats.org/officeDocument/2006/relationships/notesSlide" Target="/ppt/notesSlides/notesSlide4.xml" Id="R0321f9c7bd3541e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4b30a6d2ef4d32" /><Relationship Type="http://schemas.openxmlformats.org/officeDocument/2006/relationships/notesSlide" Target="/ppt/notesSlides/notesSlide5.xml" Id="Rf3955e1372f34227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75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rPr>
              <a:t>Wh per accepted task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75" b="1">
              <a:solidFill>
                <a:srgbClr val="252A22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Wh per accepted task</c:v>
          </c:tx>
          <c:spPr>
            <a:solidFill xmlns:a="http://schemas.openxmlformats.org/drawingml/2006/main">
              <a:srgbClr val="D8B44E"/>
            </a:solidFill>
          </c:spPr>
          <c:invertIfNegative val="0"/>
          <c:dPt>
            <c:idx val="1"/>
            <c:invertIfNegative val="0"/>
            <c:spPr>
              <a:solidFill xmlns:a="http://schemas.openxmlformats.org/drawingml/2006/main">
                <a:srgbClr val="A84437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A</c:v>
                </c:pt>
                <c:pt idx="1">
                  <c:v>B</c:v>
                </c:pt>
              </c:strCache>
            </c:strRef>
          </c:cat>
          <c:val>
            <c:numRef>
              <c:f>'Chart Data'!$B$2:$B$3</c:f>
              <c:numCache>
                <c:formatCode>0.000</c:formatCode>
                <c:ptCount val="2"/>
                <c:pt idx="0">
                  <c:v>0.5</c:v>
                </c:pt>
                <c:pt idx="1">
                  <c:v>0.415</c:v>
                </c:pt>
              </c:numCache>
            </c:numRef>
          </c:val>
        </c:ser>
        <c:dLbls>
          <c:numFmt formatCode="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00" b="1">
                  <a:solidFill>
                    <a:srgbClr val="252A22"/>
                  </a:solidFill>
                  <a:latin typeface="Helvetica Neue"/>
                  <a:ea typeface="Helvetica Neue"/>
                  <a:cs typeface="Helvetica Neu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9DA491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</c:catAx>
      <c:valAx>
        <c:axId val="48672768"/>
        <c:scaling>
          <c:orientation val="minMax"/>
          <c:max val="0.6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6CABC"/>
              </a:solidFill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1EEE4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1EEE4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81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699700-B668-44A6-9639-0EE73ECB3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523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rPr>
              <a:t>BUILT AT THIS HACKATHON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FA9738-B235-43C3-A08A-0CC71A6CA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4857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6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46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46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46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46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46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46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46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46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46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46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46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AI energy</a:t>
            </a:r>
          </a:p>
          <a:p xmlns:a="http://schemas.openxmlformats.org/drawingml/2006/main">
            <a:pPr>
              <a:defRPr sz="46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46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audit prototype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E27A17-D6C1-4045-A4F7-DD723C3C9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4857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At this hackathon, we built an open-source prototype that compares electricity per successful AI task for data centers with limited power.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28B787-B6FD-4FFC-8C74-3C0093456BC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411f1961354747"/>
          <a:stretch xmlns:a="http://schemas.openxmlformats.org/drawingml/2006/main"/>
        </p:blipFill>
        <p:spPr>
          <a:xfrm xmlns:a="http://schemas.openxmlformats.org/drawingml/2006/main">
            <a:off x="6096000" y="1257300"/>
            <a:ext cx="5486400" cy="41148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31ADC8-9A59-43E9-ADBA-4965F8084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562600"/>
            <a:ext cx="5486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Building the prototype at the hackathon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41FD94-8063-4063-AB73-26F079AC9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CODE + DEMO + PITCH IN ONE PUBLIC REPOSITORY</a:t>
            </a:r>
          </a:p>
        </p:txBody>
      </p:sp>
    </p:spTree>
    <p:extLst>
      <p:ext uri="{BB962C8B-B14F-4D97-AF65-F5344CB8AC3E}">
        <p14:creationId xmlns:p14="http://schemas.microsoft.com/office/powerpoint/2010/main" val="211490309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1EEE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FDE230-CC50-4E81-9204-43E09501B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rPr>
              <a:t>ILLUSTRATIVE DEMO INPUTS · NO HARDWARE 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72C6E2-98B5-4702-BCBA-5573EED7E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rPr>
              <a:t>An energy reduction must pass the service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835BE2-5CAD-4106-9ECE-B9F660DF6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rPr>
              <a:t>AI ENERGY AUDIT · HACKATHON PROTOTYPE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422BED-260B-48CE-B6E2-86BC1BB43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6270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rPr>
              <a:t>2 / 5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49FB802E-2489-423F-BB10-8D7996908EB4}"/>
              </a:ext>
            </a:extLst>
          </p:cNvPr>
          <p:cNvGraphicFramePr/>
          <p:nvPr/>
        </p:nvGraphicFramePr>
        <p:xfrm>
          <a:off xmlns:a="http://schemas.openxmlformats.org/drawingml/2006/main" x="609600" y="2476500"/>
          <a:ext xmlns:a="http://schemas.openxmlformats.org/drawingml/2006/main" cx="5715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a4cce3394bc4f2e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81CB6B-FB40-480E-9D12-1AC326E7D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67000"/>
            <a:ext cx="4667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rPr>
              <a:t>A passes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271195-A50B-4D9C-8C3B-4F5300535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181350"/>
            <a:ext cx="4667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rPr>
              <a:t>96% accepted · 820 ms p95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F5C41D-A94B-4F2C-B09D-94A2824DB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076700"/>
            <a:ext cx="4667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rPr>
              <a:t>B fails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A97A38-9F88-486A-B7FD-24EA9931B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591050"/>
            <a:ext cx="4667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rPr>
              <a:t>94% accepted · 1,120 ms p95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3733CC-13D1-47AB-BC33-33292E48B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rPr>
              <a:t>Shared limits: at least 95% accepted and p95 at most 1,000 ms</a:t>
            </a:r>
          </a:p>
        </p:txBody>
      </p:sp>
    </p:spTree>
    <p:extLst>
      <p:ext uri="{BB962C8B-B14F-4D97-AF65-F5344CB8AC3E}">
        <p14:creationId xmlns:p14="http://schemas.microsoft.com/office/powerpoint/2010/main" val="150767674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81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29F608-7A87-4F6A-840E-D9D6E1C82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rPr>
              <a:t>WORKING CODE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5A3A05-62CB-426A-8641-9A6B56E7A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What works in the browser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03B946-FCF8-49AB-9757-0DCE38886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AI ENERGY AUDIT · HACKATHON PROTOTYPE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443583-A492-4399-B277-4206A9477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6270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3 / 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22F211-DE65-4B31-A319-CA1AA3DAA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409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rPr>
              <a:t>Compare two batches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20E116-E908-4652-A8DB-D93293259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533650"/>
            <a:ext cx="6381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Wh per accepted task, with quality and p95 limits.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BFF107-5B21-4913-AFE6-EB1B39661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409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rPr>
              <a:t>Export the decision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CA0CFA-7662-4C95-BD5D-D48B52EF3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771900"/>
            <a:ext cx="6381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JSON inputs, calculations and eligibility flags.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12335A-35A0-4027-B904-E474E05E9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29200"/>
            <a:ext cx="409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rPr>
              <a:t>Estimate AC power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776AE6-3EF3-4D3D-A6F9-4EA369C71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010150"/>
            <a:ext cx="6381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116 V × current × true power factor.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65E214-7C24-488E-9162-9AC4F377B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Manual inputs today · Runs locally after download</a:t>
            </a:r>
          </a:p>
        </p:txBody>
      </p:sp>
    </p:spTree>
    <p:extLst>
      <p:ext uri="{BB962C8B-B14F-4D97-AF65-F5344CB8AC3E}">
        <p14:creationId xmlns:p14="http://schemas.microsoft.com/office/powerpoint/2010/main" val="161887963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81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E281AE-B29F-468D-B156-6939C20DB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rPr>
              <a:t>ENTERPRISE USE CASE TO VALIDATE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22DD32-CA47-478E-9616-A9B21AC85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Deployment choices within a power limit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815E55-DFF0-43AC-AA9A-790B983CA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AI ENERGY AUDIT · HACKATHON PROTOTYPE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52547D-6D46-493C-A2E3-F794CCF76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6270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4 / 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9688C4-09F6-4C83-97B1-F4865AD9A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860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For an enterprise AI platform owner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0688AE-24CC-4420-ACCA-93334084F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4857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rPr>
              <a:t>Decision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24CFC6-509C-4EC7-84AD-4520CC298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4953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Which model or serving setup uses less electricity for the same accepted workload?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BC301C-F32D-4C71-A775-089B9B7B2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371850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rPr>
              <a:t>Value to validate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CED1F7-06F1-4E4C-A611-CDEAE7531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000500"/>
            <a:ext cx="4953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Lower electricity cost per task—or more work inside an existing power limit.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65BAD1-CD1F-468C-AD99-B303FF058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Keep workload, quality and response-time requirements fixed.</a:t>
            </a:r>
          </a:p>
        </p:txBody>
      </p:sp>
    </p:spTree>
    <p:extLst>
      <p:ext uri="{BB962C8B-B14F-4D97-AF65-F5344CB8AC3E}">
        <p14:creationId xmlns:p14="http://schemas.microsoft.com/office/powerpoint/2010/main" val="26169329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81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C050CB-71CE-4FA6-93EE-5F7E71007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rPr>
              <a:t>NEXT VALIDATION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7481D0-C55B-4909-825D-006E2AAA2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Test on the actual system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05C233-F52D-44A6-A7AC-3E443323A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AI ENERGY AUDIT · HACKATHON PROTOTYPE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59E559-EC8B-4BB7-AA83-76186B5C4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6270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5 / 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4328F8-BED4-45DF-BC49-E5ABFDD9B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857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C0B483-EC48-47E8-B1DC-532967240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543175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Measure supply W/Wh over the same test window as the task logs.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EA7851-C40D-4DB5-9553-00B617124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857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844DF1-6539-4681-B2D8-7F1048B81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95700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Repeat a fixed workload with agreed quality and latency limits.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A4B619-474C-4AC5-936B-75FD63358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6800"/>
            <a:ext cx="857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9646A4-2A7B-4393-93A9-72CA43045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48225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Keep GPU telemetry separate from whole-system energy.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53CE52-2C12-4A3C-9137-1C7E6564E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github.com/maxchamp2005-sudo/llm-energy-efficiency</a:t>
            </a:r>
          </a:p>
        </p:txBody>
      </p:sp>
    </p:spTree>
    <p:extLst>
      <p:ext uri="{BB962C8B-B14F-4D97-AF65-F5344CB8AC3E}">
        <p14:creationId xmlns:p14="http://schemas.microsoft.com/office/powerpoint/2010/main" val="120948513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2026-10-17T19:15:58.5330000Z</dcterms:created>
  <dcterms:modified xsi:type="dcterms:W3CDTF">2026-10-17T19:15:58.5330000Z</dcterms:modified>
</coreProperties>
</file>