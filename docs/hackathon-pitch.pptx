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3295c698c34e10" /><Relationship Type="http://schemas.openxmlformats.org/officeDocument/2006/relationships/extended-properties" Target="/docProps/app.xml" Id="Rd7a27478cef94cab" /><Relationship Type="http://schemas.openxmlformats.org/officeDocument/2006/relationships/officeDocument" Target="/ppt/presentation.xml" Id="R2a958080d8214d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eec58f23347ff"/>
  </p:sldMasterIdLst>
  <p:notesMasterIdLst>
    <p:notesMasterId xmlns:r="http://schemas.openxmlformats.org/officeDocument/2006/relationships" r:id="R5f097cfa8ff941f2"/>
  </p:notesMasterIdLst>
  <p:sldIdLst>
    <p:sldId xmlns:r="http://schemas.openxmlformats.org/officeDocument/2006/relationships" id="256" r:id="R660419e85dd74a48"/>
    <p:sldId xmlns:r="http://schemas.openxmlformats.org/officeDocument/2006/relationships" id="262" r:id="RisolatedDatacenter"/>
    <p:sldId xmlns:r="http://schemas.openxmlformats.org/officeDocument/2006/relationships" id="261" r:id="R52456b13680949ee"/>
    <p:sldId xmlns:r="http://schemas.openxmlformats.org/officeDocument/2006/relationships" id="257" r:id="Rfe21568811e04f53"/>
    <p:sldId xmlns:r="http://schemas.openxmlformats.org/officeDocument/2006/relationships" id="258" r:id="R1955cd6be8b14f23"/>
    <p:sldId xmlns:r="http://schemas.openxmlformats.org/officeDocument/2006/relationships" id="259" r:id="Rddb042aa9ef140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95b9c292e428424a" /><Relationship Type="http://schemas.openxmlformats.org/officeDocument/2006/relationships/slideMaster" Target="/ppt/slideMasters/slideMaster1.xml" Id="R395eec58f23347ff" /><Relationship Type="http://schemas.openxmlformats.org/officeDocument/2006/relationships/notesMaster" Target="/ppt/notesMasters/notesMaster1.xml" Id="R5f097cfa8ff941f2" /><Relationship Type="http://schemas.openxmlformats.org/officeDocument/2006/relationships/presProps" Target="/ppt/presProps.xml" Id="R22ebc247d99b497d" /><Relationship Type="http://schemas.openxmlformats.org/officeDocument/2006/relationships/tableStyles" Target="/ppt/tableStyles.xml" Id="Rb9c5a03197b64a7c" /><Relationship Type="http://schemas.openxmlformats.org/officeDocument/2006/relationships/slide" Target="/ppt/slides/slide1.xml" Id="R660419e85dd74a48" /><Relationship Type="http://schemas.openxmlformats.org/officeDocument/2006/relationships/slide" Target="/ppt/slides/slide2.xml" Id="Rfe21568811e04f53" /><Relationship Type="http://schemas.openxmlformats.org/officeDocument/2006/relationships/slide" Target="/ppt/slides/slide3.xml" Id="R1955cd6be8b14f23" /><Relationship Type="http://schemas.openxmlformats.org/officeDocument/2006/relationships/slide" Target="/ppt/slides/slide4.xml" Id="Rddb042aa9ef1403a" /><Relationship Type="http://schemas.openxmlformats.org/officeDocument/2006/relationships/slide" Target="/ppt/slides/slide6.xml" Id="R52456b13680949ee" /><Relationship Type="http://schemas.openxmlformats.org/officeDocument/2006/relationships/slide" Target="/ppt/slides/slide7.xml" Id="RisolatedDatacenter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1ab050aff24b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2cc915c57941a4" /><Relationship Type="http://schemas.openxmlformats.org/officeDocument/2006/relationships/notesMaster" Target="/ppt/notesMasters/notesMaster1.xml" Id="Rf506122fae5546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e0ccc301f6411b" /><Relationship Type="http://schemas.openxmlformats.org/officeDocument/2006/relationships/notesMaster" Target="/ppt/notesMasters/notesMaster1.xml" Id="R32879d93065e48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9700108ed44b38" /><Relationship Type="http://schemas.openxmlformats.org/officeDocument/2006/relationships/notesMaster" Target="/ppt/notesMasters/notesMaster1.xml" Id="Rb012fffe696846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5bc7b5250b4e41" /><Relationship Type="http://schemas.openxmlformats.org/officeDocument/2006/relationships/notesMaster" Target="/ppt/notesMasters/notesMaster1.xml" Id="Rc0130bc7a06645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4f4fd2219f4e00" /><Relationship Type="http://schemas.openxmlformats.org/officeDocument/2006/relationships/notesMaster" Target="/ppt/notesMasters/notesMaster1.xml" Id="R7944c302001b4b68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ccc373f528bf4b71" /><Relationship Type="http://schemas.openxmlformats.org/officeDocument/2006/relationships/notesMaster" Target="/ppt/notesMasters/notesMaster1.xml" Id="Rf961a44f6b5e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supplied by the project owner in this conversation, used without alteration. The published browser code provides manual-input comparisons and calculations. The phrase successful AI task corresponds to a task passing a fixed quality acceptance test. Slide 2 shows a user-supplied UT61B apparent-power trace from the reported completed local Gemma 4 GPU test; it does not show true PF, Wh, token counts, or energy per token. No energy savings, customer adoption, or GPU integration is claimed. Repository: https://github.com/maxchamp2005-sudo/llm-energy-efficiency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defaults from src/demo/demo.js; these are not measured hardware outcomes. A: 48 Wh gross batch energy, 100 submitted, 100 completed, 96 quality-accepted tasks, 12 minutes, 820 ms measured p95 field. B: 39 Wh, 100 submitted, 100 completed, 94 accepted, 11 minutes, 1120 ms p95 field. Wh per accepted task is 48/96=0.500 and 39/94=0.414893617..., displayed 0.415. Acceptance uses accepted/submitted, requiring at least 95%; end-to-end p95 must be at most 1000 ms. B fails both gates. The graph has a zero baseline and a common scale. Complete literal chart values are embedded in a new editable workbook snapshot. Source: https://github.com/maxchamp2005-sudo/llm-energy-efficiency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in static HTML, CSS and vanilla JavaScript. No backend, cloud model API or API key is required for the calculations after downloading the self-contained HTML. Current inputs are supplied manually; no meter, GPU collector, inference runner or task-quality evaluator is included. The 116 V AC estimator assumes single-phase RMS voltage and true power factor: average real P=Vrms*Irms*PF; the product V*I alone gives apparent power in VA. E=P*h is valid for the constant-power estimate. These are estimates rather than a direct W/Wh meter feed. Repository: https://github.com/maxchamp2005-sudo/llm-energy-efficiency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proposed buyer and use case, not validated customer demand or a quantified saving. Compare a controlled workload and deployment configuration within the customer information-system perimeter. A lower energy-per-accepted-task result can inform the electricity component of operating cost if it is measured over a consistent boundary at equal useful output and an agreed tariff. Added throughput within a power limit is a separate hypothesis requiring load, memory and service validation. A small-computer demonstration cannot be multiplied directly into a 1 MW saving. Contracted or reserved capacity may not produce a smaller bill when physical use falls. No facility, interconnection or cooling expansion is solved by this browser calculator. No new market-size or industry-statistic claims are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User-supplied raster source figure: PHOTO-2026-10-17-16-11-41.jpg.</a:t>
            </a:r>
          </a:p>
          <a:p xmlns:a="http://schemas.openxmlformats.org/drawingml/2006/main">
            <a:r>
              <a:t>The user reports this figure came from a completed local Gemma 4 GPU test using a USB-connected UT61B. The plotted series is labeled apparent power (VA) at 116 V RMS over elapsed time.</a:t>
            </a:r>
          </a:p>
          <a:p xmlns:a="http://schemas.openxmlformats.org/drawingml/2006/main">
            <a:r>
              <a:t>Apparent power is not real power or cumulative energy. The figure supplies no true power factor, raw samples, token counts, workload boundary, or synchronized timing. It does not support a real-power or Wh result, energy per token, tokens per kWh, or an energy-savings claim.</a:t>
            </a:r>
          </a:p>
          <a:p xmlns:a="http://schemas.openxmlformats.org/drawingml/2006/main">
            <a:r>
              <a:t>The supplied figure is displayed as-is without redrawing or digitizing its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data-center context and wording on this slide were supplied by the project owner. No independent air-gap or network-isolation audit, facility power budget, inference capacity measurement, energy measurement, savings, or deployment result is presented.</a:t>
            </a:r>
          </a:p>
          <a:p xmlns:a="http://schemas.openxmlformats.org/drawingml/2006/main">
            <a:r>
              <a:t>The project owner reports a local hackathon workstation with an NVIDIA GeForce RTX 5060 and an AMD Radeon 7900. This small-scale demonstration illustrates enterprise context; it does not claim a certified air gap, simultaneous execution of the same model or workload on both GPUs, or any VRAM specification.</a:t>
            </a:r>
          </a:p>
          <a:p xmlns:a="http://schemas.openxmlformats.org/drawingml/2006/main">
            <a:r>
              <a:t>The workstation photo was supplied by the project owner and is placed with its full aspect ratio, without cropping.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60b5ff5d24d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141c72fdf4c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34ba96b5348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4498cfe484a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0ec16036149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2078adf2749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498454-05A4-469B-A6DF-314C15D9D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1CBF02-168B-43A4-92E4-9BC000DEB6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07341A-89A1-4C14-AFED-D21F3667D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5C08DD-CBC4-4861-AA19-A80460F64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B7F14A-A919-42ED-8769-13C618DE4A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0943CA-8773-47DC-86BE-738DB7D486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C9F2A8-302B-4758-9406-7F0C5DEA8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482BCF-2931-46D4-99A8-C805F59E3F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16CCE7-1265-45B3-9021-CC276749B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5029ED-D16E-427B-A93C-0F25FECE1B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15442ef94e4495" /><Relationship Type="http://schemas.openxmlformats.org/officeDocument/2006/relationships/slideLayout" Target="/ppt/slideLayouts/slideLayout1.xml" Id="R69054d653a2f444e" /><Relationship Type="http://schemas.openxmlformats.org/officeDocument/2006/relationships/slideLayout" Target="/ppt/slideLayouts/slideLayout2.xml" Id="Rc990fbb597bc4f9e" /><Relationship Type="http://schemas.openxmlformats.org/officeDocument/2006/relationships/slideLayout" Target="/ppt/slideLayouts/slideLayout3.xml" Id="R95855d737e6c4f65" /><Relationship Type="http://schemas.openxmlformats.org/officeDocument/2006/relationships/slideLayout" Target="/ppt/slideLayouts/slideLayout4.xml" Id="Raca6a38b276a4cc2" /><Relationship Type="http://schemas.openxmlformats.org/officeDocument/2006/relationships/slideLayout" Target="/ppt/slideLayouts/slideLayout5.xml" Id="R4f3302edec38424c" /><Relationship Type="http://schemas.openxmlformats.org/officeDocument/2006/relationships/slideLayout" Target="/ppt/slideLayouts/slideLayout6.xml" Id="R33ab4d044e0e49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054d653a2f444e"/>
    <p:sldLayoutId xmlns:r="http://schemas.openxmlformats.org/officeDocument/2006/relationships" id="2147483650" r:id="Rc990fbb597bc4f9e"/>
    <p:sldLayoutId xmlns:r="http://schemas.openxmlformats.org/officeDocument/2006/relationships" id="2147483651" r:id="R95855d737e6c4f65"/>
    <p:sldLayoutId xmlns:r="http://schemas.openxmlformats.org/officeDocument/2006/relationships" id="2147483652" r:id="Raca6a38b276a4cc2"/>
    <p:sldLayoutId xmlns:r="http://schemas.openxmlformats.org/officeDocument/2006/relationships" id="2147483653" r:id="R4f3302edec38424c"/>
    <p:sldLayoutId xmlns:r="http://schemas.openxmlformats.org/officeDocument/2006/relationships" id="2147483654" r:id="R33ab4d044e0e49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8c7e1d8204de3" /><Relationship Type="http://schemas.openxmlformats.org/officeDocument/2006/relationships/image" Target="/ppt/media/image.jpeg" Id="Rfb411f1961354747" /><Relationship Type="http://schemas.openxmlformats.org/officeDocument/2006/relationships/notesSlide" Target="/ppt/notesSlides/notesSlide1.xml" Id="R1d1166292afd4a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c5b2ca317491c" /><Relationship Type="http://schemas.openxmlformats.org/officeDocument/2006/relationships/chart" Target="/ppt/slides/charts/chart1.xml" Id="R9a4cce3394bc4f2e" /><Relationship Type="http://schemas.openxmlformats.org/officeDocument/2006/relationships/notesSlide" Target="/ppt/notesSlides/notesSlide2.xml" Id="R9d089b1fc5d348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073cf100b4bc0" /><Relationship Type="http://schemas.openxmlformats.org/officeDocument/2006/relationships/notesSlide" Target="/ppt/notesSlides/notesSlide3.xml" Id="R545471b11644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3e7f35f214189" /><Relationship Type="http://schemas.openxmlformats.org/officeDocument/2006/relationships/notesSlide" Target="/ppt/notesSlides/notesSlide4.xml" Id="R0321f9c7bd3541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6b004e0d4439a" /><Relationship Type="http://schemas.openxmlformats.org/officeDocument/2006/relationships/image" Target="/ppt/media/image2.jpeg" Id="R67377863c75a4476" /><Relationship Type="http://schemas.openxmlformats.org/officeDocument/2006/relationships/notesSlide" Target="/ppt/notesSlides/notesSlide6.xml" Id="R9e12275ec5104379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a9ab915c9d2241c8" /><Relationship Type="http://schemas.openxmlformats.org/officeDocument/2006/relationships/image" Target="/ppt/media/workstation-photo.jpeg" Id="R1acd691011ab4899" /><Relationship Type="http://schemas.openxmlformats.org/officeDocument/2006/relationships/notesSlide" Target="/ppt/notesSlides/notesSlide7.xml" Id="Re7f926c6591e4e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rPr>
              <a:t>Wh per accepted task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52A22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Wh per accepted task</c:v>
          </c:tx>
          <c:spPr>
            <a:solidFill xmlns:a="http://schemas.openxmlformats.org/drawingml/2006/main">
              <a:srgbClr val="D8B44E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A8443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0.5</c:v>
                </c:pt>
                <c:pt idx="1">
                  <c:v>0.415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252A22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DA4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AB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1EEE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1EEE4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99700-B668-44A6-9639-0EE73ECB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TEAM AC/DC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A9738-B235-43C3-A08A-0CC71A6C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85725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46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Measuring Power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per LLM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27A17-D6C1-4045-A4F7-DD723C3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857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85725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At this hackathon, we built an open-source project to show how electricity becomes LLM tokens and help data centers use limited power more efficiently.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1FE47-8FC1-49D1-808D-AD63057D0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11f1961354747"/>
          <a:stretch xmlns:a="http://schemas.openxmlformats.org/drawingml/2006/main"/>
        </p:blipFill>
        <p:spPr>
          <a:xfrm xmlns:a="http://schemas.openxmlformats.org/drawingml/2006/main">
            <a:off x="6096000" y="1257300"/>
            <a:ext cx="5486400" cy="4114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1ADC8-9A59-43E9-ADBA-4965F80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Team AC/DC at the hackathon.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1FD94-8063-4063-AB73-26F079AC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85725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Estimate Wh = 116 V AC × current (A) × true PF × run time (h).</a:t>
            </a:r>
          </a:p>
        </p:txBody>
      </p:sp>
      <p:sp>
        <p:nvSpPr>
          <p:cNvPr id="8" name="Manual batch energy and token comparison">
            <a:extLst xmlns:a="http://schemas.openxmlformats.org/drawingml/2006/main">
              <a:ext uri="{FF2B5EF4-FFF2-40B4-BE49-F238E27FC236}">
                <a16:creationId xmlns:a16="http://schemas.microsoft.com/office/drawing/2014/main" id="{41234268-E101-454B-A169-DF502CE6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85725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Compare batch energy (Wh) with token output (tokens/kWh).</a:t>
            </a:r>
          </a:p>
        </p:txBody>
      </p:sp>
    </p:spTree>
    <p:extLst>
      <p:ext uri="{BB962C8B-B14F-4D97-AF65-F5344CB8AC3E}">
        <p14:creationId xmlns:p14="http://schemas.microsoft.com/office/powerpoint/2010/main" val="2114903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E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DE230-CC50-4E81-9204-43E09501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B5347"/>
                </a:solidFill>
                <a:latin typeface="Helvetica Neue"/>
                <a:ea typeface="Helvetica Neue"/>
                <a:cs typeface="Helvetica Neue"/>
              </a:rPr>
              <a:t>ILLUSTRATIVE DEMO INPUTS · NO HARDWARE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2C6E2-98B5-4702-BCBA-5573EED7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rPr>
              <a:t>An energy reduction must pass the service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5BE2-5CAD-4106-9ECE-B9F660DF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rPr>
              <a:t>TEAM AC/DC · HACKATHON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22BED-260B-48CE-B6E2-86BC1BB4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9FB802E-2489-423F-BB10-8D7996908EB4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571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4cce3394bc4f2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1CB6B-FB40-480E-9D12-1AC326E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2A22"/>
                </a:solidFill>
                <a:latin typeface="Helvetica Neue"/>
                <a:ea typeface="Helvetica Neue"/>
                <a:cs typeface="Helvetica Neue"/>
              </a:rPr>
              <a:t>A passes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71195-A50B-4D9C-8C3B-4F53005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rPr>
              <a:t>96% accepted · 820 ms p95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5C41D-A94B-4F2C-B09D-94A2824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84437"/>
                </a:solidFill>
                <a:latin typeface="Helvetica Neue"/>
                <a:ea typeface="Helvetica Neue"/>
                <a:cs typeface="Helvetica Neue"/>
              </a:rPr>
              <a:t>B fails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97A38-9F88-486A-B7FD-24EA9931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B5347"/>
                </a:solidFill>
                <a:latin typeface="Helvetica Neue"/>
                <a:ea typeface="Helvetica Neue"/>
                <a:cs typeface="Helvetica Neue"/>
              </a:rPr>
              <a:t>94% accepted · 1,120 ms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733CC-13D1-47AB-BC33-33292E48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52A22"/>
                </a:solidFill>
                <a:latin typeface="Helvetica Neue"/>
                <a:ea typeface="Helvetica Neue"/>
                <a:cs typeface="Helvetica Neue"/>
              </a:rPr>
              <a:t>Shared limits: at least 95% accepted and p95 at most 1,000 ms</a:t>
            </a:r>
          </a:p>
        </p:txBody>
      </p:sp>
    </p:spTree>
    <p:extLst>
      <p:ext uri="{BB962C8B-B14F-4D97-AF65-F5344CB8AC3E}">
        <p14:creationId xmlns:p14="http://schemas.microsoft.com/office/powerpoint/2010/main" val="1507676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9F608-7A87-4F6A-840E-D9D6E1C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WORKING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A3A05-62CB-426A-8641-9A6B56E7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What works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3B946-FCF8-49AB-9757-0DCE388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TEAM AC/DC · HACKATHON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43583-A492-4399-B277-4206A94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5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2F211-DE65-4B31-A319-CA1AA3DA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Compare two batches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0E116-E908-4652-A8DB-D9329325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3365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Wh per accepted task, with quality and p95 limits.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FF107-5B21-4913-AFE6-EB1B3966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Export the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A0CFA-7662-4C95-BD5D-D48B52EF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JSON inputs, calculations and eligibility flags.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2335A-35A0-4027-B904-E474E05E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Estimate AC 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76AE6-3EF3-4D3D-A6F9-4EA369C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1015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116 V × current × true power factor.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5E214-7C24-488E-9162-9AC4F377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Manual inputs today · Runs locally after download</a:t>
            </a:r>
          </a:p>
        </p:txBody>
      </p:sp>
    </p:spTree>
    <p:extLst>
      <p:ext uri="{BB962C8B-B14F-4D97-AF65-F5344CB8AC3E}">
        <p14:creationId xmlns:p14="http://schemas.microsoft.com/office/powerpoint/2010/main" val="1618879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281AE-B29F-468D-B156-6939C20D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ENTERPRISE USE CASE TO VALIDATE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2DD32-CA47-478E-9616-A9B21AC8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Deployment choices within a power limit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15E55-DFF0-43AC-AA9A-790B983C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TEAM AC/DC · HACKATHON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2547D-6D46-493C-A2E3-F794CCF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688C4-09F6-4C83-97B1-F4865AD9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For an enterprise AI platform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688AE-24CC-4420-ACCA-93334084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4CFC6-509C-4EC7-84AD-4520CC29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Which model or serving setup uses less electricity for the same accepted workload?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C301C-F32D-4C71-A775-089B9B7B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Value to 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ED1F7-06F1-4E4C-A611-CDEAE753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Lower electricity cost per task—or more work inside an existing power limit.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5BAD1-CD1F-468C-AD99-B303FF0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Keep workload, quality and response-time requirements fixed.</a:t>
            </a:r>
          </a:p>
        </p:txBody>
      </p:sp>
    </p:spTree>
    <p:extLst>
      <p:ext uri="{BB962C8B-B14F-4D97-AF65-F5344CB8AC3E}">
        <p14:creationId xmlns:p14="http://schemas.microsoft.com/office/powerpoint/2010/main" val="261693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un context">
            <a:extLst xmlns:a="http://schemas.openxmlformats.org/drawingml/2006/main">
              <a:ext uri="{FF2B5EF4-FFF2-40B4-BE49-F238E27FC236}">
                <a16:creationId xmlns:a16="http://schemas.microsoft.com/office/drawing/2014/main" id="{B7F2DF59-AADF-490E-92AB-79903E8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85725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COMPLETED LOCAL GEMMA 4 GPU TEST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672F991-48AE-4703-BE36-B9EEBFD5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85725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UT61B apparent-power trace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D6927-ED88-45FE-8B54-DDC6F7793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77863c75a4476"/>
          <a:stretch xmlns:a="http://schemas.openxmlformats.org/drawingml/2006/main"/>
        </p:blipFill>
        <p:spPr>
          <a:xfrm xmlns:a="http://schemas.openxmlformats.org/drawingml/2006/main">
            <a:off x="613137" y="1409700"/>
            <a:ext cx="10965725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Power relationship">
            <a:extLst xmlns:a="http://schemas.openxmlformats.org/drawingml/2006/main">
              <a:ext uri="{FF2B5EF4-FFF2-40B4-BE49-F238E27FC236}">
                <a16:creationId xmlns:a16="http://schemas.microsoft.com/office/drawing/2014/main" id="{ECDE03C1-C725-41C8-9CE2-AE3B828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85725" tIns="0" rIns="0" bIns="0" anchor="t">
            <a:normAutofit fontScale="100000"/>
          </a:bodyPr>
          <a:lstStyle xmlns:a="http://schemas.openxmlformats.org/drawingml/2006/main">
            <a:def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Apparent power (VA) at 116 V RMS. Real power (W) = apparent power (VA) × true PF.</a:t>
            </a:r>
          </a:p>
        </p:txBody>
      </p:sp>
      <p:sp>
        <p:nvSpPr>
          <p:cNvPr id="5" name="Source figure limitation">
            <a:extLst xmlns:a="http://schemas.openxmlformats.org/drawingml/2006/main">
              <a:ext uri="{FF2B5EF4-FFF2-40B4-BE49-F238E27FC236}">
                <a16:creationId xmlns:a16="http://schemas.microsoft.com/office/drawing/2014/main" id="{53EC50F9-2950-42AE-BBC4-B1A3F3E9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85725" tIns="0" rIns="0" bIns="0" anchor="t">
            <a:normAutofit fontScale="100000"/>
          </a:bodyPr>
          <a:lstStyle xmlns:a="http://schemas.openxmlformats.org/drawingml/2006/main">
            <a:def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True power factor and matched token counts are not shown in this trace.</a:t>
            </a:r>
          </a:p>
        </p:txBody>
      </p:sp>
    </p:spTree>
    <p:extLst>
      <p:ext uri="{BB962C8B-B14F-4D97-AF65-F5344CB8AC3E}">
        <p14:creationId xmlns:p14="http://schemas.microsoft.com/office/powerpoint/2010/main" val="56443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text label">
            <a:extLst xmlns:a="http://schemas.openxmlformats.org/drawingml/2006/main">
              <a:ext uri="{FF2B5EF4-FFF2-40B4-BE49-F238E27FC236}">
                <a16:creationId xmlns:a16="http://schemas.microsoft.com/office/drawing/2014/main" id="{AB95B4D0-236C-4CF8-8717-16E087A6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HACKATHON DEMO · ENTERPRISE CONTEXT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AA9CF73-84BE-4187-B818-2A59C05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Isolated Enterprise Datacenter</a:t>
            </a:r>
          </a:p>
        </p:txBody>
      </p:sp>
      <p:sp>
        <p:nvSpPr>
          <p:cNvPr id="3" name="Isolation and power budget">
            <a:extLst xmlns:a="http://schemas.openxmlformats.org/drawingml/2006/main">
              <a:ext uri="{FF2B5EF4-FFF2-40B4-BE49-F238E27FC236}">
                <a16:creationId xmlns:a16="http://schemas.microsoft.com/office/drawing/2014/main" id="{393931EF-6FB5-4772-807E-F6EDB513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Isolated enterprise data centers process all LLM requests on hardware within their own perimeter, without internet access. Their power budget limits the inference capacity available to users.</a:t>
            </a:r>
          </a:p>
        </p:txBody>
      </p:sp>
      <p:sp>
        <p:nvSpPr>
          <p:cNvPr id="4" name="Workstation label">
            <a:extLst xmlns:a="http://schemas.openxmlformats.org/drawingml/2006/main">
              <a:ext uri="{FF2B5EF4-FFF2-40B4-BE49-F238E27FC236}">
                <a16:creationId xmlns:a16="http://schemas.microsoft.com/office/drawing/2014/main" id="{2BE1F7DC-DCB4-4531-9CD7-09247DAA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8B44E"/>
                </a:solidFill>
                <a:latin typeface="Helvetica Neue"/>
                <a:ea typeface="Helvetica Neue"/>
                <a:cs typeface="Helvetica Neue"/>
              </a:rPr>
              <a:t>HACKATHON WORKSTATION</a:t>
            </a:r>
          </a:p>
        </p:txBody>
      </p:sp>
      <p:sp>
        <p:nvSpPr>
          <p:cNvPr id="5" name="Workstation description">
            <a:extLst xmlns:a="http://schemas.openxmlformats.org/drawingml/2006/main">
              <a:ext uri="{FF2B5EF4-FFF2-40B4-BE49-F238E27FC236}">
                <a16:creationId xmlns:a16="http://schemas.microsoft.com/office/drawing/2014/main" id="{F281CD8F-9BC8-4672-BEDD-0BA1F520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2F0E5"/>
                </a:solidFill>
                <a:latin typeface="Helvetica Neue"/>
                <a:ea typeface="Helvetica Neue"/>
                <a:cs typeface="Helvetica Neue"/>
              </a:rPr>
              <a:t>For a small-scale demonstration at the hackathon, we used a local workstation with two GPUs:</a:t>
            </a:r>
          </a:p>
        </p:txBody>
      </p:sp>
      <p:sp>
        <p:nvSpPr>
          <p:cNvPr id="6" name="GPU model 1">
            <a:extLst xmlns:a="http://schemas.openxmlformats.org/drawingml/2006/main">
              <a:ext uri="{FF2B5EF4-FFF2-40B4-BE49-F238E27FC236}">
                <a16:creationId xmlns:a16="http://schemas.microsoft.com/office/drawing/2014/main" id="{0C0B60D0-CA19-4CD3-A24F-D713B8D8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NVIDIA GeForce RTX 5060</a:t>
            </a:r>
          </a:p>
        </p:txBody>
      </p:sp>
      <p:sp>
        <p:nvSpPr>
          <p:cNvPr id="7" name="GPU model 2">
            <a:extLst xmlns:a="http://schemas.openxmlformats.org/drawingml/2006/main">
              <a:ext uri="{FF2B5EF4-FFF2-40B4-BE49-F238E27FC236}">
                <a16:creationId xmlns:a16="http://schemas.microsoft.com/office/drawing/2014/main" id="{702F3B73-810C-4FBD-8175-4BBA450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AMD Radeon 7900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76A8B-1EA4-4D26-9282-78B9EA978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d691011ab4899"/>
          <a:stretch xmlns:a="http://schemas.openxmlformats.org/drawingml/2006/main"/>
        </p:blipFill>
        <p:spPr>
          <a:xfrm xmlns:a="http://schemas.openxmlformats.org/drawingml/2006/main">
            <a:off x="6019800" y="1600200"/>
            <a:ext cx="5562600" cy="4171950"/>
          </a:xfrm>
          <a:prstGeom xmlns:a="http://schemas.openxmlformats.org/drawingml/2006/main" prst="rect">
            <a:avLst/>
          </a:prstGeom>
        </p:spPr>
      </p:pic>
      <p:sp>
        <p:nvSpPr>
          <p:cNvPr id="9" name="Project footer">
            <a:extLst xmlns:a="http://schemas.openxmlformats.org/drawingml/2006/main">
              <a:ext uri="{FF2B5EF4-FFF2-40B4-BE49-F238E27FC236}">
                <a16:creationId xmlns:a16="http://schemas.microsoft.com/office/drawing/2014/main" id="{B3A4E84E-AD81-4DB0-B7F0-7583B43C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TEAM AC/DC · HACKATHON PROJECT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B44BE11-DE70-43E6-BBCC-2B09BA37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C5CABC"/>
                </a:solidFill>
                <a:latin typeface="Helvetica Neue"/>
                <a:ea typeface="Helvetica Neue"/>
                <a:cs typeface="Helvetica Neue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790524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2026-10-17T19:15:58.5330000Z</dcterms:created>
  <dcterms:modified xsi:type="dcterms:W3CDTF">2026-10-17T19:15:58.5330000Z</dcterms:modified>
</coreProperties>
</file>