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981ac5a91a34152" /><Relationship Type="http://schemas.openxmlformats.org/officeDocument/2006/relationships/extended-properties" Target="/docProps/app.xml" Id="R0dde75db142c468f" /><Relationship Type="http://schemas.openxmlformats.org/officeDocument/2006/relationships/officeDocument" Target="/ppt/presentation.xml" Id="Rbbc6abce9a9d4454" /></Relationships>
</file>

<file path=ppt/presentation.xml><?xml version="1.0" encoding="utf-8"?>
<p:presentation xmlns:p="http://schemas.openxmlformats.org/presentationml/2006/main">
  <p:sldMasterIdLst>
    <p:sldMasterId xmlns:r="http://schemas.openxmlformats.org/officeDocument/2006/relationships" id="2147483648" r:id="Ra1193db21c4946fc"/>
  </p:sldMasterIdLst>
  <p:notesMasterIdLst>
    <p:notesMasterId xmlns:r="http://schemas.openxmlformats.org/officeDocument/2006/relationships" r:id="R9105493e55ac4383"/>
  </p:notesMasterIdLst>
  <p:sldIdLst>
    <p:sldId xmlns:r="http://schemas.openxmlformats.org/officeDocument/2006/relationships" id="256" r:id="Rd0d68538b3a3431b"/>
    <p:sldId xmlns:r="http://schemas.openxmlformats.org/officeDocument/2006/relationships" id="257" r:id="R2ed54ea6c67a41a5"/>
    <p:sldId xmlns:r="http://schemas.openxmlformats.org/officeDocument/2006/relationships" id="258" r:id="R9cfa1ec9fa764048"/>
    <p:sldId xmlns:r="http://schemas.openxmlformats.org/officeDocument/2006/relationships" id="259" r:id="R83f7364f4e674663"/>
    <p:sldId xmlns:r="http://schemas.openxmlformats.org/officeDocument/2006/relationships" id="260" r:id="R65f9ff0708af4536"/>
    <p:sldId xmlns:r="http://schemas.openxmlformats.org/officeDocument/2006/relationships" id="261" r:id="R59e292003fdc4dbd"/>
    <p:sldId xmlns:r="http://schemas.openxmlformats.org/officeDocument/2006/relationships" id="262" r:id="Rf2c87527c44f4db3"/>
    <p:sldId xmlns:r="http://schemas.openxmlformats.org/officeDocument/2006/relationships" id="263" r:id="Re27dc6aac42a4aea"/>
    <p:sldId xmlns:r="http://schemas.openxmlformats.org/officeDocument/2006/relationships" id="264" r:id="Rac944de94ac34b3d"/>
    <p:sldId xmlns:r="http://schemas.openxmlformats.org/officeDocument/2006/relationships" id="265" r:id="R63ddc17839134b6a"/>
    <p:sldId xmlns:r="http://schemas.openxmlformats.org/officeDocument/2006/relationships" id="266" r:id="R0493529134a747dc"/>
    <p:sldId xmlns:r="http://schemas.openxmlformats.org/officeDocument/2006/relationships" id="267" r:id="Rd436771407f3468e"/>
    <p:sldId xmlns:r="http://schemas.openxmlformats.org/officeDocument/2006/relationships" id="268" r:id="R52d776e19e5c4efb"/>
    <p:sldId xmlns:r="http://schemas.openxmlformats.org/officeDocument/2006/relationships" id="269" r:id="Rb7432e5cbf5945bc"/>
    <p:sldId xmlns:r="http://schemas.openxmlformats.org/officeDocument/2006/relationships" id="270" r:id="R59498d1cab68466c"/>
    <p:sldId xmlns:r="http://schemas.openxmlformats.org/officeDocument/2006/relationships" id="271" r:id="Recbb218315cc4f7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35e56ca67474034" /><Relationship Type="http://schemas.openxmlformats.org/officeDocument/2006/relationships/slideMaster" Target="/ppt/slideMasters/slideMaster1.xml" Id="Ra1193db21c4946fc" /><Relationship Type="http://schemas.openxmlformats.org/officeDocument/2006/relationships/notesMaster" Target="/ppt/notesMasters/notesMaster1.xml" Id="R9105493e55ac4383" /><Relationship Type="http://schemas.openxmlformats.org/officeDocument/2006/relationships/presProps" Target="/ppt/presProps.xml" Id="R21e7016c8b37485b" /><Relationship Type="http://schemas.openxmlformats.org/officeDocument/2006/relationships/tableStyles" Target="/ppt/tableStyles.xml" Id="R78bac47c2a384743" /><Relationship Type="http://schemas.openxmlformats.org/officeDocument/2006/relationships/slide" Target="/ppt/slides/slide1.xml" Id="Rd0d68538b3a3431b" /><Relationship Type="http://schemas.openxmlformats.org/officeDocument/2006/relationships/slide" Target="/ppt/slides/slide2.xml" Id="R2ed54ea6c67a41a5" /><Relationship Type="http://schemas.openxmlformats.org/officeDocument/2006/relationships/slide" Target="/ppt/slides/slide3.xml" Id="R9cfa1ec9fa764048" /><Relationship Type="http://schemas.openxmlformats.org/officeDocument/2006/relationships/slide" Target="/ppt/slides/slide4.xml" Id="R83f7364f4e674663" /><Relationship Type="http://schemas.openxmlformats.org/officeDocument/2006/relationships/slide" Target="/ppt/slides/slide5.xml" Id="R65f9ff0708af4536" /><Relationship Type="http://schemas.openxmlformats.org/officeDocument/2006/relationships/slide" Target="/ppt/slides/slide6.xml" Id="R59e292003fdc4dbd" /><Relationship Type="http://schemas.openxmlformats.org/officeDocument/2006/relationships/slide" Target="/ppt/slides/slide7.xml" Id="Rf2c87527c44f4db3" /><Relationship Type="http://schemas.openxmlformats.org/officeDocument/2006/relationships/slide" Target="/ppt/slides/slide8.xml" Id="Re27dc6aac42a4aea" /><Relationship Type="http://schemas.openxmlformats.org/officeDocument/2006/relationships/slide" Target="/ppt/slides/slide9.xml" Id="Rac944de94ac34b3d" /><Relationship Type="http://schemas.openxmlformats.org/officeDocument/2006/relationships/slide" Target="/ppt/slides/slide10.xml" Id="R63ddc17839134b6a" /><Relationship Type="http://schemas.openxmlformats.org/officeDocument/2006/relationships/slide" Target="/ppt/slides/slide11.xml" Id="R0493529134a747dc" /><Relationship Type="http://schemas.openxmlformats.org/officeDocument/2006/relationships/slide" Target="/ppt/slides/slide12.xml" Id="Rd436771407f3468e" /><Relationship Type="http://schemas.openxmlformats.org/officeDocument/2006/relationships/slide" Target="/ppt/slides/slide13.xml" Id="R52d776e19e5c4efb" /><Relationship Type="http://schemas.openxmlformats.org/officeDocument/2006/relationships/slide" Target="/ppt/slides/slide14.xml" Id="Rb7432e5cbf5945bc" /><Relationship Type="http://schemas.openxmlformats.org/officeDocument/2006/relationships/slide" Target="/ppt/slides/slide15.xml" Id="R59498d1cab68466c" /><Relationship Type="http://schemas.openxmlformats.org/officeDocument/2006/relationships/slide" Target="/ppt/slides/slide16.xml" Id="Recbb218315cc4f7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2044b9b3b0e4e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00ef3361b3e470c" /><Relationship Type="http://schemas.openxmlformats.org/officeDocument/2006/relationships/notesMaster" Target="/ppt/notesMasters/notesMaster1.xml" Id="R25e07a641709497b" /></Relationships>
</file>

<file path=ppt/notesSlides/_rels/notesSlide2.xml.rels>&#65279;<?xml version="1.0" encoding="utf-8"?><Relationships xmlns="http://schemas.openxmlformats.org/package/2006/relationships"><Relationship Type="http://schemas.openxmlformats.org/officeDocument/2006/relationships/slide" Target="/ppt/slides/slide2.xml" Id="R95901a6fb43a4e4c" /><Relationship Type="http://schemas.openxmlformats.org/officeDocument/2006/relationships/notesMaster" Target="/ppt/notesMasters/notesMaster1.xml" Id="R0d78e4e5cc034f42" /></Relationships>
</file>

<file path=ppt/notesSlides/_rels/notesSlide3.xml.rels>&#65279;<?xml version="1.0" encoding="utf-8"?><Relationships xmlns="http://schemas.openxmlformats.org/package/2006/relationships"><Relationship Type="http://schemas.openxmlformats.org/officeDocument/2006/relationships/slide" Target="/ppt/slides/slide3.xml" Id="R3020afff10124290" /><Relationship Type="http://schemas.openxmlformats.org/officeDocument/2006/relationships/notesMaster" Target="/ppt/notesMasters/notesMaster1.xml" Id="R7511fe38615b43f4" /></Relationships>
</file>

<file path=ppt/notesSlides/_rels/notesSlide4.xml.rels>&#65279;<?xml version="1.0" encoding="utf-8"?><Relationships xmlns="http://schemas.openxmlformats.org/package/2006/relationships"><Relationship Type="http://schemas.openxmlformats.org/officeDocument/2006/relationships/slide" Target="/ppt/slides/slide4.xml" Id="R517aef63609e4867" /><Relationship Type="http://schemas.openxmlformats.org/officeDocument/2006/relationships/notesMaster" Target="/ppt/notesMasters/notesMaster1.xml" Id="R52190ab0c80f4d85" /></Relationships>
</file>

<file path=ppt/notesSlides/_rels/notesSlide5.xml.rels>&#65279;<?xml version="1.0" encoding="utf-8"?><Relationships xmlns="http://schemas.openxmlformats.org/package/2006/relationships"><Relationship Type="http://schemas.openxmlformats.org/officeDocument/2006/relationships/slide" Target="/ppt/slides/slide5.xml" Id="R8e78a5e3cfaa48e4" /><Relationship Type="http://schemas.openxmlformats.org/officeDocument/2006/relationships/notesMaster" Target="/ppt/notesMasters/notesMaster1.xml" Id="R3b1e4178842b4f9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8045172aa36412d" /><Relationship Type="http://schemas.openxmlformats.org/officeDocument/2006/relationships/notesMaster" Target="/ppt/notesMasters/notesMaster1.xml" Id="R1e2be8b357a14ead" /></Relationships>
</file>

<file path=ppt/notesSlides/_rels/notesSlide7.xml.rels>&#65279;<?xml version="1.0" encoding="utf-8"?><Relationships xmlns="http://schemas.openxmlformats.org/package/2006/relationships"><Relationship Type="http://schemas.openxmlformats.org/officeDocument/2006/relationships/slide" Target="/ppt/slides/slide7.xml" Id="R08eb2eb569b24064" /><Relationship Type="http://schemas.openxmlformats.org/officeDocument/2006/relationships/notesMaster" Target="/ppt/notesMasters/notesMaster1.xml" Id="R9cfce559166e4b90" /></Relationships>
</file>

<file path=ppt/notesSlides/_rels/notesSlide8.xml.rels>&#65279;<?xml version="1.0" encoding="utf-8"?><Relationships xmlns="http://schemas.openxmlformats.org/package/2006/relationships"><Relationship Type="http://schemas.openxmlformats.org/officeDocument/2006/relationships/slide" Target="/ppt/slides/slide8.xml" Id="R0cd8cb4535fe40bb" /><Relationship Type="http://schemas.openxmlformats.org/officeDocument/2006/relationships/notesMaster" Target="/ppt/notesMasters/notesMaster1.xml" Id="R7333e8dc227a4fd8" /></Relationships>
</file>

<file path=ppt/notesSlides/_rels/notesSlide9.xml.rels>&#65279;<?xml version="1.0" encoding="utf-8"?><Relationships xmlns="http://schemas.openxmlformats.org/package/2006/relationships"><Relationship Type="http://schemas.openxmlformats.org/officeDocument/2006/relationships/slide" Target="/ppt/slides/slide9.xml" Id="R34cd1a81c8bf4c2c" /><Relationship Type="http://schemas.openxmlformats.org/officeDocument/2006/relationships/notesMaster" Target="/ppt/notesMasters/notesMaster1.xml" Id="R72e8d4f7d21e4c1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6e8fa9d9dd44ff9" /><Relationship Type="http://schemas.openxmlformats.org/officeDocument/2006/relationships/notesMaster" Target="/ppt/notesMasters/notesMaster1.xml" Id="R35a1abca565d4fe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f9c86029fc04384" /><Relationship Type="http://schemas.openxmlformats.org/officeDocument/2006/relationships/notesMaster" Target="/ppt/notesMasters/notesMaster1.xml" Id="R6c2c7a8e33fb4df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519b69a2a4d4983" /><Relationship Type="http://schemas.openxmlformats.org/officeDocument/2006/relationships/notesMaster" Target="/ppt/notesMasters/notesMaster1.xml" Id="Rf96e023643af452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2cf0af8f53a4935" /><Relationship Type="http://schemas.openxmlformats.org/officeDocument/2006/relationships/notesMaster" Target="/ppt/notesMasters/notesMaster1.xml" Id="R7f64d72a40f94ff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98b9b85b7c34e06" /><Relationship Type="http://schemas.openxmlformats.org/officeDocument/2006/relationships/notesMaster" Target="/ppt/notesMasters/notesMaster1.xml" Id="Rf08262c235cf414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bc6d33513e94d2d" /><Relationship Type="http://schemas.openxmlformats.org/officeDocument/2006/relationships/notesMaster" Target="/ppt/notesMasters/notesMaster1.xml" Id="R26ca3c9a6e794c1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066d31665804bbd" /><Relationship Type="http://schemas.openxmlformats.org/officeDocument/2006/relationships/notesMaster" Target="/ppt/notesMasters/notesMaster1.xml" Id="Rbe1575883147471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Positioning hypothesis: a proposed enterprise pilot to verify electricity use per successful task for private LLM inference. No measured savings, product maturity or customer traction are represented. Background is an illustrative AI-generated server room.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IEA Electricity 2026 reports grid infrastructure planning, permitting and construction timelines of roughly 5–15 years, compared with data-center construction timelines of 1–3 years. These are broad project timelines, not an individual facility’s guaranteed connection wait. The 2025 Uptime Global Data Center Survey reports, among 638 owner/operator respondents, 36% very concerned about power availability, 38% very concerned about cost issues, and 36% very concerned about forecasting capacity. This survey is not an enterprise LLM market study. Sources: https://www.iea.org/reports/electricity-2026/grids ; https://datacenter.uptimeinstitute.com/rs/711-RIA-145/images/2025.Annual.Survey.Report.pdf?version=0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CBRE reports 1.4% primary-market vacancy in North America in H1 2026 and identifies power and infrastructure timelines as decisive in site decisions. It describes 60–85% utilization floors of allocated power as increasingly common in U.S. take-or-pay arrangements; this is not a market-share estimate or a universal contract rule. Conditional implication: where a minimum commitment binds, lowering physical electricity use alone may not lower the contracted bill. CBRE also reports fit-out delays at existing facilities and that air-to-liquid cooling conversion can take more than six months. Source: https://www.cbre.com/insights/books/north-america-data-center-trends-h1-2026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PUE is a facility-level ratio and does not measure IT equipment efficiency. Uptime’s 2025 survey reports weighted PUE of 1.54, virtually unchanged for six years in its surveyed sample; this is not a universal data-center benchmark. IEA Energy and AI reports cooling at about 7% of electricity use in efficient hyperscale data centers and above 30% in less-efficient enterprise facilities. These context differences support defining the metered boundary; the proposed pilot does not claim facility or cooling savings unless those loads are explicitly measured. Sources: https://datacenter.uptimeinstitute.com/rs/711-RIA-145/images/2025.Annual.Survey.Report.pdf?version=0 ; https://www.iea.org/reports/energy-and-ai/energy-demand-from-ai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proposed buyer metric and comparison design, not a result. Define success using customer-owned quality criteria and service limits before testing. TTFT means time to first token; TPOT means time per output token. Compare only workloads with aligned task mix, model, input/output lengths, concurrency and cache conditions or explain the differences. Include failures, retries and idle energy in the numerator; count only accepted tasks in the denominator. Request-level energy allocated from shared measurements must be labeled allocated rather than directly measured. Performance terminology reference: https://mlcommons.org/2025/04/llm-inference-v5/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native editable report structure, not implemented software or pilot data. Start with one batch/window energy boundary and classify each quantity as measured, allocated or estimated. Carry metering uncertainty, service impact, and the customer’s contract basis into the recommendation. A null result or no-change recommendation is valid. TTFT/TPOT definitions are on slide 5. Performance reference: https://mlcommons.org/2025/04/llm-inference-v5/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Validation plan, not achieved performance. Capture input/output lengths, cache hits, concurrency, arrival pattern, model/tokenizer, precision, serving version, warm-up and thermal state. Use alternating or randomized baseline/candidate runs when feasible and repeat enough to estimate variation. Measure collector overhead. Compare quality, TTFT, TPOT, end-to-end latency, errors and task acceptance. Include all attempts and do not call energy directly measured at request level when it is allocated from shared batch/device totals. References: https://mlcommons.org/2025/04/llm-inference-v5/ ; https://docs.nvidia.com/aiperf/dev/reference/ai-perf-metrics-reference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enterprise requirements, not implemented capability claims. Define supported GPU, driver, OS and serving-stack versions after testing. Prefer existing approved telemetry endpoints with read-only access for observation. Driver-level metrics may require permissions and customer review. Verify package provenance, offline updates, data retention/deletion, encryption and access controls. No outbound telemetry or licensing behavior is assumed. Customer owns task quality evaluation where possible; raw prompt and response text are not required in the proposed default. Configuration changes require separate customer authorization and rollback.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Financial model, not a quantified result. For owned infrastructure, electricity saving requires measured reduction at equal useful output and an agreed tariff matched to the measurement boundary. Capacity value requires evidence that released headroom is usable or that a purchase can actually be deferred; it is not automatically revenue and should not be added to energy savings without checking overlap. For rented capacity, lower energy alone does not establish a smaller bill. CBRE describes 60–85% utilization floors of allocated power in an increasing number of U.S. take-or-pay contracts, but terms vary and this is not universal. Electricity is one operating-cost component, not full inference TCO. No tariff, price or customer implementation cost has been supplied. Source: https://www.cbre.com/insights/books/north-america-data-center-trends-h1-2026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exclusivity or competitor inability claims. NVIDIA DCGM documents power and cumulative energy counters for supported hardware: https://docs.nvidia.com/datacenter/dcgm/latest/reference/dcgm-exporter-metrics.html . NVIDIA AIPerf documents inference performance and energy metrics: https://docs.nvidia.com/aiperf/dev/reference/ai-perf-metrics-reference . MLCommons provides standardized inference performance and power benchmarking: https://mlcommons.org/benchmarks/inference-datacenter/ ; LLM inference terminology: https://mlcommons.org/2025/04/llm-inference-v5/ . Zeus provides energy measurement and optimization tools: https://ml.energy/zeus/optimize/ . The proposed differentiation is a hypothesis to test against available tools, hardware compatibility, integration effort, licenses and internal engineering. Do not imply that these alternatives cannot be run locally or perform attribution.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Concrete proposed commercial ask. Scope one enterprise-owned inference deployment with a clear workload and energy boundary. Agree repeatability, quality, latency, collector overhead and reporting criteria before testing. Begin with observation; configuration changes require authorization and rollback. A no-change recommendation remains a legitimate outcome. Fixed-scope pilot pricing and recurring coverage are hypotheses; no delivery date, price, customer commitment or measured saving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reviewed October 17, 2026. Sources and scope: IEA Electricity 2026 grids page, https://www.iea.org/reports/electricity-2026/grids (5–15 year grid infrastructure planning/permitting/build timelines versus 1–3 years for data-center builds; not an individual connection guarantee). U.S. Department of Energy, https://www.energy.gov/oe/articles/strengthening-americas-grid-supply-chain (critical transformer, breaker, substation and power-electronics supply constraints; lead times over two years apply to critical equipment, not every transformer). IEA Energy and AI, https://www.iea.org/reports/energy-and-ai/energy-demand-from-ai (cooling shares around 7% in efficient hyperscale to over 30% in less-efficient enterprise data centers; site-dependent). CBRE North America Data Center Trends H1 2026, https://www.cbre.com/insights/books/north-america-data-center-trends-h1-2026 (1.4% primary-market vacancy, infrastructure timeline importance, and 60–85% utilization floors increasingly common in some U.S. take-or-pay contracts; no universal rule or market share is claimed). Google Cloud, https://cloud.google.com/blog/products/networking/data-center-and-global-networks-built-for-ai-era/ (one operator’s description that AI demand can outpace space and power at an individual facility and be distributed across campuses). These sources explain the buyer environment. They do not establish enterprise LLM market validation, exact customer energy allocation, savings, capacity unlocked, or effects on grid or facility constraints.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successful task is customer-defined and must meet fixed quality and service criteria. Keep retries, failures and idle energy in the numerator. Count only accepted tasks in the denominator. Output token efficiency can reward verbosity, so it is not a substitute for completed-task measurement. Report input length, cache behavior, model and tokenizer; cross-workload comparisons need qualification. Energy at a batch boundary may be directly measured while per-request energy is allocated. Do not double-count GPU and system energy. TTFT means time to first token; TPOT means time per output token. PUE uses total facility energy divided by IT energy; it is a facility metric and does not indicate IT workload efficiency. Unit-economics reference: https://www.finops.org/framework/capabilities/unit-economics/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AI-generated product concept, not an exact technical photo. Manufacturer sources: https://www.fluke.com/en-us/product/electrical-testing/clamp-meters/fluke-376-fc ; https://meters.uni-trend.com/product/ut61-series/ . Fluke 376 FC provides clamp current diagnostics, including True-RMS AC response. Original UT61B has 10 A AC/DC terminal input, no clamp, is not True-RMS, and is discontinued; it is not equivalent to a clamp meter. Both are distinct from UT61B+. Neither product listing specifies direct real power or energy measurement. The reported 116 V AC system is user-provided and interpreted as RMS for the electrical calculation on slide 15; the actual supply configuration, power factor, meter interface and calibration remain to be verified. A real-power/energy meter is needed for direct supply energy. A clamp around outgoing and return conductors together can cancel. Measurement setup should be arranged by qualified personnel at a suitably rated 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Hypothetical arithmetic only; no observed result, customer price, promised saving or product forecast. Assumes constant 100 kW or 1,000 kW load for 8,000 h, flat tariff $0.10/kWh, equal successful output/service and identical metered boundary, with no demand charges or dynamic tariff. Baseline cost = power_kW × 8,000 × $0.10. Gross savings = baseline cost × assumed energy reduction. Net benefit must subtract fees, setup and ongoing customer effort. Capacity gains and energy savings at fixed output are separate use cases and not automatically additive. MW is power; MWh is energy.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116 V AC is user-provided, interpreted as RMS, with single-phase topology conditional. Instantaneous p(t)=v(t)i(t) requires simultaneous waveform samples. Average real power is Vrms × Irms × true power factor; PF=1 is not established. Integrate real watts over elapsed seconds to obtain Wh. NVIDIA energy counters are in mJ on supported devices and may reset on driver reload: https://docs.nvidia.com/deploy/nvml-api/latest/api/group__nvmlDeviceQueries.html . Do not add GPU energy to a system meter that already includes it. Use appropriate phase-aware measurement for multi-phase or multiple feeds. All instrument interfaces, telemetry support, sample cadence and uncertainty require verification. Power factor reference: https://www.fluke.com/en/learn/blog/power-quality/power-factor-formula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4a218cb24e54eb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f2da8d0a09d492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be03f45f6a54df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81eebe3c8ed4ec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7d179cfa10e492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c883d3c60bd4da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E6D051-E628-47ED-9527-73F5330873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0AF9504-E315-4048-88C8-F7D4EE5C2C6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BF20EDD-B3FF-44AF-90FF-865E457ED78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E358883-4BD4-4CA6-B630-B71E3F2D6B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08A9C94-661B-40C1-8745-0EA35FB0A0B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BA2502A-279E-4BBB-A442-0956677F41C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0900D87-2950-4DF2-A9E8-61CA2E4CAA1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E995940-F968-4B62-9DC9-C4F410C19CB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A8FF695-2192-440A-834A-A9E2D1D53B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D7A7540-4289-441A-AF83-6C835D91B7F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cf33e1c455e4fdb" /><Relationship Type="http://schemas.openxmlformats.org/officeDocument/2006/relationships/slideLayout" Target="/ppt/slideLayouts/slideLayout1.xml" Id="R329570316fef4a1b" /><Relationship Type="http://schemas.openxmlformats.org/officeDocument/2006/relationships/slideLayout" Target="/ppt/slideLayouts/slideLayout2.xml" Id="R0026682a5e1b4416" /><Relationship Type="http://schemas.openxmlformats.org/officeDocument/2006/relationships/slideLayout" Target="/ppt/slideLayouts/slideLayout3.xml" Id="R2286ac53b1634b4c" /><Relationship Type="http://schemas.openxmlformats.org/officeDocument/2006/relationships/slideLayout" Target="/ppt/slideLayouts/slideLayout4.xml" Id="R3b3e287f65f74cc4" /><Relationship Type="http://schemas.openxmlformats.org/officeDocument/2006/relationships/slideLayout" Target="/ppt/slideLayouts/slideLayout5.xml" Id="Reb9b1a6145f94a22" /><Relationship Type="http://schemas.openxmlformats.org/officeDocument/2006/relationships/slideLayout" Target="/ppt/slideLayouts/slideLayout6.xml" Id="R95c131d37be5462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29570316fef4a1b"/>
    <p:sldLayoutId xmlns:r="http://schemas.openxmlformats.org/officeDocument/2006/relationships" id="2147483650" r:id="R0026682a5e1b4416"/>
    <p:sldLayoutId xmlns:r="http://schemas.openxmlformats.org/officeDocument/2006/relationships" id="2147483651" r:id="R2286ac53b1634b4c"/>
    <p:sldLayoutId xmlns:r="http://schemas.openxmlformats.org/officeDocument/2006/relationships" id="2147483652" r:id="R3b3e287f65f74cc4"/>
    <p:sldLayoutId xmlns:r="http://schemas.openxmlformats.org/officeDocument/2006/relationships" id="2147483653" r:id="Reb9b1a6145f94a22"/>
    <p:sldLayoutId xmlns:r="http://schemas.openxmlformats.org/officeDocument/2006/relationships" id="2147483654" r:id="R95c131d37be5462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d0dacf3b7d44859" /><Relationship Type="http://schemas.openxmlformats.org/officeDocument/2006/relationships/image" Target="/ppt/media/image.png" Id="R23a0b005c99f40e6" /><Relationship Type="http://schemas.openxmlformats.org/officeDocument/2006/relationships/notesSlide" Target="/ppt/notesSlides/notesSlide1.xml" Id="Rabe5fb0b39b545c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2af2569d5644edc" /><Relationship Type="http://schemas.openxmlformats.org/officeDocument/2006/relationships/notesSlide" Target="/ppt/notesSlides/notesSlide2.xml" Id="R3077c0909d554e4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dc2e4a3c6194e6a" /><Relationship Type="http://schemas.openxmlformats.org/officeDocument/2006/relationships/notesSlide" Target="/ppt/notesSlides/notesSlide3.xml" Id="Ref14c36566e044d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f64e854dc244a87" /><Relationship Type="http://schemas.openxmlformats.org/officeDocument/2006/relationships/notesSlide" Target="/ppt/notesSlides/notesSlide4.xml" Id="R7c2a9277dbca4ad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4f3097521d645d1" /><Relationship Type="http://schemas.openxmlformats.org/officeDocument/2006/relationships/notesSlide" Target="/ppt/notesSlides/notesSlide5.xml" Id="Rd807209154ec44e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c607628181d443f" /><Relationship Type="http://schemas.openxmlformats.org/officeDocument/2006/relationships/notesSlide" Target="/ppt/notesSlides/notesSlide6.xml" Id="R5bc608583a844cd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74417aac0564ed8" /><Relationship Type="http://schemas.openxmlformats.org/officeDocument/2006/relationships/notesSlide" Target="/ppt/notesSlides/notesSlide7.xml" Id="R38aa47cddf6446d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b93219682734138" /><Relationship Type="http://schemas.openxmlformats.org/officeDocument/2006/relationships/notesSlide" Target="/ppt/notesSlides/notesSlide8.xml" Id="R70af6e25e53c4a2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41dba95f2db4ab7" /><Relationship Type="http://schemas.openxmlformats.org/officeDocument/2006/relationships/notesSlide" Target="/ppt/notesSlides/notesSlide9.xml" Id="R0903bfa0a23c4a8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91676801547457e" /><Relationship Type="http://schemas.openxmlformats.org/officeDocument/2006/relationships/notesSlide" Target="/ppt/notesSlides/notesSlide10.xml" Id="Rea5a632fc226486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414045572484b4d" /><Relationship Type="http://schemas.openxmlformats.org/officeDocument/2006/relationships/notesSlide" Target="/ppt/notesSlides/notesSlide11.xml" Id="R46d95b2b86a74ff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7bb889eb6a24d56" /><Relationship Type="http://schemas.openxmlformats.org/officeDocument/2006/relationships/notesSlide" Target="/ppt/notesSlides/notesSlide12.xml" Id="Rb3b1c635a898479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4b2372a175340f6" /><Relationship Type="http://schemas.openxmlformats.org/officeDocument/2006/relationships/notesSlide" Target="/ppt/notesSlides/notesSlide13.xml" Id="R69ec3768e4a0484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b66a4b9b7bf4da1" /><Relationship Type="http://schemas.openxmlformats.org/officeDocument/2006/relationships/image" Target="/ppt/media/image2.png" Id="R9d1a0bb8673e4e4c" /><Relationship Type="http://schemas.openxmlformats.org/officeDocument/2006/relationships/notesSlide" Target="/ppt/notesSlides/notesSlide14.xml" Id="Rd0daaf49310d49f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572603412fd4452" /><Relationship Type="http://schemas.openxmlformats.org/officeDocument/2006/relationships/notesSlide" Target="/ppt/notesSlides/notesSlide15.xml" Id="Raae583191b20450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697154619bb4c65" /><Relationship Type="http://schemas.openxmlformats.org/officeDocument/2006/relationships/notesSlide" Target="/ppt/notesSlides/notesSlide16.xml" Id="R9c7b5ebadb9b4dc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5A01898C-2AD6-4715-A2F2-039ED2E2436A}"/>
              </a:ext>
            </a:extLst>
          </p:cNvPr>
          <p:cNvPicPr>
            <a:picLocks xmlns:a="http://schemas.openxmlformats.org/drawingml/2006/main" noChangeAspect="1"/>
          </p:cNvPicPr>
          <p:nvPr/>
        </p:nvPicPr>
        <p:blipFill>
          <a:blip xmlns:r="http://schemas.openxmlformats.org/officeDocument/2006/relationships" xmlns:a="http://schemas.openxmlformats.org/drawingml/2006/main" r:embed="R23a0b005c99f40e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2C0252-7AF6-440E-ACC9-8F64B8BAF0F6}"/>
              </a:ext>
            </a:extLst>
          </p:cNvPr>
          <p:cNvSpPr>
            <a:spLocks xmlns:a="http://schemas.openxmlformats.org/drawingml/2006/main" noGrp="1"/>
          </p:cNvSpPr>
          <p:nvPr/>
        </p:nvSpPr>
        <p:spPr>
          <a:xfrm xmlns:a="http://schemas.openxmlformats.org/drawingml/2006/main">
            <a:off x="609600" y="619125"/>
            <a:ext cx="704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FFDB24"/>
                </a:solidFill>
                <a:latin typeface="Helvetica Neue"/>
                <a:ea typeface="Helvetica Neue"/>
                <a:cs typeface="Helvetica Neue"/>
              </a:defRPr>
            </a:defPPr>
            <a:lvl1pPr>
              <a:defRPr sz="1275" b="1">
                <a:solidFill>
                  <a:srgbClr val="FFDB24"/>
                </a:solidFill>
                <a:latin typeface="Helvetica Neue"/>
                <a:ea typeface="Helvetica Neue"/>
                <a:cs typeface="Helvetica Neue"/>
              </a:defRPr>
            </a:lvl1pPr>
            <a:lvl2pPr>
              <a:defRPr sz="1275" b="1">
                <a:solidFill>
                  <a:srgbClr val="FFDB24"/>
                </a:solidFill>
                <a:latin typeface="Helvetica Neue"/>
                <a:ea typeface="Helvetica Neue"/>
                <a:cs typeface="Helvetica Neue"/>
              </a:defRPr>
            </a:lvl2pPr>
            <a:lvl3pPr>
              <a:defRPr sz="1275" b="1">
                <a:solidFill>
                  <a:srgbClr val="FFDB24"/>
                </a:solidFill>
                <a:latin typeface="Helvetica Neue"/>
                <a:ea typeface="Helvetica Neue"/>
                <a:cs typeface="Helvetica Neue"/>
              </a:defRPr>
            </a:lvl3pPr>
            <a:lvl4pPr>
              <a:defRPr sz="1275" b="1">
                <a:solidFill>
                  <a:srgbClr val="FFDB24"/>
                </a:solidFill>
                <a:latin typeface="Helvetica Neue"/>
                <a:ea typeface="Helvetica Neue"/>
                <a:cs typeface="Helvetica Neue"/>
              </a:defRPr>
            </a:lvl4pPr>
            <a:lvl5pPr>
              <a:defRPr sz="1275" b="1">
                <a:solidFill>
                  <a:srgbClr val="FFDB24"/>
                </a:solidFill>
                <a:latin typeface="Helvetica Neue"/>
                <a:ea typeface="Helvetica Neue"/>
                <a:cs typeface="Helvetica Neue"/>
              </a:defRPr>
            </a:lvl5pPr>
            <a:lvl6pPr>
              <a:defRPr sz="1275" b="1">
                <a:solidFill>
                  <a:srgbClr val="FFDB24"/>
                </a:solidFill>
                <a:latin typeface="Helvetica Neue"/>
                <a:ea typeface="Helvetica Neue"/>
                <a:cs typeface="Helvetica Neue"/>
              </a:defRPr>
            </a:lvl6pPr>
            <a:lvl7pPr>
              <a:defRPr sz="1275" b="1">
                <a:solidFill>
                  <a:srgbClr val="FFDB24"/>
                </a:solidFill>
                <a:latin typeface="Helvetica Neue"/>
                <a:ea typeface="Helvetica Neue"/>
                <a:cs typeface="Helvetica Neue"/>
              </a:defRPr>
            </a:lvl7pPr>
            <a:lvl8pPr>
              <a:defRPr sz="1275" b="1">
                <a:solidFill>
                  <a:srgbClr val="FFDB24"/>
                </a:solidFill>
                <a:latin typeface="Helvetica Neue"/>
                <a:ea typeface="Helvetica Neue"/>
                <a:cs typeface="Helvetica Neue"/>
              </a:defRPr>
            </a:lvl8pPr>
            <a:lvl9pPr>
              <a:defRPr sz="1275" b="1">
                <a:solidFill>
                  <a:srgbClr val="FFDB24"/>
                </a:solidFill>
                <a:latin typeface="Helvetica Neue"/>
                <a:ea typeface="Helvetica Neue"/>
                <a:cs typeface="Helvetica Neue"/>
              </a:defRPr>
            </a:lvl9pPr>
          </a:lstStyle>
          <a:p xmlns:a="http://schemas.openxmlformats.org/drawingml/2006/main">
            <a:pPr>
              <a:defRPr sz="1275" b="1">
                <a:solidFill>
                  <a:srgbClr val="FFDB24"/>
                </a:solidFill>
                <a:latin typeface="Helvetica Neue"/>
                <a:ea typeface="Helvetica Neue"/>
                <a:cs typeface="Helvetica Neue"/>
              </a:defRPr>
            </a:pPr>
            <a:r>
              <a:rPr sz="1275" b="1">
                <a:solidFill>
                  <a:srgbClr val="FFDB24"/>
                </a:solidFill>
                <a:latin typeface="Helvetica Neue"/>
                <a:ea typeface="Helvetica Neue"/>
                <a:cs typeface="Helvetica Neue"/>
              </a:rPr>
              <a:t>ENTERPRISE PILOT PROPOSAL</a:t>
            </a:r>
          </a:p>
        </p:txBody>
      </p:sp>
      <p:sp>
        <p:nvSpPr>
          <p:cNvPr id="3" name="">
            <a:extLst xmlns:a="http://schemas.openxmlformats.org/drawingml/2006/main">
              <a:ext uri="{FF2B5EF4-FFF2-40B4-BE49-F238E27FC236}">
                <a16:creationId xmlns:a16="http://schemas.microsoft.com/office/drawing/2014/main" id="{FC38D61B-D2D2-41BC-A8A9-596671A3C704}"/>
              </a:ext>
            </a:extLst>
          </p:cNvPr>
          <p:cNvSpPr>
            <a:spLocks xmlns:a="http://schemas.openxmlformats.org/drawingml/2006/main" noGrp="1"/>
          </p:cNvSpPr>
          <p:nvPr/>
        </p:nvSpPr>
        <p:spPr>
          <a:xfrm xmlns:a="http://schemas.openxmlformats.org/drawingml/2006/main">
            <a:off x="609600" y="1762125"/>
            <a:ext cx="7048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950" b="0">
                <a:solidFill>
                  <a:srgbClr val="F4F3EB"/>
                </a:solidFill>
                <a:latin typeface="Helvetica Neue"/>
                <a:ea typeface="Helvetica Neue"/>
                <a:cs typeface="Helvetica Neue"/>
              </a:defRPr>
            </a:defPPr>
            <a:lvl1pPr>
              <a:defRPr sz="4950" b="0">
                <a:solidFill>
                  <a:srgbClr val="F4F3EB"/>
                </a:solidFill>
                <a:latin typeface="Helvetica Neue"/>
                <a:ea typeface="Helvetica Neue"/>
                <a:cs typeface="Helvetica Neue"/>
              </a:defRPr>
            </a:lvl1pPr>
            <a:lvl2pPr>
              <a:defRPr sz="4950" b="0">
                <a:solidFill>
                  <a:srgbClr val="F4F3EB"/>
                </a:solidFill>
                <a:latin typeface="Helvetica Neue"/>
                <a:ea typeface="Helvetica Neue"/>
                <a:cs typeface="Helvetica Neue"/>
              </a:defRPr>
            </a:lvl2pPr>
            <a:lvl3pPr>
              <a:defRPr sz="4950" b="0">
                <a:solidFill>
                  <a:srgbClr val="F4F3EB"/>
                </a:solidFill>
                <a:latin typeface="Helvetica Neue"/>
                <a:ea typeface="Helvetica Neue"/>
                <a:cs typeface="Helvetica Neue"/>
              </a:defRPr>
            </a:lvl3pPr>
            <a:lvl4pPr>
              <a:defRPr sz="4950" b="0">
                <a:solidFill>
                  <a:srgbClr val="F4F3EB"/>
                </a:solidFill>
                <a:latin typeface="Helvetica Neue"/>
                <a:ea typeface="Helvetica Neue"/>
                <a:cs typeface="Helvetica Neue"/>
              </a:defRPr>
            </a:lvl4pPr>
            <a:lvl5pPr>
              <a:defRPr sz="4950" b="0">
                <a:solidFill>
                  <a:srgbClr val="F4F3EB"/>
                </a:solidFill>
                <a:latin typeface="Helvetica Neue"/>
                <a:ea typeface="Helvetica Neue"/>
                <a:cs typeface="Helvetica Neue"/>
              </a:defRPr>
            </a:lvl5pPr>
            <a:lvl6pPr>
              <a:defRPr sz="4950" b="0">
                <a:solidFill>
                  <a:srgbClr val="F4F3EB"/>
                </a:solidFill>
                <a:latin typeface="Helvetica Neue"/>
                <a:ea typeface="Helvetica Neue"/>
                <a:cs typeface="Helvetica Neue"/>
              </a:defRPr>
            </a:lvl6pPr>
            <a:lvl7pPr>
              <a:defRPr sz="4950" b="0">
                <a:solidFill>
                  <a:srgbClr val="F4F3EB"/>
                </a:solidFill>
                <a:latin typeface="Helvetica Neue"/>
                <a:ea typeface="Helvetica Neue"/>
                <a:cs typeface="Helvetica Neue"/>
              </a:defRPr>
            </a:lvl7pPr>
            <a:lvl8pPr>
              <a:defRPr sz="4950" b="0">
                <a:solidFill>
                  <a:srgbClr val="F4F3EB"/>
                </a:solidFill>
                <a:latin typeface="Helvetica Neue"/>
                <a:ea typeface="Helvetica Neue"/>
                <a:cs typeface="Helvetica Neue"/>
              </a:defRPr>
            </a:lvl8pPr>
            <a:lvl9pPr>
              <a:defRPr sz="4950" b="0">
                <a:solidFill>
                  <a:srgbClr val="F4F3EB"/>
                </a:solidFill>
                <a:latin typeface="Helvetica Neue"/>
                <a:ea typeface="Helvetica Neue"/>
                <a:cs typeface="Helvetica Neue"/>
              </a:defRPr>
            </a:lvl9pPr>
          </a:lstStyle>
          <a:p xmlns:a="http://schemas.openxmlformats.org/drawingml/2006/main">
            <a:pPr>
              <a:defRPr sz="4950" b="0">
                <a:solidFill>
                  <a:srgbClr val="F4F3EB"/>
                </a:solidFill>
                <a:latin typeface="Helvetica Neue"/>
                <a:ea typeface="Helvetica Neue"/>
                <a:cs typeface="Helvetica Neue"/>
              </a:defRPr>
            </a:pPr>
            <a:r>
              <a:rPr sz="4950" b="0">
                <a:solidFill>
                  <a:srgbClr val="F4F3EB"/>
                </a:solidFill>
                <a:latin typeface="Helvetica Neue"/>
                <a:ea typeface="Helvetica Neue"/>
                <a:cs typeface="Helvetica Neue"/>
              </a:rPr>
              <a:t>Measuring LLM</a:t>
            </a:r>
          </a:p>
          <a:p xmlns:a="http://schemas.openxmlformats.org/drawingml/2006/main">
            <a:pPr>
              <a:defRPr sz="4950" b="0">
                <a:solidFill>
                  <a:srgbClr val="F4F3EB"/>
                </a:solidFill>
                <a:latin typeface="Helvetica Neue"/>
                <a:ea typeface="Helvetica Neue"/>
                <a:cs typeface="Helvetica Neue"/>
              </a:defRPr>
            </a:pPr>
            <a:r>
              <a:rPr sz="4950" b="0">
                <a:solidFill>
                  <a:srgbClr val="F4F3EB"/>
                </a:solidFill>
                <a:latin typeface="Helvetica Neue"/>
                <a:ea typeface="Helvetica Neue"/>
                <a:cs typeface="Helvetica Neue"/>
              </a:rPr>
              <a:t>Energy Efficiency</a:t>
            </a:r>
          </a:p>
        </p:txBody>
      </p:sp>
      <p:sp>
        <p:nvSpPr>
          <p:cNvPr id="4" name="">
            <a:extLst xmlns:a="http://schemas.openxmlformats.org/drawingml/2006/main">
              <a:ext uri="{FF2B5EF4-FFF2-40B4-BE49-F238E27FC236}">
                <a16:creationId xmlns:a16="http://schemas.microsoft.com/office/drawing/2014/main" id="{97EF5D75-5782-46BE-A7D5-ABBEE23A7E20}"/>
              </a:ext>
            </a:extLst>
          </p:cNvPr>
          <p:cNvSpPr>
            <a:spLocks xmlns:a="http://schemas.openxmlformats.org/drawingml/2006/main" noGrp="1"/>
          </p:cNvSpPr>
          <p:nvPr/>
        </p:nvSpPr>
        <p:spPr>
          <a:xfrm xmlns:a="http://schemas.openxmlformats.org/drawingml/2006/main">
            <a:off x="609600" y="3905250"/>
            <a:ext cx="647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F4F3EB"/>
                </a:solidFill>
                <a:latin typeface="Helvetica Neue"/>
                <a:ea typeface="Helvetica Neue"/>
                <a:cs typeface="Helvetica Neue"/>
              </a:defRPr>
            </a:defPPr>
            <a:lvl1pPr>
              <a:defRPr sz="2475" b="0">
                <a:solidFill>
                  <a:srgbClr val="F4F3EB"/>
                </a:solidFill>
                <a:latin typeface="Helvetica Neue"/>
                <a:ea typeface="Helvetica Neue"/>
                <a:cs typeface="Helvetica Neue"/>
              </a:defRPr>
            </a:lvl1pPr>
            <a:lvl2pPr>
              <a:defRPr sz="2475" b="0">
                <a:solidFill>
                  <a:srgbClr val="F4F3EB"/>
                </a:solidFill>
                <a:latin typeface="Helvetica Neue"/>
                <a:ea typeface="Helvetica Neue"/>
                <a:cs typeface="Helvetica Neue"/>
              </a:defRPr>
            </a:lvl2pPr>
            <a:lvl3pPr>
              <a:defRPr sz="2475" b="0">
                <a:solidFill>
                  <a:srgbClr val="F4F3EB"/>
                </a:solidFill>
                <a:latin typeface="Helvetica Neue"/>
                <a:ea typeface="Helvetica Neue"/>
                <a:cs typeface="Helvetica Neue"/>
              </a:defRPr>
            </a:lvl3pPr>
            <a:lvl4pPr>
              <a:defRPr sz="2475" b="0">
                <a:solidFill>
                  <a:srgbClr val="F4F3EB"/>
                </a:solidFill>
                <a:latin typeface="Helvetica Neue"/>
                <a:ea typeface="Helvetica Neue"/>
                <a:cs typeface="Helvetica Neue"/>
              </a:defRPr>
            </a:lvl4pPr>
            <a:lvl5pPr>
              <a:defRPr sz="2475" b="0">
                <a:solidFill>
                  <a:srgbClr val="F4F3EB"/>
                </a:solidFill>
                <a:latin typeface="Helvetica Neue"/>
                <a:ea typeface="Helvetica Neue"/>
                <a:cs typeface="Helvetica Neue"/>
              </a:defRPr>
            </a:lvl5pPr>
            <a:lvl6pPr>
              <a:defRPr sz="2475" b="0">
                <a:solidFill>
                  <a:srgbClr val="F4F3EB"/>
                </a:solidFill>
                <a:latin typeface="Helvetica Neue"/>
                <a:ea typeface="Helvetica Neue"/>
                <a:cs typeface="Helvetica Neue"/>
              </a:defRPr>
            </a:lvl6pPr>
            <a:lvl7pPr>
              <a:defRPr sz="2475" b="0">
                <a:solidFill>
                  <a:srgbClr val="F4F3EB"/>
                </a:solidFill>
                <a:latin typeface="Helvetica Neue"/>
                <a:ea typeface="Helvetica Neue"/>
                <a:cs typeface="Helvetica Neue"/>
              </a:defRPr>
            </a:lvl7pPr>
            <a:lvl8pPr>
              <a:defRPr sz="2475" b="0">
                <a:solidFill>
                  <a:srgbClr val="F4F3EB"/>
                </a:solidFill>
                <a:latin typeface="Helvetica Neue"/>
                <a:ea typeface="Helvetica Neue"/>
                <a:cs typeface="Helvetica Neue"/>
              </a:defRPr>
            </a:lvl8pPr>
            <a:lvl9pPr>
              <a:defRPr sz="2475" b="0">
                <a:solidFill>
                  <a:srgbClr val="F4F3EB"/>
                </a:solidFill>
                <a:latin typeface="Helvetica Neue"/>
                <a:ea typeface="Helvetica Neue"/>
                <a:cs typeface="Helvetica Neue"/>
              </a:defRPr>
            </a:lvl9pPr>
          </a:lstStyle>
          <a:p xmlns:a="http://schemas.openxmlformats.org/drawingml/2006/main">
            <a:pPr>
              <a:defRPr sz="2475" b="0">
                <a:solidFill>
                  <a:srgbClr val="F4F3EB"/>
                </a:solidFill>
                <a:latin typeface="Helvetica Neue"/>
                <a:ea typeface="Helvetica Neue"/>
                <a:cs typeface="Helvetica Neue"/>
              </a:defRPr>
            </a:pPr>
            <a:r>
              <a:rPr sz="2475" b="0">
                <a:solidFill>
                  <a:srgbClr val="F4F3EB"/>
                </a:solidFill>
                <a:latin typeface="Helvetica Neue"/>
                <a:ea typeface="Helvetica Neue"/>
                <a:cs typeface="Helvetica Neue"/>
              </a:rPr>
              <a:t>Energy cost per successful task.</a:t>
            </a:r>
          </a:p>
          <a:p xmlns:a="http://schemas.openxmlformats.org/drawingml/2006/main">
            <a:pPr>
              <a:defRPr sz="2475" b="0">
                <a:solidFill>
                  <a:srgbClr val="F4F3EB"/>
                </a:solidFill>
                <a:latin typeface="Helvetica Neue"/>
                <a:ea typeface="Helvetica Neue"/>
                <a:cs typeface="Helvetica Neue"/>
              </a:defRPr>
            </a:pPr>
            <a:r>
              <a:rPr sz="2475" b="0">
                <a:solidFill>
                  <a:srgbClr val="F4F3EB"/>
                </a:solidFill>
                <a:latin typeface="Helvetica Neue"/>
                <a:ea typeface="Helvetica Neue"/>
                <a:cs typeface="Helvetica Neue"/>
              </a:rPr>
              <a:t>Evidence for deployment decisions.</a:t>
            </a:r>
          </a:p>
        </p:txBody>
      </p:sp>
      <p:sp>
        <p:nvSpPr>
          <p:cNvPr id="5" name="">
            <a:extLst xmlns:a="http://schemas.openxmlformats.org/drawingml/2006/main">
              <a:ext uri="{FF2B5EF4-FFF2-40B4-BE49-F238E27FC236}">
                <a16:creationId xmlns:a16="http://schemas.microsoft.com/office/drawing/2014/main" id="{C8714CE7-CCB4-46B4-A650-801E2283A892}"/>
              </a:ext>
            </a:extLst>
          </p:cNvPr>
          <p:cNvSpPr>
            <a:spLocks xmlns:a="http://schemas.openxmlformats.org/drawingml/2006/main" noGrp="1"/>
          </p:cNvSpPr>
          <p:nvPr/>
        </p:nvSpPr>
        <p:spPr>
          <a:xfrm xmlns:a="http://schemas.openxmlformats.org/drawingml/2006/main">
            <a:off x="609600" y="5334000"/>
            <a:ext cx="657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ABDB0"/>
                </a:solidFill>
                <a:latin typeface="Helvetica Neue"/>
                <a:ea typeface="Helvetica Neue"/>
                <a:cs typeface="Helvetica Neue"/>
              </a:defRPr>
            </a:defPPr>
            <a:lvl1pPr>
              <a:defRPr sz="1875" b="0">
                <a:solidFill>
                  <a:srgbClr val="BABDB0"/>
                </a:solidFill>
                <a:latin typeface="Helvetica Neue"/>
                <a:ea typeface="Helvetica Neue"/>
                <a:cs typeface="Helvetica Neue"/>
              </a:defRPr>
            </a:lvl1pPr>
            <a:lvl2pPr>
              <a:defRPr sz="1875" b="0">
                <a:solidFill>
                  <a:srgbClr val="BABDB0"/>
                </a:solidFill>
                <a:latin typeface="Helvetica Neue"/>
                <a:ea typeface="Helvetica Neue"/>
                <a:cs typeface="Helvetica Neue"/>
              </a:defRPr>
            </a:lvl2pPr>
            <a:lvl3pPr>
              <a:defRPr sz="1875" b="0">
                <a:solidFill>
                  <a:srgbClr val="BABDB0"/>
                </a:solidFill>
                <a:latin typeface="Helvetica Neue"/>
                <a:ea typeface="Helvetica Neue"/>
                <a:cs typeface="Helvetica Neue"/>
              </a:defRPr>
            </a:lvl3pPr>
            <a:lvl4pPr>
              <a:defRPr sz="1875" b="0">
                <a:solidFill>
                  <a:srgbClr val="BABDB0"/>
                </a:solidFill>
                <a:latin typeface="Helvetica Neue"/>
                <a:ea typeface="Helvetica Neue"/>
                <a:cs typeface="Helvetica Neue"/>
              </a:defRPr>
            </a:lvl4pPr>
            <a:lvl5pPr>
              <a:defRPr sz="1875" b="0">
                <a:solidFill>
                  <a:srgbClr val="BABDB0"/>
                </a:solidFill>
                <a:latin typeface="Helvetica Neue"/>
                <a:ea typeface="Helvetica Neue"/>
                <a:cs typeface="Helvetica Neue"/>
              </a:defRPr>
            </a:lvl5pPr>
            <a:lvl6pPr>
              <a:defRPr sz="1875" b="0">
                <a:solidFill>
                  <a:srgbClr val="BABDB0"/>
                </a:solidFill>
                <a:latin typeface="Helvetica Neue"/>
                <a:ea typeface="Helvetica Neue"/>
                <a:cs typeface="Helvetica Neue"/>
              </a:defRPr>
            </a:lvl6pPr>
            <a:lvl7pPr>
              <a:defRPr sz="1875" b="0">
                <a:solidFill>
                  <a:srgbClr val="BABDB0"/>
                </a:solidFill>
                <a:latin typeface="Helvetica Neue"/>
                <a:ea typeface="Helvetica Neue"/>
                <a:cs typeface="Helvetica Neue"/>
              </a:defRPr>
            </a:lvl7pPr>
            <a:lvl8pPr>
              <a:defRPr sz="1875" b="0">
                <a:solidFill>
                  <a:srgbClr val="BABDB0"/>
                </a:solidFill>
                <a:latin typeface="Helvetica Neue"/>
                <a:ea typeface="Helvetica Neue"/>
                <a:cs typeface="Helvetica Neue"/>
              </a:defRPr>
            </a:lvl8pPr>
            <a:lvl9pPr>
              <a:defRPr sz="1875" b="0">
                <a:solidFill>
                  <a:srgbClr val="BABDB0"/>
                </a:solidFill>
                <a:latin typeface="Helvetica Neue"/>
                <a:ea typeface="Helvetica Neue"/>
                <a:cs typeface="Helvetica Neue"/>
              </a:defRPr>
            </a:lvl9pPr>
          </a:lstStyle>
          <a:p xmlns:a="http://schemas.openxmlformats.org/drawingml/2006/main">
            <a:pPr>
              <a:defRPr sz="1875" b="0">
                <a:solidFill>
                  <a:srgbClr val="BABDB0"/>
                </a:solidFill>
                <a:latin typeface="Helvetica Neue"/>
                <a:ea typeface="Helvetica Neue"/>
                <a:cs typeface="Helvetica Neue"/>
              </a:defRPr>
            </a:pPr>
            <a:r>
              <a:rPr sz="1875" b="0">
                <a:solidFill>
                  <a:srgbClr val="BABDB0"/>
                </a:solidFill>
                <a:latin typeface="Helvetica Neue"/>
                <a:ea typeface="Helvetica Neue"/>
                <a:cs typeface="Helvetica Neue"/>
              </a:rPr>
              <a:t>Private infrastructure. Local measurement.</a:t>
            </a:r>
          </a:p>
        </p:txBody>
      </p:sp>
      <p:sp>
        <p:nvSpPr>
          <p:cNvPr id="6" name="">
            <a:extLst xmlns:a="http://schemas.openxmlformats.org/drawingml/2006/main">
              <a:ext uri="{FF2B5EF4-FFF2-40B4-BE49-F238E27FC236}">
                <a16:creationId xmlns:a16="http://schemas.microsoft.com/office/drawing/2014/main" id="{4D54E18D-A703-4622-AB8D-C5C8DE24BD72}"/>
              </a:ext>
            </a:extLst>
          </p:cNvPr>
          <p:cNvSpPr>
            <a:spLocks xmlns:a="http://schemas.openxmlformats.org/drawingml/2006/main" noGrp="1"/>
          </p:cNvSpPr>
          <p:nvPr/>
        </p:nvSpPr>
        <p:spPr>
          <a:xfrm xmlns:a="http://schemas.openxmlformats.org/drawingml/2006/main">
            <a:off x="609600" y="6153150"/>
            <a:ext cx="742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ABDB0"/>
                </a:solidFill>
                <a:latin typeface="Helvetica Neue"/>
                <a:ea typeface="Helvetica Neue"/>
                <a:cs typeface="Helvetica Neue"/>
              </a:defRPr>
            </a:defPPr>
            <a:lvl1pPr>
              <a:defRPr sz="1275" b="0">
                <a:solidFill>
                  <a:srgbClr val="BABDB0"/>
                </a:solidFill>
                <a:latin typeface="Helvetica Neue"/>
                <a:ea typeface="Helvetica Neue"/>
                <a:cs typeface="Helvetica Neue"/>
              </a:defRPr>
            </a:lvl1pPr>
            <a:lvl2pPr>
              <a:defRPr sz="1275" b="0">
                <a:solidFill>
                  <a:srgbClr val="BABDB0"/>
                </a:solidFill>
                <a:latin typeface="Helvetica Neue"/>
                <a:ea typeface="Helvetica Neue"/>
                <a:cs typeface="Helvetica Neue"/>
              </a:defRPr>
            </a:lvl2pPr>
            <a:lvl3pPr>
              <a:defRPr sz="1275" b="0">
                <a:solidFill>
                  <a:srgbClr val="BABDB0"/>
                </a:solidFill>
                <a:latin typeface="Helvetica Neue"/>
                <a:ea typeface="Helvetica Neue"/>
                <a:cs typeface="Helvetica Neue"/>
              </a:defRPr>
            </a:lvl3pPr>
            <a:lvl4pPr>
              <a:defRPr sz="1275" b="0">
                <a:solidFill>
                  <a:srgbClr val="BABDB0"/>
                </a:solidFill>
                <a:latin typeface="Helvetica Neue"/>
                <a:ea typeface="Helvetica Neue"/>
                <a:cs typeface="Helvetica Neue"/>
              </a:defRPr>
            </a:lvl4pPr>
            <a:lvl5pPr>
              <a:defRPr sz="1275" b="0">
                <a:solidFill>
                  <a:srgbClr val="BABDB0"/>
                </a:solidFill>
                <a:latin typeface="Helvetica Neue"/>
                <a:ea typeface="Helvetica Neue"/>
                <a:cs typeface="Helvetica Neue"/>
              </a:defRPr>
            </a:lvl5pPr>
            <a:lvl6pPr>
              <a:defRPr sz="1275" b="0">
                <a:solidFill>
                  <a:srgbClr val="BABDB0"/>
                </a:solidFill>
                <a:latin typeface="Helvetica Neue"/>
                <a:ea typeface="Helvetica Neue"/>
                <a:cs typeface="Helvetica Neue"/>
              </a:defRPr>
            </a:lvl6pPr>
            <a:lvl7pPr>
              <a:defRPr sz="1275" b="0">
                <a:solidFill>
                  <a:srgbClr val="BABDB0"/>
                </a:solidFill>
                <a:latin typeface="Helvetica Neue"/>
                <a:ea typeface="Helvetica Neue"/>
                <a:cs typeface="Helvetica Neue"/>
              </a:defRPr>
            </a:lvl7pPr>
            <a:lvl8pPr>
              <a:defRPr sz="1275" b="0">
                <a:solidFill>
                  <a:srgbClr val="BABDB0"/>
                </a:solidFill>
                <a:latin typeface="Helvetica Neue"/>
                <a:ea typeface="Helvetica Neue"/>
                <a:cs typeface="Helvetica Neue"/>
              </a:defRPr>
            </a:lvl8pPr>
            <a:lvl9pPr>
              <a:defRPr sz="1275" b="0">
                <a:solidFill>
                  <a:srgbClr val="BABDB0"/>
                </a:solidFill>
                <a:latin typeface="Helvetica Neue"/>
                <a:ea typeface="Helvetica Neue"/>
                <a:cs typeface="Helvetica Neue"/>
              </a:defRPr>
            </a:lvl9pPr>
          </a:lstStyle>
          <a:p xmlns:a="http://schemas.openxmlformats.org/drawingml/2006/main">
            <a:pPr>
              <a:defRPr sz="1275" b="0">
                <a:solidFill>
                  <a:srgbClr val="BABDB0"/>
                </a:solidFill>
                <a:latin typeface="Helvetica Neue"/>
                <a:ea typeface="Helvetica Neue"/>
                <a:cs typeface="Helvetica Neue"/>
              </a:defRPr>
            </a:pPr>
            <a:r>
              <a:rPr sz="1275" b="0">
                <a:solidFill>
                  <a:srgbClr val="BABDB0"/>
                </a:solidFill>
                <a:latin typeface="Helvetica Neue"/>
                <a:ea typeface="Helvetica Neue"/>
                <a:cs typeface="Helvetica Neue"/>
              </a:rPr>
              <a:t>Proposed pilot / Measured results pending</a:t>
            </a:r>
          </a:p>
        </p:txBody>
      </p:sp>
    </p:spTree>
    <p:extLst>
      <p:ext uri="{BB962C8B-B14F-4D97-AF65-F5344CB8AC3E}">
        <p14:creationId xmlns:p14="http://schemas.microsoft.com/office/powerpoint/2010/main" val="1900596801"/>
      </p:ext>
    </p:extLst>
  </p:cSld>
</p:sld>
</file>

<file path=ppt/slides/slide2.xml><?xml version="1.0" encoding="utf-8"?>
<p:sld xmlns:p="http://schemas.openxmlformats.org/presentationml/2006/main">
  <p:cSld>
    <p:bg>
      <p:bgPr>
        <a:solidFill xmlns:a="http://schemas.openxmlformats.org/drawingml/2006/main">
          <a:srgbClr val="11121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8E58689-7376-42DA-9A13-075403E223EA}"/>
              </a:ext>
            </a:extLst>
          </p:cNvPr>
          <p:cNvSpPr>
            <a:spLocks xmlns:a="http://schemas.openxmlformats.org/drawingml/2006/main" noGrp="1"/>
          </p:cNvSpPr>
          <p:nvPr/>
        </p:nvSpPr>
        <p:spPr>
          <a:xfrm xmlns:a="http://schemas.openxmlformats.org/drawingml/2006/main">
            <a:off x="609600" y="3429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FFDB24"/>
                </a:solidFill>
                <a:latin typeface="Helvetica Neue"/>
                <a:ea typeface="Helvetica Neue"/>
                <a:cs typeface="Helvetica Neue"/>
              </a:defRPr>
            </a:defPPr>
            <a:lvl1pPr>
              <a:defRPr sz="1125" b="1">
                <a:solidFill>
                  <a:srgbClr val="FFDB24"/>
                </a:solidFill>
                <a:latin typeface="Helvetica Neue"/>
                <a:ea typeface="Helvetica Neue"/>
                <a:cs typeface="Helvetica Neue"/>
              </a:defRPr>
            </a:lvl1pPr>
            <a:lvl2pPr>
              <a:defRPr sz="1125" b="1">
                <a:solidFill>
                  <a:srgbClr val="FFDB24"/>
                </a:solidFill>
                <a:latin typeface="Helvetica Neue"/>
                <a:ea typeface="Helvetica Neue"/>
                <a:cs typeface="Helvetica Neue"/>
              </a:defRPr>
            </a:lvl2pPr>
            <a:lvl3pPr>
              <a:defRPr sz="1125" b="1">
                <a:solidFill>
                  <a:srgbClr val="FFDB24"/>
                </a:solidFill>
                <a:latin typeface="Helvetica Neue"/>
                <a:ea typeface="Helvetica Neue"/>
                <a:cs typeface="Helvetica Neue"/>
              </a:defRPr>
            </a:lvl3pPr>
            <a:lvl4pPr>
              <a:defRPr sz="1125" b="1">
                <a:solidFill>
                  <a:srgbClr val="FFDB24"/>
                </a:solidFill>
                <a:latin typeface="Helvetica Neue"/>
                <a:ea typeface="Helvetica Neue"/>
                <a:cs typeface="Helvetica Neue"/>
              </a:defRPr>
            </a:lvl4pPr>
            <a:lvl5pPr>
              <a:defRPr sz="1125" b="1">
                <a:solidFill>
                  <a:srgbClr val="FFDB24"/>
                </a:solidFill>
                <a:latin typeface="Helvetica Neue"/>
                <a:ea typeface="Helvetica Neue"/>
                <a:cs typeface="Helvetica Neue"/>
              </a:defRPr>
            </a:lvl5pPr>
            <a:lvl6pPr>
              <a:defRPr sz="1125" b="1">
                <a:solidFill>
                  <a:srgbClr val="FFDB24"/>
                </a:solidFill>
                <a:latin typeface="Helvetica Neue"/>
                <a:ea typeface="Helvetica Neue"/>
                <a:cs typeface="Helvetica Neue"/>
              </a:defRPr>
            </a:lvl6pPr>
            <a:lvl7pPr>
              <a:defRPr sz="1125" b="1">
                <a:solidFill>
                  <a:srgbClr val="FFDB24"/>
                </a:solidFill>
                <a:latin typeface="Helvetica Neue"/>
                <a:ea typeface="Helvetica Neue"/>
                <a:cs typeface="Helvetica Neue"/>
              </a:defRPr>
            </a:lvl7pPr>
            <a:lvl8pPr>
              <a:defRPr sz="1125" b="1">
                <a:solidFill>
                  <a:srgbClr val="FFDB24"/>
                </a:solidFill>
                <a:latin typeface="Helvetica Neue"/>
                <a:ea typeface="Helvetica Neue"/>
                <a:cs typeface="Helvetica Neue"/>
              </a:defRPr>
            </a:lvl8pPr>
            <a:lvl9pPr>
              <a:defRPr sz="1125" b="1">
                <a:solidFill>
                  <a:srgbClr val="FFDB24"/>
                </a:solidFill>
                <a:latin typeface="Helvetica Neue"/>
                <a:ea typeface="Helvetica Neue"/>
                <a:cs typeface="Helvetica Neue"/>
              </a:defRPr>
            </a:lvl9pPr>
          </a:lstStyle>
          <a:p xmlns:a="http://schemas.openxmlformats.org/drawingml/2006/main">
            <a:pPr>
              <a:defRPr sz="1125" b="1">
                <a:solidFill>
                  <a:srgbClr val="FFDB24"/>
                </a:solidFill>
                <a:latin typeface="Helvetica Neue"/>
                <a:ea typeface="Helvetica Neue"/>
                <a:cs typeface="Helvetica Neue"/>
              </a:defRPr>
            </a:pPr>
            <a:r>
              <a:rPr sz="1125" b="1">
                <a:solidFill>
                  <a:srgbClr val="FFDB24"/>
                </a:solidFill>
                <a:latin typeface="Helvetica Neue"/>
                <a:ea typeface="Helvetica Neue"/>
                <a:cs typeface="Helvetica Neue"/>
              </a:rPr>
              <a:t>POWER CONSTRAINT / EXTERNAL EVIDENCE</a:t>
            </a:r>
          </a:p>
        </p:txBody>
      </p:sp>
      <p:sp>
        <p:nvSpPr>
          <p:cNvPr id="2" name="">
            <a:extLst xmlns:a="http://schemas.openxmlformats.org/drawingml/2006/main">
              <a:ext uri="{FF2B5EF4-FFF2-40B4-BE49-F238E27FC236}">
                <a16:creationId xmlns:a16="http://schemas.microsoft.com/office/drawing/2014/main" id="{D022EFBB-8EB8-4F30-93F3-42C5F07F4B01}"/>
              </a:ext>
            </a:extLst>
          </p:cNvPr>
          <p:cNvSpPr>
            <a:spLocks xmlns:a="http://schemas.openxmlformats.org/drawingml/2006/main" noGrp="1"/>
          </p:cNvSpPr>
          <p:nvPr/>
        </p:nvSpPr>
        <p:spPr>
          <a:xfrm xmlns:a="http://schemas.openxmlformats.org/drawingml/2006/main">
            <a:off x="609600" y="914400"/>
            <a:ext cx="109728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F4F3EB"/>
                </a:solidFill>
                <a:latin typeface="Helvetica Neue"/>
                <a:ea typeface="Helvetica Neue"/>
                <a:cs typeface="Helvetica Neue"/>
              </a:defRPr>
            </a:defPPr>
            <a:lvl1pPr>
              <a:defRPr sz="3900" b="0">
                <a:solidFill>
                  <a:srgbClr val="F4F3EB"/>
                </a:solidFill>
                <a:latin typeface="Helvetica Neue"/>
                <a:ea typeface="Helvetica Neue"/>
                <a:cs typeface="Helvetica Neue"/>
              </a:defRPr>
            </a:lvl1pPr>
            <a:lvl2pPr>
              <a:defRPr sz="3900" b="0">
                <a:solidFill>
                  <a:srgbClr val="F4F3EB"/>
                </a:solidFill>
                <a:latin typeface="Helvetica Neue"/>
                <a:ea typeface="Helvetica Neue"/>
                <a:cs typeface="Helvetica Neue"/>
              </a:defRPr>
            </a:lvl2pPr>
            <a:lvl3pPr>
              <a:defRPr sz="3900" b="0">
                <a:solidFill>
                  <a:srgbClr val="F4F3EB"/>
                </a:solidFill>
                <a:latin typeface="Helvetica Neue"/>
                <a:ea typeface="Helvetica Neue"/>
                <a:cs typeface="Helvetica Neue"/>
              </a:defRPr>
            </a:lvl3pPr>
            <a:lvl4pPr>
              <a:defRPr sz="3900" b="0">
                <a:solidFill>
                  <a:srgbClr val="F4F3EB"/>
                </a:solidFill>
                <a:latin typeface="Helvetica Neue"/>
                <a:ea typeface="Helvetica Neue"/>
                <a:cs typeface="Helvetica Neue"/>
              </a:defRPr>
            </a:lvl4pPr>
            <a:lvl5pPr>
              <a:defRPr sz="3900" b="0">
                <a:solidFill>
                  <a:srgbClr val="F4F3EB"/>
                </a:solidFill>
                <a:latin typeface="Helvetica Neue"/>
                <a:ea typeface="Helvetica Neue"/>
                <a:cs typeface="Helvetica Neue"/>
              </a:defRPr>
            </a:lvl5pPr>
            <a:lvl6pPr>
              <a:defRPr sz="3900" b="0">
                <a:solidFill>
                  <a:srgbClr val="F4F3EB"/>
                </a:solidFill>
                <a:latin typeface="Helvetica Neue"/>
                <a:ea typeface="Helvetica Neue"/>
                <a:cs typeface="Helvetica Neue"/>
              </a:defRPr>
            </a:lvl6pPr>
            <a:lvl7pPr>
              <a:defRPr sz="3900" b="0">
                <a:solidFill>
                  <a:srgbClr val="F4F3EB"/>
                </a:solidFill>
                <a:latin typeface="Helvetica Neue"/>
                <a:ea typeface="Helvetica Neue"/>
                <a:cs typeface="Helvetica Neue"/>
              </a:defRPr>
            </a:lvl7pPr>
            <a:lvl8pPr>
              <a:defRPr sz="3900" b="0">
                <a:solidFill>
                  <a:srgbClr val="F4F3EB"/>
                </a:solidFill>
                <a:latin typeface="Helvetica Neue"/>
                <a:ea typeface="Helvetica Neue"/>
                <a:cs typeface="Helvetica Neue"/>
              </a:defRPr>
            </a:lvl8pPr>
            <a:lvl9pPr>
              <a:defRPr sz="3900" b="0">
                <a:solidFill>
                  <a:srgbClr val="F4F3EB"/>
                </a:solidFill>
                <a:latin typeface="Helvetica Neue"/>
                <a:ea typeface="Helvetica Neue"/>
                <a:cs typeface="Helvetica Neue"/>
              </a:defRPr>
            </a:lvl9pPr>
          </a:lstStyle>
          <a:p xmlns:a="http://schemas.openxmlformats.org/drawingml/2006/main">
            <a:pPr>
              <a:defRPr sz="3900" b="0">
                <a:solidFill>
                  <a:srgbClr val="F4F3EB"/>
                </a:solidFill>
                <a:latin typeface="Helvetica Neue"/>
                <a:ea typeface="Helvetica Neue"/>
                <a:cs typeface="Helvetica Neue"/>
              </a:defRPr>
            </a:pPr>
            <a:r>
              <a:rPr sz="3900" b="0">
                <a:solidFill>
                  <a:srgbClr val="F4F3EB"/>
                </a:solidFill>
                <a:latin typeface="Helvetica Neue"/>
                <a:ea typeface="Helvetica Neue"/>
                <a:cs typeface="Helvetica Neue"/>
              </a:rPr>
              <a:t>Grid expansion outlasts data-center builds</a:t>
            </a:r>
          </a:p>
        </p:txBody>
      </p:sp>
      <p:sp>
        <p:nvSpPr>
          <p:cNvPr id="3" name="">
            <a:extLst xmlns:a="http://schemas.openxmlformats.org/drawingml/2006/main">
              <a:ext uri="{FF2B5EF4-FFF2-40B4-BE49-F238E27FC236}">
                <a16:creationId xmlns:a16="http://schemas.microsoft.com/office/drawing/2014/main" id="{E6F59F95-A72A-44BC-A64E-DFF7F6B870FD}"/>
              </a:ext>
            </a:extLst>
          </p:cNvPr>
          <p:cNvSpPr>
            <a:spLocks xmlns:a="http://schemas.openxmlformats.org/drawingml/2006/main" noGrp="1"/>
          </p:cNvSpPr>
          <p:nvPr/>
        </p:nvSpPr>
        <p:spPr>
          <a:xfrm xmlns:a="http://schemas.openxmlformats.org/drawingml/2006/main">
            <a:off x="609600" y="644842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BABDB0"/>
                </a:solidFill>
                <a:latin typeface="Helvetica Neue"/>
                <a:ea typeface="Helvetica Neue"/>
                <a:cs typeface="Helvetica Neue"/>
              </a:defRPr>
            </a:defPPr>
            <a:lvl1pPr>
              <a:defRPr sz="900" b="0">
                <a:solidFill>
                  <a:srgbClr val="BABDB0"/>
                </a:solidFill>
                <a:latin typeface="Helvetica Neue"/>
                <a:ea typeface="Helvetica Neue"/>
                <a:cs typeface="Helvetica Neue"/>
              </a:defRPr>
            </a:lvl1pPr>
            <a:lvl2pPr>
              <a:defRPr sz="900" b="0">
                <a:solidFill>
                  <a:srgbClr val="BABDB0"/>
                </a:solidFill>
                <a:latin typeface="Helvetica Neue"/>
                <a:ea typeface="Helvetica Neue"/>
                <a:cs typeface="Helvetica Neue"/>
              </a:defRPr>
            </a:lvl2pPr>
            <a:lvl3pPr>
              <a:defRPr sz="900" b="0">
                <a:solidFill>
                  <a:srgbClr val="BABDB0"/>
                </a:solidFill>
                <a:latin typeface="Helvetica Neue"/>
                <a:ea typeface="Helvetica Neue"/>
                <a:cs typeface="Helvetica Neue"/>
              </a:defRPr>
            </a:lvl3pPr>
            <a:lvl4pPr>
              <a:defRPr sz="900" b="0">
                <a:solidFill>
                  <a:srgbClr val="BABDB0"/>
                </a:solidFill>
                <a:latin typeface="Helvetica Neue"/>
                <a:ea typeface="Helvetica Neue"/>
                <a:cs typeface="Helvetica Neue"/>
              </a:defRPr>
            </a:lvl4pPr>
            <a:lvl5pPr>
              <a:defRPr sz="900" b="0">
                <a:solidFill>
                  <a:srgbClr val="BABDB0"/>
                </a:solidFill>
                <a:latin typeface="Helvetica Neue"/>
                <a:ea typeface="Helvetica Neue"/>
                <a:cs typeface="Helvetica Neue"/>
              </a:defRPr>
            </a:lvl5pPr>
            <a:lvl6pPr>
              <a:defRPr sz="900" b="0">
                <a:solidFill>
                  <a:srgbClr val="BABDB0"/>
                </a:solidFill>
                <a:latin typeface="Helvetica Neue"/>
                <a:ea typeface="Helvetica Neue"/>
                <a:cs typeface="Helvetica Neue"/>
              </a:defRPr>
            </a:lvl6pPr>
            <a:lvl7pPr>
              <a:defRPr sz="900" b="0">
                <a:solidFill>
                  <a:srgbClr val="BABDB0"/>
                </a:solidFill>
                <a:latin typeface="Helvetica Neue"/>
                <a:ea typeface="Helvetica Neue"/>
                <a:cs typeface="Helvetica Neue"/>
              </a:defRPr>
            </a:lvl7pPr>
            <a:lvl8pPr>
              <a:defRPr sz="900" b="0">
                <a:solidFill>
                  <a:srgbClr val="BABDB0"/>
                </a:solidFill>
                <a:latin typeface="Helvetica Neue"/>
                <a:ea typeface="Helvetica Neue"/>
                <a:cs typeface="Helvetica Neue"/>
              </a:defRPr>
            </a:lvl8pPr>
            <a:lvl9pPr>
              <a:defRPr sz="900" b="0">
                <a:solidFill>
                  <a:srgbClr val="BABDB0"/>
                </a:solidFill>
                <a:latin typeface="Helvetica Neue"/>
                <a:ea typeface="Helvetica Neue"/>
                <a:cs typeface="Helvetica Neue"/>
              </a:defRPr>
            </a:lvl9pPr>
          </a:lstStyle>
          <a:p xmlns:a="http://schemas.openxmlformats.org/drawingml/2006/main">
            <a:pPr>
              <a:defRPr sz="900" b="0">
                <a:solidFill>
                  <a:srgbClr val="BABDB0"/>
                </a:solidFill>
                <a:latin typeface="Helvetica Neue"/>
                <a:ea typeface="Helvetica Neue"/>
                <a:cs typeface="Helvetica Neue"/>
              </a:defRPr>
            </a:pPr>
            <a:r>
              <a:rPr sz="900" b="0">
                <a:solidFill>
                  <a:srgbClr val="BABDB0"/>
                </a:solidFill>
                <a:latin typeface="Helvetica Neue"/>
                <a:ea typeface="Helvetica Neue"/>
                <a:cs typeface="Helvetica Neue"/>
              </a:rPr>
              <a:t>E FOR ENERGY</a:t>
            </a:r>
          </a:p>
        </p:txBody>
      </p:sp>
      <p:sp>
        <p:nvSpPr>
          <p:cNvPr id="4" name="">
            <a:extLst xmlns:a="http://schemas.openxmlformats.org/drawingml/2006/main">
              <a:ext uri="{FF2B5EF4-FFF2-40B4-BE49-F238E27FC236}">
                <a16:creationId xmlns:a16="http://schemas.microsoft.com/office/drawing/2014/main" id="{519FB8E7-F01A-465B-BA13-D89DC5B23C2D}"/>
              </a:ext>
            </a:extLst>
          </p:cNvPr>
          <p:cNvSpPr>
            <a:spLocks xmlns:a="http://schemas.openxmlformats.org/drawingml/2006/main" noGrp="1"/>
          </p:cNvSpPr>
          <p:nvPr/>
        </p:nvSpPr>
        <p:spPr>
          <a:xfrm xmlns:a="http://schemas.openxmlformats.org/drawingml/2006/main">
            <a:off x="11049000" y="64198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BABDB0"/>
                </a:solidFill>
                <a:latin typeface="Helvetica Neue"/>
                <a:ea typeface="Helvetica Neue"/>
                <a:cs typeface="Helvetica Neue"/>
              </a:defRPr>
            </a:defPPr>
            <a:lvl1pPr>
              <a:defRPr sz="1200" b="0">
                <a:solidFill>
                  <a:srgbClr val="BABDB0"/>
                </a:solidFill>
                <a:latin typeface="Helvetica Neue"/>
                <a:ea typeface="Helvetica Neue"/>
                <a:cs typeface="Helvetica Neue"/>
              </a:defRPr>
            </a:lvl1pPr>
            <a:lvl2pPr>
              <a:defRPr sz="1200" b="0">
                <a:solidFill>
                  <a:srgbClr val="BABDB0"/>
                </a:solidFill>
                <a:latin typeface="Helvetica Neue"/>
                <a:ea typeface="Helvetica Neue"/>
                <a:cs typeface="Helvetica Neue"/>
              </a:defRPr>
            </a:lvl2pPr>
            <a:lvl3pPr>
              <a:defRPr sz="1200" b="0">
                <a:solidFill>
                  <a:srgbClr val="BABDB0"/>
                </a:solidFill>
                <a:latin typeface="Helvetica Neue"/>
                <a:ea typeface="Helvetica Neue"/>
                <a:cs typeface="Helvetica Neue"/>
              </a:defRPr>
            </a:lvl3pPr>
            <a:lvl4pPr>
              <a:defRPr sz="1200" b="0">
                <a:solidFill>
                  <a:srgbClr val="BABDB0"/>
                </a:solidFill>
                <a:latin typeface="Helvetica Neue"/>
                <a:ea typeface="Helvetica Neue"/>
                <a:cs typeface="Helvetica Neue"/>
              </a:defRPr>
            </a:lvl4pPr>
            <a:lvl5pPr>
              <a:defRPr sz="1200" b="0">
                <a:solidFill>
                  <a:srgbClr val="BABDB0"/>
                </a:solidFill>
                <a:latin typeface="Helvetica Neue"/>
                <a:ea typeface="Helvetica Neue"/>
                <a:cs typeface="Helvetica Neue"/>
              </a:defRPr>
            </a:lvl5pPr>
            <a:lvl6pPr>
              <a:defRPr sz="1200" b="0">
                <a:solidFill>
                  <a:srgbClr val="BABDB0"/>
                </a:solidFill>
                <a:latin typeface="Helvetica Neue"/>
                <a:ea typeface="Helvetica Neue"/>
                <a:cs typeface="Helvetica Neue"/>
              </a:defRPr>
            </a:lvl6pPr>
            <a:lvl7pPr>
              <a:defRPr sz="1200" b="0">
                <a:solidFill>
                  <a:srgbClr val="BABDB0"/>
                </a:solidFill>
                <a:latin typeface="Helvetica Neue"/>
                <a:ea typeface="Helvetica Neue"/>
                <a:cs typeface="Helvetica Neue"/>
              </a:defRPr>
            </a:lvl7pPr>
            <a:lvl8pPr>
              <a:defRPr sz="1200" b="0">
                <a:solidFill>
                  <a:srgbClr val="BABDB0"/>
                </a:solidFill>
                <a:latin typeface="Helvetica Neue"/>
                <a:ea typeface="Helvetica Neue"/>
                <a:cs typeface="Helvetica Neue"/>
              </a:defRPr>
            </a:lvl8pPr>
            <a:lvl9pPr>
              <a:defRPr sz="1200" b="0">
                <a:solidFill>
                  <a:srgbClr val="BABDB0"/>
                </a:solidFill>
                <a:latin typeface="Helvetica Neue"/>
                <a:ea typeface="Helvetica Neue"/>
                <a:cs typeface="Helvetica Neue"/>
              </a:defRPr>
            </a:lvl9pPr>
          </a:lstStyle>
          <a:p xmlns:a="http://schemas.openxmlformats.org/drawingml/2006/main">
            <a:pPr>
              <a:defRPr sz="1200" b="0">
                <a:solidFill>
                  <a:srgbClr val="BABDB0"/>
                </a:solidFill>
                <a:latin typeface="Helvetica Neue"/>
                <a:ea typeface="Helvetica Neue"/>
                <a:cs typeface="Helvetica Neue"/>
              </a:defRPr>
            </a:pPr>
            <a:r>
              <a:rPr sz="1200" b="0">
                <a:solidFill>
                  <a:srgbClr val="BABDB0"/>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FFBAB05E-C9A1-4B9E-B6A9-015B7DAB71F4}"/>
              </a:ext>
            </a:extLst>
          </p:cNvPr>
          <p:cNvSpPr>
            <a:spLocks xmlns:a="http://schemas.openxmlformats.org/drawingml/2006/main" noGrp="1"/>
          </p:cNvSpPr>
          <p:nvPr/>
        </p:nvSpPr>
        <p:spPr>
          <a:xfrm xmlns:a="http://schemas.openxmlformats.org/drawingml/2006/main">
            <a:off x="609600" y="2476500"/>
            <a:ext cx="476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650" b="1">
                <a:solidFill>
                  <a:srgbClr val="FFDB24"/>
                </a:solidFill>
                <a:latin typeface="Helvetica Neue"/>
                <a:ea typeface="Helvetica Neue"/>
                <a:cs typeface="Helvetica Neue"/>
              </a:defRPr>
            </a:defPPr>
            <a:lvl1pPr>
              <a:defRPr sz="4650" b="1">
                <a:solidFill>
                  <a:srgbClr val="FFDB24"/>
                </a:solidFill>
                <a:latin typeface="Helvetica Neue"/>
                <a:ea typeface="Helvetica Neue"/>
                <a:cs typeface="Helvetica Neue"/>
              </a:defRPr>
            </a:lvl1pPr>
            <a:lvl2pPr>
              <a:defRPr sz="4650" b="1">
                <a:solidFill>
                  <a:srgbClr val="FFDB24"/>
                </a:solidFill>
                <a:latin typeface="Helvetica Neue"/>
                <a:ea typeface="Helvetica Neue"/>
                <a:cs typeface="Helvetica Neue"/>
              </a:defRPr>
            </a:lvl2pPr>
            <a:lvl3pPr>
              <a:defRPr sz="4650" b="1">
                <a:solidFill>
                  <a:srgbClr val="FFDB24"/>
                </a:solidFill>
                <a:latin typeface="Helvetica Neue"/>
                <a:ea typeface="Helvetica Neue"/>
                <a:cs typeface="Helvetica Neue"/>
              </a:defRPr>
            </a:lvl3pPr>
            <a:lvl4pPr>
              <a:defRPr sz="4650" b="1">
                <a:solidFill>
                  <a:srgbClr val="FFDB24"/>
                </a:solidFill>
                <a:latin typeface="Helvetica Neue"/>
                <a:ea typeface="Helvetica Neue"/>
                <a:cs typeface="Helvetica Neue"/>
              </a:defRPr>
            </a:lvl4pPr>
            <a:lvl5pPr>
              <a:defRPr sz="4650" b="1">
                <a:solidFill>
                  <a:srgbClr val="FFDB24"/>
                </a:solidFill>
                <a:latin typeface="Helvetica Neue"/>
                <a:ea typeface="Helvetica Neue"/>
                <a:cs typeface="Helvetica Neue"/>
              </a:defRPr>
            </a:lvl5pPr>
            <a:lvl6pPr>
              <a:defRPr sz="4650" b="1">
                <a:solidFill>
                  <a:srgbClr val="FFDB24"/>
                </a:solidFill>
                <a:latin typeface="Helvetica Neue"/>
                <a:ea typeface="Helvetica Neue"/>
                <a:cs typeface="Helvetica Neue"/>
              </a:defRPr>
            </a:lvl6pPr>
            <a:lvl7pPr>
              <a:defRPr sz="4650" b="1">
                <a:solidFill>
                  <a:srgbClr val="FFDB24"/>
                </a:solidFill>
                <a:latin typeface="Helvetica Neue"/>
                <a:ea typeface="Helvetica Neue"/>
                <a:cs typeface="Helvetica Neue"/>
              </a:defRPr>
            </a:lvl7pPr>
            <a:lvl8pPr>
              <a:defRPr sz="4650" b="1">
                <a:solidFill>
                  <a:srgbClr val="FFDB24"/>
                </a:solidFill>
                <a:latin typeface="Helvetica Neue"/>
                <a:ea typeface="Helvetica Neue"/>
                <a:cs typeface="Helvetica Neue"/>
              </a:defRPr>
            </a:lvl8pPr>
            <a:lvl9pPr>
              <a:defRPr sz="4650" b="1">
                <a:solidFill>
                  <a:srgbClr val="FFDB24"/>
                </a:solidFill>
                <a:latin typeface="Helvetica Neue"/>
                <a:ea typeface="Helvetica Neue"/>
                <a:cs typeface="Helvetica Neue"/>
              </a:defRPr>
            </a:lvl9pPr>
          </a:lstStyle>
          <a:p xmlns:a="http://schemas.openxmlformats.org/drawingml/2006/main">
            <a:pPr>
              <a:defRPr sz="4650" b="1">
                <a:solidFill>
                  <a:srgbClr val="FFDB24"/>
                </a:solidFill>
                <a:latin typeface="Helvetica Neue"/>
                <a:ea typeface="Helvetica Neue"/>
                <a:cs typeface="Helvetica Neue"/>
              </a:defRPr>
            </a:pPr>
            <a:r>
              <a:rPr sz="4650" b="1">
                <a:solidFill>
                  <a:srgbClr val="FFDB24"/>
                </a:solidFill>
                <a:latin typeface="Helvetica Neue"/>
                <a:ea typeface="Helvetica Neue"/>
                <a:cs typeface="Helvetica Neue"/>
              </a:rPr>
              <a:t>5–15 years</a:t>
            </a:r>
          </a:p>
        </p:txBody>
      </p:sp>
      <p:sp>
        <p:nvSpPr>
          <p:cNvPr id="6" name="">
            <a:extLst xmlns:a="http://schemas.openxmlformats.org/drawingml/2006/main">
              <a:ext uri="{FF2B5EF4-FFF2-40B4-BE49-F238E27FC236}">
                <a16:creationId xmlns:a16="http://schemas.microsoft.com/office/drawing/2014/main" id="{03C87848-A780-4380-856D-CBA7D6C09BB3}"/>
              </a:ext>
            </a:extLst>
          </p:cNvPr>
          <p:cNvSpPr>
            <a:spLocks xmlns:a="http://schemas.openxmlformats.org/drawingml/2006/main" noGrp="1"/>
          </p:cNvSpPr>
          <p:nvPr/>
        </p:nvSpPr>
        <p:spPr>
          <a:xfrm xmlns:a="http://schemas.openxmlformats.org/drawingml/2006/main">
            <a:off x="609600" y="325755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F4F3EB"/>
                </a:solidFill>
                <a:latin typeface="Helvetica Neue"/>
                <a:ea typeface="Helvetica Neue"/>
                <a:cs typeface="Helvetica Neue"/>
              </a:defRPr>
            </a:defPPr>
            <a:lvl1pPr>
              <a:defRPr sz="1800" b="0">
                <a:solidFill>
                  <a:srgbClr val="F4F3EB"/>
                </a:solidFill>
                <a:latin typeface="Helvetica Neue"/>
                <a:ea typeface="Helvetica Neue"/>
                <a:cs typeface="Helvetica Neue"/>
              </a:defRPr>
            </a:lvl1pPr>
            <a:lvl2pPr>
              <a:defRPr sz="1800" b="0">
                <a:solidFill>
                  <a:srgbClr val="F4F3EB"/>
                </a:solidFill>
                <a:latin typeface="Helvetica Neue"/>
                <a:ea typeface="Helvetica Neue"/>
                <a:cs typeface="Helvetica Neue"/>
              </a:defRPr>
            </a:lvl2pPr>
            <a:lvl3pPr>
              <a:defRPr sz="1800" b="0">
                <a:solidFill>
                  <a:srgbClr val="F4F3EB"/>
                </a:solidFill>
                <a:latin typeface="Helvetica Neue"/>
                <a:ea typeface="Helvetica Neue"/>
                <a:cs typeface="Helvetica Neue"/>
              </a:defRPr>
            </a:lvl3pPr>
            <a:lvl4pPr>
              <a:defRPr sz="1800" b="0">
                <a:solidFill>
                  <a:srgbClr val="F4F3EB"/>
                </a:solidFill>
                <a:latin typeface="Helvetica Neue"/>
                <a:ea typeface="Helvetica Neue"/>
                <a:cs typeface="Helvetica Neue"/>
              </a:defRPr>
            </a:lvl4pPr>
            <a:lvl5pPr>
              <a:defRPr sz="1800" b="0">
                <a:solidFill>
                  <a:srgbClr val="F4F3EB"/>
                </a:solidFill>
                <a:latin typeface="Helvetica Neue"/>
                <a:ea typeface="Helvetica Neue"/>
                <a:cs typeface="Helvetica Neue"/>
              </a:defRPr>
            </a:lvl5pPr>
            <a:lvl6pPr>
              <a:defRPr sz="1800" b="0">
                <a:solidFill>
                  <a:srgbClr val="F4F3EB"/>
                </a:solidFill>
                <a:latin typeface="Helvetica Neue"/>
                <a:ea typeface="Helvetica Neue"/>
                <a:cs typeface="Helvetica Neue"/>
              </a:defRPr>
            </a:lvl6pPr>
            <a:lvl7pPr>
              <a:defRPr sz="1800" b="0">
                <a:solidFill>
                  <a:srgbClr val="F4F3EB"/>
                </a:solidFill>
                <a:latin typeface="Helvetica Neue"/>
                <a:ea typeface="Helvetica Neue"/>
                <a:cs typeface="Helvetica Neue"/>
              </a:defRPr>
            </a:lvl7pPr>
            <a:lvl8pPr>
              <a:defRPr sz="1800" b="0">
                <a:solidFill>
                  <a:srgbClr val="F4F3EB"/>
                </a:solidFill>
                <a:latin typeface="Helvetica Neue"/>
                <a:ea typeface="Helvetica Neue"/>
                <a:cs typeface="Helvetica Neue"/>
              </a:defRPr>
            </a:lvl8pPr>
            <a:lvl9pPr>
              <a:defRPr sz="1800" b="0">
                <a:solidFill>
                  <a:srgbClr val="F4F3EB"/>
                </a:solidFill>
                <a:latin typeface="Helvetica Neue"/>
                <a:ea typeface="Helvetica Neue"/>
                <a:cs typeface="Helvetica Neue"/>
              </a:defRPr>
            </a:lvl9pPr>
          </a:lstStyle>
          <a:p xmlns:a="http://schemas.openxmlformats.org/drawingml/2006/main">
            <a:pPr>
              <a:defRPr sz="1800" b="0">
                <a:solidFill>
                  <a:srgbClr val="F4F3EB"/>
                </a:solidFill>
                <a:latin typeface="Helvetica Neue"/>
                <a:ea typeface="Helvetica Neue"/>
                <a:cs typeface="Helvetica Neue"/>
              </a:defRPr>
            </a:pPr>
            <a:r>
              <a:rPr sz="1800" b="0">
                <a:solidFill>
                  <a:srgbClr val="F4F3EB"/>
                </a:solidFill>
                <a:latin typeface="Helvetica Neue"/>
                <a:ea typeface="Helvetica Neue"/>
                <a:cs typeface="Helvetica Neue"/>
              </a:rPr>
              <a:t>Grid planning, permitting and construction</a:t>
            </a:r>
          </a:p>
        </p:txBody>
      </p:sp>
      <p:sp>
        <p:nvSpPr>
          <p:cNvPr id="7" name="">
            <a:extLst xmlns:a="http://schemas.openxmlformats.org/drawingml/2006/main">
              <a:ext uri="{FF2B5EF4-FFF2-40B4-BE49-F238E27FC236}">
                <a16:creationId xmlns:a16="http://schemas.microsoft.com/office/drawing/2014/main" id="{A690E634-702E-46EE-AA2F-75009D4F7B27}"/>
              </a:ext>
            </a:extLst>
          </p:cNvPr>
          <p:cNvSpPr>
            <a:spLocks xmlns:a="http://schemas.openxmlformats.org/drawingml/2006/main" noGrp="1"/>
          </p:cNvSpPr>
          <p:nvPr/>
        </p:nvSpPr>
        <p:spPr>
          <a:xfrm xmlns:a="http://schemas.openxmlformats.org/drawingml/2006/main">
            <a:off x="6419850" y="2476500"/>
            <a:ext cx="476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650" b="1">
                <a:solidFill>
                  <a:srgbClr val="EE6758"/>
                </a:solidFill>
                <a:latin typeface="Helvetica Neue"/>
                <a:ea typeface="Helvetica Neue"/>
                <a:cs typeface="Helvetica Neue"/>
              </a:defRPr>
            </a:defPPr>
            <a:lvl1pPr>
              <a:defRPr sz="4650" b="1">
                <a:solidFill>
                  <a:srgbClr val="EE6758"/>
                </a:solidFill>
                <a:latin typeface="Helvetica Neue"/>
                <a:ea typeface="Helvetica Neue"/>
                <a:cs typeface="Helvetica Neue"/>
              </a:defRPr>
            </a:lvl1pPr>
            <a:lvl2pPr>
              <a:defRPr sz="4650" b="1">
                <a:solidFill>
                  <a:srgbClr val="EE6758"/>
                </a:solidFill>
                <a:latin typeface="Helvetica Neue"/>
                <a:ea typeface="Helvetica Neue"/>
                <a:cs typeface="Helvetica Neue"/>
              </a:defRPr>
            </a:lvl2pPr>
            <a:lvl3pPr>
              <a:defRPr sz="4650" b="1">
                <a:solidFill>
                  <a:srgbClr val="EE6758"/>
                </a:solidFill>
                <a:latin typeface="Helvetica Neue"/>
                <a:ea typeface="Helvetica Neue"/>
                <a:cs typeface="Helvetica Neue"/>
              </a:defRPr>
            </a:lvl3pPr>
            <a:lvl4pPr>
              <a:defRPr sz="4650" b="1">
                <a:solidFill>
                  <a:srgbClr val="EE6758"/>
                </a:solidFill>
                <a:latin typeface="Helvetica Neue"/>
                <a:ea typeface="Helvetica Neue"/>
                <a:cs typeface="Helvetica Neue"/>
              </a:defRPr>
            </a:lvl4pPr>
            <a:lvl5pPr>
              <a:defRPr sz="4650" b="1">
                <a:solidFill>
                  <a:srgbClr val="EE6758"/>
                </a:solidFill>
                <a:latin typeface="Helvetica Neue"/>
                <a:ea typeface="Helvetica Neue"/>
                <a:cs typeface="Helvetica Neue"/>
              </a:defRPr>
            </a:lvl5pPr>
            <a:lvl6pPr>
              <a:defRPr sz="4650" b="1">
                <a:solidFill>
                  <a:srgbClr val="EE6758"/>
                </a:solidFill>
                <a:latin typeface="Helvetica Neue"/>
                <a:ea typeface="Helvetica Neue"/>
                <a:cs typeface="Helvetica Neue"/>
              </a:defRPr>
            </a:lvl6pPr>
            <a:lvl7pPr>
              <a:defRPr sz="4650" b="1">
                <a:solidFill>
                  <a:srgbClr val="EE6758"/>
                </a:solidFill>
                <a:latin typeface="Helvetica Neue"/>
                <a:ea typeface="Helvetica Neue"/>
                <a:cs typeface="Helvetica Neue"/>
              </a:defRPr>
            </a:lvl7pPr>
            <a:lvl8pPr>
              <a:defRPr sz="4650" b="1">
                <a:solidFill>
                  <a:srgbClr val="EE6758"/>
                </a:solidFill>
                <a:latin typeface="Helvetica Neue"/>
                <a:ea typeface="Helvetica Neue"/>
                <a:cs typeface="Helvetica Neue"/>
              </a:defRPr>
            </a:lvl8pPr>
            <a:lvl9pPr>
              <a:defRPr sz="4650" b="1">
                <a:solidFill>
                  <a:srgbClr val="EE6758"/>
                </a:solidFill>
                <a:latin typeface="Helvetica Neue"/>
                <a:ea typeface="Helvetica Neue"/>
                <a:cs typeface="Helvetica Neue"/>
              </a:defRPr>
            </a:lvl9pPr>
          </a:lstStyle>
          <a:p xmlns:a="http://schemas.openxmlformats.org/drawingml/2006/main">
            <a:pPr>
              <a:defRPr sz="4650" b="1">
                <a:solidFill>
                  <a:srgbClr val="EE6758"/>
                </a:solidFill>
                <a:latin typeface="Helvetica Neue"/>
                <a:ea typeface="Helvetica Neue"/>
                <a:cs typeface="Helvetica Neue"/>
              </a:defRPr>
            </a:pPr>
            <a:r>
              <a:rPr sz="4650" b="1">
                <a:solidFill>
                  <a:srgbClr val="EE6758"/>
                </a:solidFill>
                <a:latin typeface="Helvetica Neue"/>
                <a:ea typeface="Helvetica Neue"/>
                <a:cs typeface="Helvetica Neue"/>
              </a:rPr>
              <a:t>1–3 years</a:t>
            </a:r>
          </a:p>
        </p:txBody>
      </p:sp>
      <p:sp>
        <p:nvSpPr>
          <p:cNvPr id="8" name="">
            <a:extLst xmlns:a="http://schemas.openxmlformats.org/drawingml/2006/main">
              <a:ext uri="{FF2B5EF4-FFF2-40B4-BE49-F238E27FC236}">
                <a16:creationId xmlns:a16="http://schemas.microsoft.com/office/drawing/2014/main" id="{DCC539E0-7B6C-4C64-8867-FDE5A4AFC57B}"/>
              </a:ext>
            </a:extLst>
          </p:cNvPr>
          <p:cNvSpPr>
            <a:spLocks xmlns:a="http://schemas.openxmlformats.org/drawingml/2006/main" noGrp="1"/>
          </p:cNvSpPr>
          <p:nvPr/>
        </p:nvSpPr>
        <p:spPr>
          <a:xfrm xmlns:a="http://schemas.openxmlformats.org/drawingml/2006/main">
            <a:off x="6419850" y="325755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F4F3EB"/>
                </a:solidFill>
                <a:latin typeface="Helvetica Neue"/>
                <a:ea typeface="Helvetica Neue"/>
                <a:cs typeface="Helvetica Neue"/>
              </a:defRPr>
            </a:defPPr>
            <a:lvl1pPr>
              <a:defRPr sz="1800" b="0">
                <a:solidFill>
                  <a:srgbClr val="F4F3EB"/>
                </a:solidFill>
                <a:latin typeface="Helvetica Neue"/>
                <a:ea typeface="Helvetica Neue"/>
                <a:cs typeface="Helvetica Neue"/>
              </a:defRPr>
            </a:lvl1pPr>
            <a:lvl2pPr>
              <a:defRPr sz="1800" b="0">
                <a:solidFill>
                  <a:srgbClr val="F4F3EB"/>
                </a:solidFill>
                <a:latin typeface="Helvetica Neue"/>
                <a:ea typeface="Helvetica Neue"/>
                <a:cs typeface="Helvetica Neue"/>
              </a:defRPr>
            </a:lvl2pPr>
            <a:lvl3pPr>
              <a:defRPr sz="1800" b="0">
                <a:solidFill>
                  <a:srgbClr val="F4F3EB"/>
                </a:solidFill>
                <a:latin typeface="Helvetica Neue"/>
                <a:ea typeface="Helvetica Neue"/>
                <a:cs typeface="Helvetica Neue"/>
              </a:defRPr>
            </a:lvl3pPr>
            <a:lvl4pPr>
              <a:defRPr sz="1800" b="0">
                <a:solidFill>
                  <a:srgbClr val="F4F3EB"/>
                </a:solidFill>
                <a:latin typeface="Helvetica Neue"/>
                <a:ea typeface="Helvetica Neue"/>
                <a:cs typeface="Helvetica Neue"/>
              </a:defRPr>
            </a:lvl4pPr>
            <a:lvl5pPr>
              <a:defRPr sz="1800" b="0">
                <a:solidFill>
                  <a:srgbClr val="F4F3EB"/>
                </a:solidFill>
                <a:latin typeface="Helvetica Neue"/>
                <a:ea typeface="Helvetica Neue"/>
                <a:cs typeface="Helvetica Neue"/>
              </a:defRPr>
            </a:lvl5pPr>
            <a:lvl6pPr>
              <a:defRPr sz="1800" b="0">
                <a:solidFill>
                  <a:srgbClr val="F4F3EB"/>
                </a:solidFill>
                <a:latin typeface="Helvetica Neue"/>
                <a:ea typeface="Helvetica Neue"/>
                <a:cs typeface="Helvetica Neue"/>
              </a:defRPr>
            </a:lvl6pPr>
            <a:lvl7pPr>
              <a:defRPr sz="1800" b="0">
                <a:solidFill>
                  <a:srgbClr val="F4F3EB"/>
                </a:solidFill>
                <a:latin typeface="Helvetica Neue"/>
                <a:ea typeface="Helvetica Neue"/>
                <a:cs typeface="Helvetica Neue"/>
              </a:defRPr>
            </a:lvl7pPr>
            <a:lvl8pPr>
              <a:defRPr sz="1800" b="0">
                <a:solidFill>
                  <a:srgbClr val="F4F3EB"/>
                </a:solidFill>
                <a:latin typeface="Helvetica Neue"/>
                <a:ea typeface="Helvetica Neue"/>
                <a:cs typeface="Helvetica Neue"/>
              </a:defRPr>
            </a:lvl8pPr>
            <a:lvl9pPr>
              <a:defRPr sz="1800" b="0">
                <a:solidFill>
                  <a:srgbClr val="F4F3EB"/>
                </a:solidFill>
                <a:latin typeface="Helvetica Neue"/>
                <a:ea typeface="Helvetica Neue"/>
                <a:cs typeface="Helvetica Neue"/>
              </a:defRPr>
            </a:lvl9pPr>
          </a:lstStyle>
          <a:p xmlns:a="http://schemas.openxmlformats.org/drawingml/2006/main">
            <a:pPr>
              <a:defRPr sz="1800" b="0">
                <a:solidFill>
                  <a:srgbClr val="F4F3EB"/>
                </a:solidFill>
                <a:latin typeface="Helvetica Neue"/>
                <a:ea typeface="Helvetica Neue"/>
                <a:cs typeface="Helvetica Neue"/>
              </a:defRPr>
            </a:pPr>
            <a:r>
              <a:rPr sz="1800" b="0">
                <a:solidFill>
                  <a:srgbClr val="F4F3EB"/>
                </a:solidFill>
                <a:latin typeface="Helvetica Neue"/>
                <a:ea typeface="Helvetica Neue"/>
                <a:cs typeface="Helvetica Neue"/>
              </a:rPr>
              <a:t>Typical data-center build timeline</a:t>
            </a:r>
          </a:p>
        </p:txBody>
      </p:sp>
      <p:sp>
        <p:nvSpPr>
          <p:cNvPr id="9" name="">
            <a:extLst xmlns:a="http://schemas.openxmlformats.org/drawingml/2006/main">
              <a:ext uri="{FF2B5EF4-FFF2-40B4-BE49-F238E27FC236}">
                <a16:creationId xmlns:a16="http://schemas.microsoft.com/office/drawing/2014/main" id="{90C16870-82C3-401F-9998-0E1EB113B677}"/>
              </a:ext>
            </a:extLst>
          </p:cNvPr>
          <p:cNvSpPr>
            <a:spLocks xmlns:a="http://schemas.openxmlformats.org/drawingml/2006/main" noGrp="1"/>
          </p:cNvSpPr>
          <p:nvPr/>
        </p:nvSpPr>
        <p:spPr>
          <a:xfrm xmlns:a="http://schemas.openxmlformats.org/drawingml/2006/main">
            <a:off x="609600" y="41624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4F3EB"/>
                </a:solidFill>
                <a:latin typeface="Helvetica Neue"/>
                <a:ea typeface="Helvetica Neue"/>
                <a:cs typeface="Helvetica Neue"/>
              </a:defRPr>
            </a:defPPr>
            <a:lvl1pPr>
              <a:defRPr sz="2175" b="0">
                <a:solidFill>
                  <a:srgbClr val="F4F3EB"/>
                </a:solidFill>
                <a:latin typeface="Helvetica Neue"/>
                <a:ea typeface="Helvetica Neue"/>
                <a:cs typeface="Helvetica Neue"/>
              </a:defRPr>
            </a:lvl1pPr>
            <a:lvl2pPr>
              <a:defRPr sz="2175" b="0">
                <a:solidFill>
                  <a:srgbClr val="F4F3EB"/>
                </a:solidFill>
                <a:latin typeface="Helvetica Neue"/>
                <a:ea typeface="Helvetica Neue"/>
                <a:cs typeface="Helvetica Neue"/>
              </a:defRPr>
            </a:lvl2pPr>
            <a:lvl3pPr>
              <a:defRPr sz="2175" b="0">
                <a:solidFill>
                  <a:srgbClr val="F4F3EB"/>
                </a:solidFill>
                <a:latin typeface="Helvetica Neue"/>
                <a:ea typeface="Helvetica Neue"/>
                <a:cs typeface="Helvetica Neue"/>
              </a:defRPr>
            </a:lvl3pPr>
            <a:lvl4pPr>
              <a:defRPr sz="2175" b="0">
                <a:solidFill>
                  <a:srgbClr val="F4F3EB"/>
                </a:solidFill>
                <a:latin typeface="Helvetica Neue"/>
                <a:ea typeface="Helvetica Neue"/>
                <a:cs typeface="Helvetica Neue"/>
              </a:defRPr>
            </a:lvl4pPr>
            <a:lvl5pPr>
              <a:defRPr sz="2175" b="0">
                <a:solidFill>
                  <a:srgbClr val="F4F3EB"/>
                </a:solidFill>
                <a:latin typeface="Helvetica Neue"/>
                <a:ea typeface="Helvetica Neue"/>
                <a:cs typeface="Helvetica Neue"/>
              </a:defRPr>
            </a:lvl5pPr>
            <a:lvl6pPr>
              <a:defRPr sz="2175" b="0">
                <a:solidFill>
                  <a:srgbClr val="F4F3EB"/>
                </a:solidFill>
                <a:latin typeface="Helvetica Neue"/>
                <a:ea typeface="Helvetica Neue"/>
                <a:cs typeface="Helvetica Neue"/>
              </a:defRPr>
            </a:lvl6pPr>
            <a:lvl7pPr>
              <a:defRPr sz="2175" b="0">
                <a:solidFill>
                  <a:srgbClr val="F4F3EB"/>
                </a:solidFill>
                <a:latin typeface="Helvetica Neue"/>
                <a:ea typeface="Helvetica Neue"/>
                <a:cs typeface="Helvetica Neue"/>
              </a:defRPr>
            </a:lvl7pPr>
            <a:lvl8pPr>
              <a:defRPr sz="2175" b="0">
                <a:solidFill>
                  <a:srgbClr val="F4F3EB"/>
                </a:solidFill>
                <a:latin typeface="Helvetica Neue"/>
                <a:ea typeface="Helvetica Neue"/>
                <a:cs typeface="Helvetica Neue"/>
              </a:defRPr>
            </a:lvl8pPr>
            <a:lvl9pPr>
              <a:defRPr sz="2175" b="0">
                <a:solidFill>
                  <a:srgbClr val="F4F3EB"/>
                </a:solidFill>
                <a:latin typeface="Helvetica Neue"/>
                <a:ea typeface="Helvetica Neue"/>
                <a:cs typeface="Helvetica Neue"/>
              </a:defRPr>
            </a:lvl9pPr>
          </a:lstStyle>
          <a:p xmlns:a="http://schemas.openxmlformats.org/drawingml/2006/main">
            <a:pPr>
              <a:defRPr sz="2175" b="0">
                <a:solidFill>
                  <a:srgbClr val="F4F3EB"/>
                </a:solidFill>
                <a:latin typeface="Helvetica Neue"/>
                <a:ea typeface="Helvetica Neue"/>
                <a:cs typeface="Helvetica Neue"/>
              </a:defRPr>
            </a:pPr>
            <a:r>
              <a:rPr sz="2175" b="0">
                <a:solidFill>
                  <a:srgbClr val="F4F3EB"/>
                </a:solidFill>
                <a:latin typeface="Helvetica Neue"/>
                <a:ea typeface="Helvetica Neue"/>
                <a:cs typeface="Helvetica Neue"/>
              </a:rPr>
              <a:t>Operators also flag power availability, cost and capacity forecasting as material concerns.</a:t>
            </a:r>
          </a:p>
        </p:txBody>
      </p:sp>
      <p:sp>
        <p:nvSpPr>
          <p:cNvPr id="10" name="">
            <a:extLst xmlns:a="http://schemas.openxmlformats.org/drawingml/2006/main">
              <a:ext uri="{FF2B5EF4-FFF2-40B4-BE49-F238E27FC236}">
                <a16:creationId xmlns:a16="http://schemas.microsoft.com/office/drawing/2014/main" id="{B61C1D18-BA25-4040-B185-CC3FAEF3E48C}"/>
              </a:ext>
            </a:extLst>
          </p:cNvPr>
          <p:cNvSpPr>
            <a:spLocks xmlns:a="http://schemas.openxmlformats.org/drawingml/2006/main" noGrp="1"/>
          </p:cNvSpPr>
          <p:nvPr/>
        </p:nvSpPr>
        <p:spPr>
          <a:xfrm xmlns:a="http://schemas.openxmlformats.org/drawingml/2006/main">
            <a:off x="609600" y="4953000"/>
            <a:ext cx="10715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4F3EB"/>
                </a:solidFill>
                <a:latin typeface="Helvetica Neue"/>
                <a:ea typeface="Helvetica Neue"/>
                <a:cs typeface="Helvetica Neue"/>
              </a:defRPr>
            </a:defPPr>
            <a:lvl1pPr>
              <a:defRPr sz="1875" b="1">
                <a:solidFill>
                  <a:srgbClr val="F4F3EB"/>
                </a:solidFill>
                <a:latin typeface="Helvetica Neue"/>
                <a:ea typeface="Helvetica Neue"/>
                <a:cs typeface="Helvetica Neue"/>
              </a:defRPr>
            </a:lvl1pPr>
            <a:lvl2pPr>
              <a:defRPr sz="1875" b="1">
                <a:solidFill>
                  <a:srgbClr val="F4F3EB"/>
                </a:solidFill>
                <a:latin typeface="Helvetica Neue"/>
                <a:ea typeface="Helvetica Neue"/>
                <a:cs typeface="Helvetica Neue"/>
              </a:defRPr>
            </a:lvl2pPr>
            <a:lvl3pPr>
              <a:defRPr sz="1875" b="1">
                <a:solidFill>
                  <a:srgbClr val="F4F3EB"/>
                </a:solidFill>
                <a:latin typeface="Helvetica Neue"/>
                <a:ea typeface="Helvetica Neue"/>
                <a:cs typeface="Helvetica Neue"/>
              </a:defRPr>
            </a:lvl3pPr>
            <a:lvl4pPr>
              <a:defRPr sz="1875" b="1">
                <a:solidFill>
                  <a:srgbClr val="F4F3EB"/>
                </a:solidFill>
                <a:latin typeface="Helvetica Neue"/>
                <a:ea typeface="Helvetica Neue"/>
                <a:cs typeface="Helvetica Neue"/>
              </a:defRPr>
            </a:lvl4pPr>
            <a:lvl5pPr>
              <a:defRPr sz="1875" b="1">
                <a:solidFill>
                  <a:srgbClr val="F4F3EB"/>
                </a:solidFill>
                <a:latin typeface="Helvetica Neue"/>
                <a:ea typeface="Helvetica Neue"/>
                <a:cs typeface="Helvetica Neue"/>
              </a:defRPr>
            </a:lvl5pPr>
            <a:lvl6pPr>
              <a:defRPr sz="1875" b="1">
                <a:solidFill>
                  <a:srgbClr val="F4F3EB"/>
                </a:solidFill>
                <a:latin typeface="Helvetica Neue"/>
                <a:ea typeface="Helvetica Neue"/>
                <a:cs typeface="Helvetica Neue"/>
              </a:defRPr>
            </a:lvl6pPr>
            <a:lvl7pPr>
              <a:defRPr sz="1875" b="1">
                <a:solidFill>
                  <a:srgbClr val="F4F3EB"/>
                </a:solidFill>
                <a:latin typeface="Helvetica Neue"/>
                <a:ea typeface="Helvetica Neue"/>
                <a:cs typeface="Helvetica Neue"/>
              </a:defRPr>
            </a:lvl7pPr>
            <a:lvl8pPr>
              <a:defRPr sz="1875" b="1">
                <a:solidFill>
                  <a:srgbClr val="F4F3EB"/>
                </a:solidFill>
                <a:latin typeface="Helvetica Neue"/>
                <a:ea typeface="Helvetica Neue"/>
                <a:cs typeface="Helvetica Neue"/>
              </a:defRPr>
            </a:lvl8pPr>
            <a:lvl9pPr>
              <a:defRPr sz="1875" b="1">
                <a:solidFill>
                  <a:srgbClr val="F4F3EB"/>
                </a:solidFill>
                <a:latin typeface="Helvetica Neue"/>
                <a:ea typeface="Helvetica Neue"/>
                <a:cs typeface="Helvetica Neue"/>
              </a:defRPr>
            </a:lvl9pPr>
          </a:lstStyle>
          <a:p xmlns:a="http://schemas.openxmlformats.org/drawingml/2006/main">
            <a:pPr>
              <a:defRPr sz="1875" b="1">
                <a:solidFill>
                  <a:srgbClr val="F4F3EB"/>
                </a:solidFill>
                <a:latin typeface="Helvetica Neue"/>
                <a:ea typeface="Helvetica Neue"/>
                <a:cs typeface="Helvetica Neue"/>
              </a:defRPr>
            </a:pPr>
            <a:r>
              <a:rPr sz="1875" b="1">
                <a:solidFill>
                  <a:srgbClr val="F4F3EB"/>
                </a:solidFill>
                <a:latin typeface="Helvetica Neue"/>
                <a:ea typeface="Helvetica Neue"/>
                <a:cs typeface="Helvetica Neue"/>
              </a:rPr>
              <a:t>36% very concerned about availability     38% about cost     36% about capacity forecasting</a:t>
            </a:r>
          </a:p>
        </p:txBody>
      </p:sp>
      <p:sp>
        <p:nvSpPr>
          <p:cNvPr id="11" name="">
            <a:extLst xmlns:a="http://schemas.openxmlformats.org/drawingml/2006/main">
              <a:ext uri="{FF2B5EF4-FFF2-40B4-BE49-F238E27FC236}">
                <a16:creationId xmlns:a16="http://schemas.microsoft.com/office/drawing/2014/main" id="{8997826A-40AB-40AE-831F-34520DC688AC}"/>
              </a:ext>
            </a:extLst>
          </p:cNvPr>
          <p:cNvSpPr>
            <a:spLocks xmlns:a="http://schemas.openxmlformats.org/drawingml/2006/main" noGrp="1"/>
          </p:cNvSpPr>
          <p:nvPr/>
        </p:nvSpPr>
        <p:spPr>
          <a:xfrm xmlns:a="http://schemas.openxmlformats.org/drawingml/2006/main">
            <a:off x="609600" y="5943600"/>
            <a:ext cx="1093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ABDB0"/>
                </a:solidFill>
                <a:latin typeface="Helvetica Neue"/>
                <a:ea typeface="Helvetica Neue"/>
                <a:cs typeface="Helvetica Neue"/>
              </a:defRPr>
            </a:defPPr>
            <a:lvl1pPr>
              <a:defRPr sz="1275" b="0">
                <a:solidFill>
                  <a:srgbClr val="BABDB0"/>
                </a:solidFill>
                <a:latin typeface="Helvetica Neue"/>
                <a:ea typeface="Helvetica Neue"/>
                <a:cs typeface="Helvetica Neue"/>
              </a:defRPr>
            </a:lvl1pPr>
            <a:lvl2pPr>
              <a:defRPr sz="1275" b="0">
                <a:solidFill>
                  <a:srgbClr val="BABDB0"/>
                </a:solidFill>
                <a:latin typeface="Helvetica Neue"/>
                <a:ea typeface="Helvetica Neue"/>
                <a:cs typeface="Helvetica Neue"/>
              </a:defRPr>
            </a:lvl2pPr>
            <a:lvl3pPr>
              <a:defRPr sz="1275" b="0">
                <a:solidFill>
                  <a:srgbClr val="BABDB0"/>
                </a:solidFill>
                <a:latin typeface="Helvetica Neue"/>
                <a:ea typeface="Helvetica Neue"/>
                <a:cs typeface="Helvetica Neue"/>
              </a:defRPr>
            </a:lvl3pPr>
            <a:lvl4pPr>
              <a:defRPr sz="1275" b="0">
                <a:solidFill>
                  <a:srgbClr val="BABDB0"/>
                </a:solidFill>
                <a:latin typeface="Helvetica Neue"/>
                <a:ea typeface="Helvetica Neue"/>
                <a:cs typeface="Helvetica Neue"/>
              </a:defRPr>
            </a:lvl4pPr>
            <a:lvl5pPr>
              <a:defRPr sz="1275" b="0">
                <a:solidFill>
                  <a:srgbClr val="BABDB0"/>
                </a:solidFill>
                <a:latin typeface="Helvetica Neue"/>
                <a:ea typeface="Helvetica Neue"/>
                <a:cs typeface="Helvetica Neue"/>
              </a:defRPr>
            </a:lvl5pPr>
            <a:lvl6pPr>
              <a:defRPr sz="1275" b="0">
                <a:solidFill>
                  <a:srgbClr val="BABDB0"/>
                </a:solidFill>
                <a:latin typeface="Helvetica Neue"/>
                <a:ea typeface="Helvetica Neue"/>
                <a:cs typeface="Helvetica Neue"/>
              </a:defRPr>
            </a:lvl6pPr>
            <a:lvl7pPr>
              <a:defRPr sz="1275" b="0">
                <a:solidFill>
                  <a:srgbClr val="BABDB0"/>
                </a:solidFill>
                <a:latin typeface="Helvetica Neue"/>
                <a:ea typeface="Helvetica Neue"/>
                <a:cs typeface="Helvetica Neue"/>
              </a:defRPr>
            </a:lvl7pPr>
            <a:lvl8pPr>
              <a:defRPr sz="1275" b="0">
                <a:solidFill>
                  <a:srgbClr val="BABDB0"/>
                </a:solidFill>
                <a:latin typeface="Helvetica Neue"/>
                <a:ea typeface="Helvetica Neue"/>
                <a:cs typeface="Helvetica Neue"/>
              </a:defRPr>
            </a:lvl8pPr>
            <a:lvl9pPr>
              <a:defRPr sz="1275" b="0">
                <a:solidFill>
                  <a:srgbClr val="BABDB0"/>
                </a:solidFill>
                <a:latin typeface="Helvetica Neue"/>
                <a:ea typeface="Helvetica Neue"/>
                <a:cs typeface="Helvetica Neue"/>
              </a:defRPr>
            </a:lvl9pPr>
          </a:lstStyle>
          <a:p xmlns:a="http://schemas.openxmlformats.org/drawingml/2006/main">
            <a:pPr>
              <a:defRPr sz="1275" b="0">
                <a:solidFill>
                  <a:srgbClr val="BABDB0"/>
                </a:solidFill>
                <a:latin typeface="Helvetica Neue"/>
                <a:ea typeface="Helvetica Neue"/>
                <a:cs typeface="Helvetica Neue"/>
              </a:defRPr>
            </a:pPr>
            <a:r>
              <a:rPr sz="1275" b="0">
                <a:solidFill>
                  <a:srgbClr val="BABDB0"/>
                </a:solidFill>
                <a:latin typeface="Helvetica Neue"/>
                <a:ea typeface="Helvetica Neue"/>
                <a:cs typeface="Helvetica Neue"/>
              </a:rPr>
              <a:t>Sources: IEA Electricity 2026; Uptime Global Data Center Survey 2025 (n=638)</a:t>
            </a:r>
          </a:p>
        </p:txBody>
      </p:sp>
    </p:spTree>
    <p:extLst>
      <p:ext uri="{BB962C8B-B14F-4D97-AF65-F5344CB8AC3E}">
        <p14:creationId xmlns:p14="http://schemas.microsoft.com/office/powerpoint/2010/main" val="1499971323"/>
      </p:ext>
    </p:extLst>
  </p:cSld>
</p:sld>
</file>

<file path=ppt/slides/slide3.xml><?xml version="1.0" encoding="utf-8"?>
<p:sld xmlns:p="http://schemas.openxmlformats.org/presentationml/2006/main">
  <p:cSld>
    <p:bg>
      <p:bgPr>
        <a:solidFill xmlns:a="http://schemas.openxmlformats.org/drawingml/2006/main">
          <a:srgbClr val="11121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1BC1F97-B1DA-4690-8ECB-7AFE76256CDE}"/>
              </a:ext>
            </a:extLst>
          </p:cNvPr>
          <p:cNvSpPr>
            <a:spLocks xmlns:a="http://schemas.openxmlformats.org/drawingml/2006/main" noGrp="1"/>
          </p:cNvSpPr>
          <p:nvPr/>
        </p:nvSpPr>
        <p:spPr>
          <a:xfrm xmlns:a="http://schemas.openxmlformats.org/drawingml/2006/main">
            <a:off x="609600" y="3429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FFDB24"/>
                </a:solidFill>
                <a:latin typeface="Helvetica Neue"/>
                <a:ea typeface="Helvetica Neue"/>
                <a:cs typeface="Helvetica Neue"/>
              </a:defRPr>
            </a:defPPr>
            <a:lvl1pPr>
              <a:defRPr sz="1125" b="1">
                <a:solidFill>
                  <a:srgbClr val="FFDB24"/>
                </a:solidFill>
                <a:latin typeface="Helvetica Neue"/>
                <a:ea typeface="Helvetica Neue"/>
                <a:cs typeface="Helvetica Neue"/>
              </a:defRPr>
            </a:lvl1pPr>
            <a:lvl2pPr>
              <a:defRPr sz="1125" b="1">
                <a:solidFill>
                  <a:srgbClr val="FFDB24"/>
                </a:solidFill>
                <a:latin typeface="Helvetica Neue"/>
                <a:ea typeface="Helvetica Neue"/>
                <a:cs typeface="Helvetica Neue"/>
              </a:defRPr>
            </a:lvl2pPr>
            <a:lvl3pPr>
              <a:defRPr sz="1125" b="1">
                <a:solidFill>
                  <a:srgbClr val="FFDB24"/>
                </a:solidFill>
                <a:latin typeface="Helvetica Neue"/>
                <a:ea typeface="Helvetica Neue"/>
                <a:cs typeface="Helvetica Neue"/>
              </a:defRPr>
            </a:lvl3pPr>
            <a:lvl4pPr>
              <a:defRPr sz="1125" b="1">
                <a:solidFill>
                  <a:srgbClr val="FFDB24"/>
                </a:solidFill>
                <a:latin typeface="Helvetica Neue"/>
                <a:ea typeface="Helvetica Neue"/>
                <a:cs typeface="Helvetica Neue"/>
              </a:defRPr>
            </a:lvl4pPr>
            <a:lvl5pPr>
              <a:defRPr sz="1125" b="1">
                <a:solidFill>
                  <a:srgbClr val="FFDB24"/>
                </a:solidFill>
                <a:latin typeface="Helvetica Neue"/>
                <a:ea typeface="Helvetica Neue"/>
                <a:cs typeface="Helvetica Neue"/>
              </a:defRPr>
            </a:lvl5pPr>
            <a:lvl6pPr>
              <a:defRPr sz="1125" b="1">
                <a:solidFill>
                  <a:srgbClr val="FFDB24"/>
                </a:solidFill>
                <a:latin typeface="Helvetica Neue"/>
                <a:ea typeface="Helvetica Neue"/>
                <a:cs typeface="Helvetica Neue"/>
              </a:defRPr>
            </a:lvl6pPr>
            <a:lvl7pPr>
              <a:defRPr sz="1125" b="1">
                <a:solidFill>
                  <a:srgbClr val="FFDB24"/>
                </a:solidFill>
                <a:latin typeface="Helvetica Neue"/>
                <a:ea typeface="Helvetica Neue"/>
                <a:cs typeface="Helvetica Neue"/>
              </a:defRPr>
            </a:lvl7pPr>
            <a:lvl8pPr>
              <a:defRPr sz="1125" b="1">
                <a:solidFill>
                  <a:srgbClr val="FFDB24"/>
                </a:solidFill>
                <a:latin typeface="Helvetica Neue"/>
                <a:ea typeface="Helvetica Neue"/>
                <a:cs typeface="Helvetica Neue"/>
              </a:defRPr>
            </a:lvl8pPr>
            <a:lvl9pPr>
              <a:defRPr sz="1125" b="1">
                <a:solidFill>
                  <a:srgbClr val="FFDB24"/>
                </a:solidFill>
                <a:latin typeface="Helvetica Neue"/>
                <a:ea typeface="Helvetica Neue"/>
                <a:cs typeface="Helvetica Neue"/>
              </a:defRPr>
            </a:lvl9pPr>
          </a:lstStyle>
          <a:p xmlns:a="http://schemas.openxmlformats.org/drawingml/2006/main">
            <a:pPr>
              <a:defRPr sz="1125" b="1">
                <a:solidFill>
                  <a:srgbClr val="FFDB24"/>
                </a:solidFill>
                <a:latin typeface="Helvetica Neue"/>
                <a:ea typeface="Helvetica Neue"/>
                <a:cs typeface="Helvetica Neue"/>
              </a:defRPr>
            </a:pPr>
            <a:r>
              <a:rPr sz="1125" b="1">
                <a:solidFill>
                  <a:srgbClr val="FFDB24"/>
                </a:solidFill>
                <a:latin typeface="Helvetica Neue"/>
                <a:ea typeface="Helvetica Neue"/>
                <a:cs typeface="Helvetica Neue"/>
              </a:rPr>
              <a:t>SITE AND CONTRACT ECONOMICS</a:t>
            </a:r>
          </a:p>
        </p:txBody>
      </p:sp>
      <p:sp>
        <p:nvSpPr>
          <p:cNvPr id="2" name="">
            <a:extLst xmlns:a="http://schemas.openxmlformats.org/drawingml/2006/main">
              <a:ext uri="{FF2B5EF4-FFF2-40B4-BE49-F238E27FC236}">
                <a16:creationId xmlns:a16="http://schemas.microsoft.com/office/drawing/2014/main" id="{36E6E03F-4398-4B7A-BEE2-778057D161C5}"/>
              </a:ext>
            </a:extLst>
          </p:cNvPr>
          <p:cNvSpPr>
            <a:spLocks xmlns:a="http://schemas.openxmlformats.org/drawingml/2006/main" noGrp="1"/>
          </p:cNvSpPr>
          <p:nvPr/>
        </p:nvSpPr>
        <p:spPr>
          <a:xfrm xmlns:a="http://schemas.openxmlformats.org/drawingml/2006/main">
            <a:off x="609600" y="914400"/>
            <a:ext cx="109728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F4F3EB"/>
                </a:solidFill>
                <a:latin typeface="Helvetica Neue"/>
                <a:ea typeface="Helvetica Neue"/>
                <a:cs typeface="Helvetica Neue"/>
              </a:defRPr>
            </a:defPPr>
            <a:lvl1pPr>
              <a:defRPr sz="3900" b="0">
                <a:solidFill>
                  <a:srgbClr val="F4F3EB"/>
                </a:solidFill>
                <a:latin typeface="Helvetica Neue"/>
                <a:ea typeface="Helvetica Neue"/>
                <a:cs typeface="Helvetica Neue"/>
              </a:defRPr>
            </a:lvl1pPr>
            <a:lvl2pPr>
              <a:defRPr sz="3900" b="0">
                <a:solidFill>
                  <a:srgbClr val="F4F3EB"/>
                </a:solidFill>
                <a:latin typeface="Helvetica Neue"/>
                <a:ea typeface="Helvetica Neue"/>
                <a:cs typeface="Helvetica Neue"/>
              </a:defRPr>
            </a:lvl2pPr>
            <a:lvl3pPr>
              <a:defRPr sz="3900" b="0">
                <a:solidFill>
                  <a:srgbClr val="F4F3EB"/>
                </a:solidFill>
                <a:latin typeface="Helvetica Neue"/>
                <a:ea typeface="Helvetica Neue"/>
                <a:cs typeface="Helvetica Neue"/>
              </a:defRPr>
            </a:lvl3pPr>
            <a:lvl4pPr>
              <a:defRPr sz="3900" b="0">
                <a:solidFill>
                  <a:srgbClr val="F4F3EB"/>
                </a:solidFill>
                <a:latin typeface="Helvetica Neue"/>
                <a:ea typeface="Helvetica Neue"/>
                <a:cs typeface="Helvetica Neue"/>
              </a:defRPr>
            </a:lvl4pPr>
            <a:lvl5pPr>
              <a:defRPr sz="3900" b="0">
                <a:solidFill>
                  <a:srgbClr val="F4F3EB"/>
                </a:solidFill>
                <a:latin typeface="Helvetica Neue"/>
                <a:ea typeface="Helvetica Neue"/>
                <a:cs typeface="Helvetica Neue"/>
              </a:defRPr>
            </a:lvl5pPr>
            <a:lvl6pPr>
              <a:defRPr sz="3900" b="0">
                <a:solidFill>
                  <a:srgbClr val="F4F3EB"/>
                </a:solidFill>
                <a:latin typeface="Helvetica Neue"/>
                <a:ea typeface="Helvetica Neue"/>
                <a:cs typeface="Helvetica Neue"/>
              </a:defRPr>
            </a:lvl6pPr>
            <a:lvl7pPr>
              <a:defRPr sz="3900" b="0">
                <a:solidFill>
                  <a:srgbClr val="F4F3EB"/>
                </a:solidFill>
                <a:latin typeface="Helvetica Neue"/>
                <a:ea typeface="Helvetica Neue"/>
                <a:cs typeface="Helvetica Neue"/>
              </a:defRPr>
            </a:lvl7pPr>
            <a:lvl8pPr>
              <a:defRPr sz="3900" b="0">
                <a:solidFill>
                  <a:srgbClr val="F4F3EB"/>
                </a:solidFill>
                <a:latin typeface="Helvetica Neue"/>
                <a:ea typeface="Helvetica Neue"/>
                <a:cs typeface="Helvetica Neue"/>
              </a:defRPr>
            </a:lvl8pPr>
            <a:lvl9pPr>
              <a:defRPr sz="3900" b="0">
                <a:solidFill>
                  <a:srgbClr val="F4F3EB"/>
                </a:solidFill>
                <a:latin typeface="Helvetica Neue"/>
                <a:ea typeface="Helvetica Neue"/>
                <a:cs typeface="Helvetica Neue"/>
              </a:defRPr>
            </a:lvl9pPr>
          </a:lstStyle>
          <a:p xmlns:a="http://schemas.openxmlformats.org/drawingml/2006/main">
            <a:pPr>
              <a:defRPr sz="3900" b="0">
                <a:solidFill>
                  <a:srgbClr val="F4F3EB"/>
                </a:solidFill>
                <a:latin typeface="Helvetica Neue"/>
                <a:ea typeface="Helvetica Neue"/>
                <a:cs typeface="Helvetica Neue"/>
              </a:defRPr>
            </a:pPr>
            <a:r>
              <a:rPr sz="3900" b="0">
                <a:solidFill>
                  <a:srgbClr val="F4F3EB"/>
                </a:solidFill>
                <a:latin typeface="Helvetica Neue"/>
                <a:ea typeface="Helvetica Neue"/>
                <a:cs typeface="Helvetica Neue"/>
              </a:rPr>
              <a:t>Power availability can shape the cost case</a:t>
            </a:r>
          </a:p>
        </p:txBody>
      </p:sp>
      <p:sp>
        <p:nvSpPr>
          <p:cNvPr id="3" name="">
            <a:extLst xmlns:a="http://schemas.openxmlformats.org/drawingml/2006/main">
              <a:ext uri="{FF2B5EF4-FFF2-40B4-BE49-F238E27FC236}">
                <a16:creationId xmlns:a16="http://schemas.microsoft.com/office/drawing/2014/main" id="{C7DBA1ED-A03B-4B8A-8C18-DD4D42F44816}"/>
              </a:ext>
            </a:extLst>
          </p:cNvPr>
          <p:cNvSpPr>
            <a:spLocks xmlns:a="http://schemas.openxmlformats.org/drawingml/2006/main" noGrp="1"/>
          </p:cNvSpPr>
          <p:nvPr/>
        </p:nvSpPr>
        <p:spPr>
          <a:xfrm xmlns:a="http://schemas.openxmlformats.org/drawingml/2006/main">
            <a:off x="609600" y="644842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BABDB0"/>
                </a:solidFill>
                <a:latin typeface="Helvetica Neue"/>
                <a:ea typeface="Helvetica Neue"/>
                <a:cs typeface="Helvetica Neue"/>
              </a:defRPr>
            </a:defPPr>
            <a:lvl1pPr>
              <a:defRPr sz="900" b="0">
                <a:solidFill>
                  <a:srgbClr val="BABDB0"/>
                </a:solidFill>
                <a:latin typeface="Helvetica Neue"/>
                <a:ea typeface="Helvetica Neue"/>
                <a:cs typeface="Helvetica Neue"/>
              </a:defRPr>
            </a:lvl1pPr>
            <a:lvl2pPr>
              <a:defRPr sz="900" b="0">
                <a:solidFill>
                  <a:srgbClr val="BABDB0"/>
                </a:solidFill>
                <a:latin typeface="Helvetica Neue"/>
                <a:ea typeface="Helvetica Neue"/>
                <a:cs typeface="Helvetica Neue"/>
              </a:defRPr>
            </a:lvl2pPr>
            <a:lvl3pPr>
              <a:defRPr sz="900" b="0">
                <a:solidFill>
                  <a:srgbClr val="BABDB0"/>
                </a:solidFill>
                <a:latin typeface="Helvetica Neue"/>
                <a:ea typeface="Helvetica Neue"/>
                <a:cs typeface="Helvetica Neue"/>
              </a:defRPr>
            </a:lvl3pPr>
            <a:lvl4pPr>
              <a:defRPr sz="900" b="0">
                <a:solidFill>
                  <a:srgbClr val="BABDB0"/>
                </a:solidFill>
                <a:latin typeface="Helvetica Neue"/>
                <a:ea typeface="Helvetica Neue"/>
                <a:cs typeface="Helvetica Neue"/>
              </a:defRPr>
            </a:lvl4pPr>
            <a:lvl5pPr>
              <a:defRPr sz="900" b="0">
                <a:solidFill>
                  <a:srgbClr val="BABDB0"/>
                </a:solidFill>
                <a:latin typeface="Helvetica Neue"/>
                <a:ea typeface="Helvetica Neue"/>
                <a:cs typeface="Helvetica Neue"/>
              </a:defRPr>
            </a:lvl5pPr>
            <a:lvl6pPr>
              <a:defRPr sz="900" b="0">
                <a:solidFill>
                  <a:srgbClr val="BABDB0"/>
                </a:solidFill>
                <a:latin typeface="Helvetica Neue"/>
                <a:ea typeface="Helvetica Neue"/>
                <a:cs typeface="Helvetica Neue"/>
              </a:defRPr>
            </a:lvl6pPr>
            <a:lvl7pPr>
              <a:defRPr sz="900" b="0">
                <a:solidFill>
                  <a:srgbClr val="BABDB0"/>
                </a:solidFill>
                <a:latin typeface="Helvetica Neue"/>
                <a:ea typeface="Helvetica Neue"/>
                <a:cs typeface="Helvetica Neue"/>
              </a:defRPr>
            </a:lvl7pPr>
            <a:lvl8pPr>
              <a:defRPr sz="900" b="0">
                <a:solidFill>
                  <a:srgbClr val="BABDB0"/>
                </a:solidFill>
                <a:latin typeface="Helvetica Neue"/>
                <a:ea typeface="Helvetica Neue"/>
                <a:cs typeface="Helvetica Neue"/>
              </a:defRPr>
            </a:lvl8pPr>
            <a:lvl9pPr>
              <a:defRPr sz="900" b="0">
                <a:solidFill>
                  <a:srgbClr val="BABDB0"/>
                </a:solidFill>
                <a:latin typeface="Helvetica Neue"/>
                <a:ea typeface="Helvetica Neue"/>
                <a:cs typeface="Helvetica Neue"/>
              </a:defRPr>
            </a:lvl9pPr>
          </a:lstStyle>
          <a:p xmlns:a="http://schemas.openxmlformats.org/drawingml/2006/main">
            <a:pPr>
              <a:defRPr sz="900" b="0">
                <a:solidFill>
                  <a:srgbClr val="BABDB0"/>
                </a:solidFill>
                <a:latin typeface="Helvetica Neue"/>
                <a:ea typeface="Helvetica Neue"/>
                <a:cs typeface="Helvetica Neue"/>
              </a:defRPr>
            </a:pPr>
            <a:r>
              <a:rPr sz="900" b="0">
                <a:solidFill>
                  <a:srgbClr val="BABDB0"/>
                </a:solidFill>
                <a:latin typeface="Helvetica Neue"/>
                <a:ea typeface="Helvetica Neue"/>
                <a:cs typeface="Helvetica Neue"/>
              </a:rPr>
              <a:t>E FOR ENERGY</a:t>
            </a:r>
          </a:p>
        </p:txBody>
      </p:sp>
      <p:sp>
        <p:nvSpPr>
          <p:cNvPr id="4" name="">
            <a:extLst xmlns:a="http://schemas.openxmlformats.org/drawingml/2006/main">
              <a:ext uri="{FF2B5EF4-FFF2-40B4-BE49-F238E27FC236}">
                <a16:creationId xmlns:a16="http://schemas.microsoft.com/office/drawing/2014/main" id="{A184CAB8-DB6C-4F0C-8F7F-0760E5C7F9FA}"/>
              </a:ext>
            </a:extLst>
          </p:cNvPr>
          <p:cNvSpPr>
            <a:spLocks xmlns:a="http://schemas.openxmlformats.org/drawingml/2006/main" noGrp="1"/>
          </p:cNvSpPr>
          <p:nvPr/>
        </p:nvSpPr>
        <p:spPr>
          <a:xfrm xmlns:a="http://schemas.openxmlformats.org/drawingml/2006/main">
            <a:off x="11049000" y="64198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BABDB0"/>
                </a:solidFill>
                <a:latin typeface="Helvetica Neue"/>
                <a:ea typeface="Helvetica Neue"/>
                <a:cs typeface="Helvetica Neue"/>
              </a:defRPr>
            </a:defPPr>
            <a:lvl1pPr>
              <a:defRPr sz="1200" b="0">
                <a:solidFill>
                  <a:srgbClr val="BABDB0"/>
                </a:solidFill>
                <a:latin typeface="Helvetica Neue"/>
                <a:ea typeface="Helvetica Neue"/>
                <a:cs typeface="Helvetica Neue"/>
              </a:defRPr>
            </a:lvl1pPr>
            <a:lvl2pPr>
              <a:defRPr sz="1200" b="0">
                <a:solidFill>
                  <a:srgbClr val="BABDB0"/>
                </a:solidFill>
                <a:latin typeface="Helvetica Neue"/>
                <a:ea typeface="Helvetica Neue"/>
                <a:cs typeface="Helvetica Neue"/>
              </a:defRPr>
            </a:lvl2pPr>
            <a:lvl3pPr>
              <a:defRPr sz="1200" b="0">
                <a:solidFill>
                  <a:srgbClr val="BABDB0"/>
                </a:solidFill>
                <a:latin typeface="Helvetica Neue"/>
                <a:ea typeface="Helvetica Neue"/>
                <a:cs typeface="Helvetica Neue"/>
              </a:defRPr>
            </a:lvl3pPr>
            <a:lvl4pPr>
              <a:defRPr sz="1200" b="0">
                <a:solidFill>
                  <a:srgbClr val="BABDB0"/>
                </a:solidFill>
                <a:latin typeface="Helvetica Neue"/>
                <a:ea typeface="Helvetica Neue"/>
                <a:cs typeface="Helvetica Neue"/>
              </a:defRPr>
            </a:lvl4pPr>
            <a:lvl5pPr>
              <a:defRPr sz="1200" b="0">
                <a:solidFill>
                  <a:srgbClr val="BABDB0"/>
                </a:solidFill>
                <a:latin typeface="Helvetica Neue"/>
                <a:ea typeface="Helvetica Neue"/>
                <a:cs typeface="Helvetica Neue"/>
              </a:defRPr>
            </a:lvl5pPr>
            <a:lvl6pPr>
              <a:defRPr sz="1200" b="0">
                <a:solidFill>
                  <a:srgbClr val="BABDB0"/>
                </a:solidFill>
                <a:latin typeface="Helvetica Neue"/>
                <a:ea typeface="Helvetica Neue"/>
                <a:cs typeface="Helvetica Neue"/>
              </a:defRPr>
            </a:lvl6pPr>
            <a:lvl7pPr>
              <a:defRPr sz="1200" b="0">
                <a:solidFill>
                  <a:srgbClr val="BABDB0"/>
                </a:solidFill>
                <a:latin typeface="Helvetica Neue"/>
                <a:ea typeface="Helvetica Neue"/>
                <a:cs typeface="Helvetica Neue"/>
              </a:defRPr>
            </a:lvl7pPr>
            <a:lvl8pPr>
              <a:defRPr sz="1200" b="0">
                <a:solidFill>
                  <a:srgbClr val="BABDB0"/>
                </a:solidFill>
                <a:latin typeface="Helvetica Neue"/>
                <a:ea typeface="Helvetica Neue"/>
                <a:cs typeface="Helvetica Neue"/>
              </a:defRPr>
            </a:lvl8pPr>
            <a:lvl9pPr>
              <a:defRPr sz="1200" b="0">
                <a:solidFill>
                  <a:srgbClr val="BABDB0"/>
                </a:solidFill>
                <a:latin typeface="Helvetica Neue"/>
                <a:ea typeface="Helvetica Neue"/>
                <a:cs typeface="Helvetica Neue"/>
              </a:defRPr>
            </a:lvl9pPr>
          </a:lstStyle>
          <a:p xmlns:a="http://schemas.openxmlformats.org/drawingml/2006/main">
            <a:pPr>
              <a:defRPr sz="1200" b="0">
                <a:solidFill>
                  <a:srgbClr val="BABDB0"/>
                </a:solidFill>
                <a:latin typeface="Helvetica Neue"/>
                <a:ea typeface="Helvetica Neue"/>
                <a:cs typeface="Helvetica Neue"/>
              </a:defRPr>
            </a:pPr>
            <a:r>
              <a:rPr sz="1200" b="0">
                <a:solidFill>
                  <a:srgbClr val="BABDB0"/>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FAC583CE-630E-4FE2-9472-3B0FB88FBC5B}"/>
              </a:ext>
            </a:extLst>
          </p:cNvPr>
          <p:cNvSpPr>
            <a:spLocks xmlns:a="http://schemas.openxmlformats.org/drawingml/2006/main" noGrp="1"/>
          </p:cNvSpPr>
          <p:nvPr/>
        </p:nvSpPr>
        <p:spPr>
          <a:xfrm xmlns:a="http://schemas.openxmlformats.org/drawingml/2006/main">
            <a:off x="609600" y="2428875"/>
            <a:ext cx="5000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950" b="1">
                <a:solidFill>
                  <a:srgbClr val="FFDB24"/>
                </a:solidFill>
                <a:latin typeface="Helvetica Neue"/>
                <a:ea typeface="Helvetica Neue"/>
                <a:cs typeface="Helvetica Neue"/>
              </a:defRPr>
            </a:defPPr>
            <a:lvl1pPr>
              <a:defRPr sz="4950" b="1">
                <a:solidFill>
                  <a:srgbClr val="FFDB24"/>
                </a:solidFill>
                <a:latin typeface="Helvetica Neue"/>
                <a:ea typeface="Helvetica Neue"/>
                <a:cs typeface="Helvetica Neue"/>
              </a:defRPr>
            </a:lvl1pPr>
            <a:lvl2pPr>
              <a:defRPr sz="4950" b="1">
                <a:solidFill>
                  <a:srgbClr val="FFDB24"/>
                </a:solidFill>
                <a:latin typeface="Helvetica Neue"/>
                <a:ea typeface="Helvetica Neue"/>
                <a:cs typeface="Helvetica Neue"/>
              </a:defRPr>
            </a:lvl2pPr>
            <a:lvl3pPr>
              <a:defRPr sz="4950" b="1">
                <a:solidFill>
                  <a:srgbClr val="FFDB24"/>
                </a:solidFill>
                <a:latin typeface="Helvetica Neue"/>
                <a:ea typeface="Helvetica Neue"/>
                <a:cs typeface="Helvetica Neue"/>
              </a:defRPr>
            </a:lvl3pPr>
            <a:lvl4pPr>
              <a:defRPr sz="4950" b="1">
                <a:solidFill>
                  <a:srgbClr val="FFDB24"/>
                </a:solidFill>
                <a:latin typeface="Helvetica Neue"/>
                <a:ea typeface="Helvetica Neue"/>
                <a:cs typeface="Helvetica Neue"/>
              </a:defRPr>
            </a:lvl4pPr>
            <a:lvl5pPr>
              <a:defRPr sz="4950" b="1">
                <a:solidFill>
                  <a:srgbClr val="FFDB24"/>
                </a:solidFill>
                <a:latin typeface="Helvetica Neue"/>
                <a:ea typeface="Helvetica Neue"/>
                <a:cs typeface="Helvetica Neue"/>
              </a:defRPr>
            </a:lvl5pPr>
            <a:lvl6pPr>
              <a:defRPr sz="4950" b="1">
                <a:solidFill>
                  <a:srgbClr val="FFDB24"/>
                </a:solidFill>
                <a:latin typeface="Helvetica Neue"/>
                <a:ea typeface="Helvetica Neue"/>
                <a:cs typeface="Helvetica Neue"/>
              </a:defRPr>
            </a:lvl6pPr>
            <a:lvl7pPr>
              <a:defRPr sz="4950" b="1">
                <a:solidFill>
                  <a:srgbClr val="FFDB24"/>
                </a:solidFill>
                <a:latin typeface="Helvetica Neue"/>
                <a:ea typeface="Helvetica Neue"/>
                <a:cs typeface="Helvetica Neue"/>
              </a:defRPr>
            </a:lvl7pPr>
            <a:lvl8pPr>
              <a:defRPr sz="4950" b="1">
                <a:solidFill>
                  <a:srgbClr val="FFDB24"/>
                </a:solidFill>
                <a:latin typeface="Helvetica Neue"/>
                <a:ea typeface="Helvetica Neue"/>
                <a:cs typeface="Helvetica Neue"/>
              </a:defRPr>
            </a:lvl8pPr>
            <a:lvl9pPr>
              <a:defRPr sz="4950" b="1">
                <a:solidFill>
                  <a:srgbClr val="FFDB24"/>
                </a:solidFill>
                <a:latin typeface="Helvetica Neue"/>
                <a:ea typeface="Helvetica Neue"/>
                <a:cs typeface="Helvetica Neue"/>
              </a:defRPr>
            </a:lvl9pPr>
          </a:lstStyle>
          <a:p xmlns:a="http://schemas.openxmlformats.org/drawingml/2006/main">
            <a:pPr>
              <a:defRPr sz="4950" b="1">
                <a:solidFill>
                  <a:srgbClr val="FFDB24"/>
                </a:solidFill>
                <a:latin typeface="Helvetica Neue"/>
                <a:ea typeface="Helvetica Neue"/>
                <a:cs typeface="Helvetica Neue"/>
              </a:defRPr>
            </a:pPr>
            <a:r>
              <a:rPr sz="4950" b="1">
                <a:solidFill>
                  <a:srgbClr val="FFDB24"/>
                </a:solidFill>
                <a:latin typeface="Helvetica Neue"/>
                <a:ea typeface="Helvetica Neue"/>
                <a:cs typeface="Helvetica Neue"/>
              </a:rPr>
              <a:t>1.4%</a:t>
            </a:r>
          </a:p>
        </p:txBody>
      </p:sp>
      <p:sp>
        <p:nvSpPr>
          <p:cNvPr id="6" name="">
            <a:extLst xmlns:a="http://schemas.openxmlformats.org/drawingml/2006/main">
              <a:ext uri="{FF2B5EF4-FFF2-40B4-BE49-F238E27FC236}">
                <a16:creationId xmlns:a16="http://schemas.microsoft.com/office/drawing/2014/main" id="{C6400464-DEA0-4529-A289-4DC7B260EBCE}"/>
              </a:ext>
            </a:extLst>
          </p:cNvPr>
          <p:cNvSpPr>
            <a:spLocks xmlns:a="http://schemas.openxmlformats.org/drawingml/2006/main" noGrp="1"/>
          </p:cNvSpPr>
          <p:nvPr/>
        </p:nvSpPr>
        <p:spPr>
          <a:xfrm xmlns:a="http://schemas.openxmlformats.org/drawingml/2006/main">
            <a:off x="609600" y="331470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4F3EB"/>
                </a:solidFill>
                <a:latin typeface="Helvetica Neue"/>
                <a:ea typeface="Helvetica Neue"/>
                <a:cs typeface="Helvetica Neue"/>
              </a:defRPr>
            </a:defPPr>
            <a:lvl1pPr>
              <a:defRPr sz="2025" b="0">
                <a:solidFill>
                  <a:srgbClr val="F4F3EB"/>
                </a:solidFill>
                <a:latin typeface="Helvetica Neue"/>
                <a:ea typeface="Helvetica Neue"/>
                <a:cs typeface="Helvetica Neue"/>
              </a:defRPr>
            </a:lvl1pPr>
            <a:lvl2pPr>
              <a:defRPr sz="2025" b="0">
                <a:solidFill>
                  <a:srgbClr val="F4F3EB"/>
                </a:solidFill>
                <a:latin typeface="Helvetica Neue"/>
                <a:ea typeface="Helvetica Neue"/>
                <a:cs typeface="Helvetica Neue"/>
              </a:defRPr>
            </a:lvl2pPr>
            <a:lvl3pPr>
              <a:defRPr sz="2025" b="0">
                <a:solidFill>
                  <a:srgbClr val="F4F3EB"/>
                </a:solidFill>
                <a:latin typeface="Helvetica Neue"/>
                <a:ea typeface="Helvetica Neue"/>
                <a:cs typeface="Helvetica Neue"/>
              </a:defRPr>
            </a:lvl3pPr>
            <a:lvl4pPr>
              <a:defRPr sz="2025" b="0">
                <a:solidFill>
                  <a:srgbClr val="F4F3EB"/>
                </a:solidFill>
                <a:latin typeface="Helvetica Neue"/>
                <a:ea typeface="Helvetica Neue"/>
                <a:cs typeface="Helvetica Neue"/>
              </a:defRPr>
            </a:lvl4pPr>
            <a:lvl5pPr>
              <a:defRPr sz="2025" b="0">
                <a:solidFill>
                  <a:srgbClr val="F4F3EB"/>
                </a:solidFill>
                <a:latin typeface="Helvetica Neue"/>
                <a:ea typeface="Helvetica Neue"/>
                <a:cs typeface="Helvetica Neue"/>
              </a:defRPr>
            </a:lvl5pPr>
            <a:lvl6pPr>
              <a:defRPr sz="2025" b="0">
                <a:solidFill>
                  <a:srgbClr val="F4F3EB"/>
                </a:solidFill>
                <a:latin typeface="Helvetica Neue"/>
                <a:ea typeface="Helvetica Neue"/>
                <a:cs typeface="Helvetica Neue"/>
              </a:defRPr>
            </a:lvl6pPr>
            <a:lvl7pPr>
              <a:defRPr sz="2025" b="0">
                <a:solidFill>
                  <a:srgbClr val="F4F3EB"/>
                </a:solidFill>
                <a:latin typeface="Helvetica Neue"/>
                <a:ea typeface="Helvetica Neue"/>
                <a:cs typeface="Helvetica Neue"/>
              </a:defRPr>
            </a:lvl7pPr>
            <a:lvl8pPr>
              <a:defRPr sz="2025" b="0">
                <a:solidFill>
                  <a:srgbClr val="F4F3EB"/>
                </a:solidFill>
                <a:latin typeface="Helvetica Neue"/>
                <a:ea typeface="Helvetica Neue"/>
                <a:cs typeface="Helvetica Neue"/>
              </a:defRPr>
            </a:lvl8pPr>
            <a:lvl9pPr>
              <a:defRPr sz="2025" b="0">
                <a:solidFill>
                  <a:srgbClr val="F4F3EB"/>
                </a:solidFill>
                <a:latin typeface="Helvetica Neue"/>
                <a:ea typeface="Helvetica Neue"/>
                <a:cs typeface="Helvetica Neue"/>
              </a:defRPr>
            </a:lvl9pPr>
          </a:lstStyle>
          <a:p xmlns:a="http://schemas.openxmlformats.org/drawingml/2006/main">
            <a:pPr>
              <a:defRPr sz="2025" b="0">
                <a:solidFill>
                  <a:srgbClr val="F4F3EB"/>
                </a:solidFill>
                <a:latin typeface="Helvetica Neue"/>
                <a:ea typeface="Helvetica Neue"/>
                <a:cs typeface="Helvetica Neue"/>
              </a:defRPr>
            </a:pPr>
            <a:r>
              <a:rPr sz="2025" b="0">
                <a:solidFill>
                  <a:srgbClr val="F4F3EB"/>
                </a:solidFill>
                <a:latin typeface="Helvetica Neue"/>
                <a:ea typeface="Helvetica Neue"/>
                <a:cs typeface="Helvetica Neue"/>
              </a:rPr>
              <a:t>North American primary data-center vacancy, H1 2026</a:t>
            </a:r>
          </a:p>
        </p:txBody>
      </p:sp>
      <p:sp>
        <p:nvSpPr>
          <p:cNvPr id="7" name="">
            <a:extLst xmlns:a="http://schemas.openxmlformats.org/drawingml/2006/main">
              <a:ext uri="{FF2B5EF4-FFF2-40B4-BE49-F238E27FC236}">
                <a16:creationId xmlns:a16="http://schemas.microsoft.com/office/drawing/2014/main" id="{953CF43E-ABFA-4BE8-83DE-0A0060F0010B}"/>
              </a:ext>
            </a:extLst>
          </p:cNvPr>
          <p:cNvSpPr>
            <a:spLocks xmlns:a="http://schemas.openxmlformats.org/drawingml/2006/main" noGrp="1"/>
          </p:cNvSpPr>
          <p:nvPr/>
        </p:nvSpPr>
        <p:spPr>
          <a:xfrm xmlns:a="http://schemas.openxmlformats.org/drawingml/2006/main">
            <a:off x="6419850" y="2428875"/>
            <a:ext cx="5000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950" b="1">
                <a:solidFill>
                  <a:srgbClr val="EE6758"/>
                </a:solidFill>
                <a:latin typeface="Helvetica Neue"/>
                <a:ea typeface="Helvetica Neue"/>
                <a:cs typeface="Helvetica Neue"/>
              </a:defRPr>
            </a:defPPr>
            <a:lvl1pPr>
              <a:defRPr sz="4950" b="1">
                <a:solidFill>
                  <a:srgbClr val="EE6758"/>
                </a:solidFill>
                <a:latin typeface="Helvetica Neue"/>
                <a:ea typeface="Helvetica Neue"/>
                <a:cs typeface="Helvetica Neue"/>
              </a:defRPr>
            </a:lvl1pPr>
            <a:lvl2pPr>
              <a:defRPr sz="4950" b="1">
                <a:solidFill>
                  <a:srgbClr val="EE6758"/>
                </a:solidFill>
                <a:latin typeface="Helvetica Neue"/>
                <a:ea typeface="Helvetica Neue"/>
                <a:cs typeface="Helvetica Neue"/>
              </a:defRPr>
            </a:lvl2pPr>
            <a:lvl3pPr>
              <a:defRPr sz="4950" b="1">
                <a:solidFill>
                  <a:srgbClr val="EE6758"/>
                </a:solidFill>
                <a:latin typeface="Helvetica Neue"/>
                <a:ea typeface="Helvetica Neue"/>
                <a:cs typeface="Helvetica Neue"/>
              </a:defRPr>
            </a:lvl3pPr>
            <a:lvl4pPr>
              <a:defRPr sz="4950" b="1">
                <a:solidFill>
                  <a:srgbClr val="EE6758"/>
                </a:solidFill>
                <a:latin typeface="Helvetica Neue"/>
                <a:ea typeface="Helvetica Neue"/>
                <a:cs typeface="Helvetica Neue"/>
              </a:defRPr>
            </a:lvl4pPr>
            <a:lvl5pPr>
              <a:defRPr sz="4950" b="1">
                <a:solidFill>
                  <a:srgbClr val="EE6758"/>
                </a:solidFill>
                <a:latin typeface="Helvetica Neue"/>
                <a:ea typeface="Helvetica Neue"/>
                <a:cs typeface="Helvetica Neue"/>
              </a:defRPr>
            </a:lvl5pPr>
            <a:lvl6pPr>
              <a:defRPr sz="4950" b="1">
                <a:solidFill>
                  <a:srgbClr val="EE6758"/>
                </a:solidFill>
                <a:latin typeface="Helvetica Neue"/>
                <a:ea typeface="Helvetica Neue"/>
                <a:cs typeface="Helvetica Neue"/>
              </a:defRPr>
            </a:lvl6pPr>
            <a:lvl7pPr>
              <a:defRPr sz="4950" b="1">
                <a:solidFill>
                  <a:srgbClr val="EE6758"/>
                </a:solidFill>
                <a:latin typeface="Helvetica Neue"/>
                <a:ea typeface="Helvetica Neue"/>
                <a:cs typeface="Helvetica Neue"/>
              </a:defRPr>
            </a:lvl7pPr>
            <a:lvl8pPr>
              <a:defRPr sz="4950" b="1">
                <a:solidFill>
                  <a:srgbClr val="EE6758"/>
                </a:solidFill>
                <a:latin typeface="Helvetica Neue"/>
                <a:ea typeface="Helvetica Neue"/>
                <a:cs typeface="Helvetica Neue"/>
              </a:defRPr>
            </a:lvl8pPr>
            <a:lvl9pPr>
              <a:defRPr sz="4950" b="1">
                <a:solidFill>
                  <a:srgbClr val="EE6758"/>
                </a:solidFill>
                <a:latin typeface="Helvetica Neue"/>
                <a:ea typeface="Helvetica Neue"/>
                <a:cs typeface="Helvetica Neue"/>
              </a:defRPr>
            </a:lvl9pPr>
          </a:lstStyle>
          <a:p xmlns:a="http://schemas.openxmlformats.org/drawingml/2006/main">
            <a:pPr>
              <a:defRPr sz="4950" b="1">
                <a:solidFill>
                  <a:srgbClr val="EE6758"/>
                </a:solidFill>
                <a:latin typeface="Helvetica Neue"/>
                <a:ea typeface="Helvetica Neue"/>
                <a:cs typeface="Helvetica Neue"/>
              </a:defRPr>
            </a:pPr>
            <a:r>
              <a:rPr sz="4950" b="1">
                <a:solidFill>
                  <a:srgbClr val="EE6758"/>
                </a:solidFill>
                <a:latin typeface="Helvetica Neue"/>
                <a:ea typeface="Helvetica Neue"/>
                <a:cs typeface="Helvetica Neue"/>
              </a:rPr>
              <a:t>60–85%</a:t>
            </a:r>
          </a:p>
        </p:txBody>
      </p:sp>
      <p:sp>
        <p:nvSpPr>
          <p:cNvPr id="8" name="">
            <a:extLst xmlns:a="http://schemas.openxmlformats.org/drawingml/2006/main">
              <a:ext uri="{FF2B5EF4-FFF2-40B4-BE49-F238E27FC236}">
                <a16:creationId xmlns:a16="http://schemas.microsoft.com/office/drawing/2014/main" id="{1174630E-361B-40FF-9B89-A1F19B438E66}"/>
              </a:ext>
            </a:extLst>
          </p:cNvPr>
          <p:cNvSpPr>
            <a:spLocks xmlns:a="http://schemas.openxmlformats.org/drawingml/2006/main" noGrp="1"/>
          </p:cNvSpPr>
          <p:nvPr/>
        </p:nvSpPr>
        <p:spPr>
          <a:xfrm xmlns:a="http://schemas.openxmlformats.org/drawingml/2006/main">
            <a:off x="6419850" y="331470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4F3EB"/>
                </a:solidFill>
                <a:latin typeface="Helvetica Neue"/>
                <a:ea typeface="Helvetica Neue"/>
                <a:cs typeface="Helvetica Neue"/>
              </a:defRPr>
            </a:defPPr>
            <a:lvl1pPr>
              <a:defRPr sz="2025" b="0">
                <a:solidFill>
                  <a:srgbClr val="F4F3EB"/>
                </a:solidFill>
                <a:latin typeface="Helvetica Neue"/>
                <a:ea typeface="Helvetica Neue"/>
                <a:cs typeface="Helvetica Neue"/>
              </a:defRPr>
            </a:lvl1pPr>
            <a:lvl2pPr>
              <a:defRPr sz="2025" b="0">
                <a:solidFill>
                  <a:srgbClr val="F4F3EB"/>
                </a:solidFill>
                <a:latin typeface="Helvetica Neue"/>
                <a:ea typeface="Helvetica Neue"/>
                <a:cs typeface="Helvetica Neue"/>
              </a:defRPr>
            </a:lvl2pPr>
            <a:lvl3pPr>
              <a:defRPr sz="2025" b="0">
                <a:solidFill>
                  <a:srgbClr val="F4F3EB"/>
                </a:solidFill>
                <a:latin typeface="Helvetica Neue"/>
                <a:ea typeface="Helvetica Neue"/>
                <a:cs typeface="Helvetica Neue"/>
              </a:defRPr>
            </a:lvl3pPr>
            <a:lvl4pPr>
              <a:defRPr sz="2025" b="0">
                <a:solidFill>
                  <a:srgbClr val="F4F3EB"/>
                </a:solidFill>
                <a:latin typeface="Helvetica Neue"/>
                <a:ea typeface="Helvetica Neue"/>
                <a:cs typeface="Helvetica Neue"/>
              </a:defRPr>
            </a:lvl4pPr>
            <a:lvl5pPr>
              <a:defRPr sz="2025" b="0">
                <a:solidFill>
                  <a:srgbClr val="F4F3EB"/>
                </a:solidFill>
                <a:latin typeface="Helvetica Neue"/>
                <a:ea typeface="Helvetica Neue"/>
                <a:cs typeface="Helvetica Neue"/>
              </a:defRPr>
            </a:lvl5pPr>
            <a:lvl6pPr>
              <a:defRPr sz="2025" b="0">
                <a:solidFill>
                  <a:srgbClr val="F4F3EB"/>
                </a:solidFill>
                <a:latin typeface="Helvetica Neue"/>
                <a:ea typeface="Helvetica Neue"/>
                <a:cs typeface="Helvetica Neue"/>
              </a:defRPr>
            </a:lvl6pPr>
            <a:lvl7pPr>
              <a:defRPr sz="2025" b="0">
                <a:solidFill>
                  <a:srgbClr val="F4F3EB"/>
                </a:solidFill>
                <a:latin typeface="Helvetica Neue"/>
                <a:ea typeface="Helvetica Neue"/>
                <a:cs typeface="Helvetica Neue"/>
              </a:defRPr>
            </a:lvl7pPr>
            <a:lvl8pPr>
              <a:defRPr sz="2025" b="0">
                <a:solidFill>
                  <a:srgbClr val="F4F3EB"/>
                </a:solidFill>
                <a:latin typeface="Helvetica Neue"/>
                <a:ea typeface="Helvetica Neue"/>
                <a:cs typeface="Helvetica Neue"/>
              </a:defRPr>
            </a:lvl8pPr>
            <a:lvl9pPr>
              <a:defRPr sz="2025" b="0">
                <a:solidFill>
                  <a:srgbClr val="F4F3EB"/>
                </a:solidFill>
                <a:latin typeface="Helvetica Neue"/>
                <a:ea typeface="Helvetica Neue"/>
                <a:cs typeface="Helvetica Neue"/>
              </a:defRPr>
            </a:lvl9pPr>
          </a:lstStyle>
          <a:p xmlns:a="http://schemas.openxmlformats.org/drawingml/2006/main">
            <a:pPr>
              <a:defRPr sz="2025" b="0">
                <a:solidFill>
                  <a:srgbClr val="F4F3EB"/>
                </a:solidFill>
                <a:latin typeface="Helvetica Neue"/>
                <a:ea typeface="Helvetica Neue"/>
                <a:cs typeface="Helvetica Neue"/>
              </a:defRPr>
            </a:pPr>
            <a:r>
              <a:rPr sz="2025" b="0">
                <a:solidFill>
                  <a:srgbClr val="F4F3EB"/>
                </a:solidFill>
                <a:latin typeface="Helvetica Neue"/>
                <a:ea typeface="Helvetica Neue"/>
                <a:cs typeface="Helvetica Neue"/>
              </a:rPr>
              <a:t>Utilization floors on allocated power in some U.S. take-or-pay contracts</a:t>
            </a:r>
          </a:p>
        </p:txBody>
      </p:sp>
      <p:sp>
        <p:nvSpPr>
          <p:cNvPr id="9" name="">
            <a:extLst xmlns:a="http://schemas.openxmlformats.org/drawingml/2006/main">
              <a:ext uri="{FF2B5EF4-FFF2-40B4-BE49-F238E27FC236}">
                <a16:creationId xmlns:a16="http://schemas.microsoft.com/office/drawing/2014/main" id="{7E83F733-F587-4DDB-A54A-95D3E2A2E6E3}"/>
              </a:ext>
            </a:extLst>
          </p:cNvPr>
          <p:cNvSpPr>
            <a:spLocks xmlns:a="http://schemas.openxmlformats.org/drawingml/2006/main" noGrp="1"/>
          </p:cNvSpPr>
          <p:nvPr/>
        </p:nvSpPr>
        <p:spPr>
          <a:xfrm xmlns:a="http://schemas.openxmlformats.org/drawingml/2006/main">
            <a:off x="609600" y="46863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4F3EB"/>
                </a:solidFill>
                <a:latin typeface="Helvetica Neue"/>
                <a:ea typeface="Helvetica Neue"/>
                <a:cs typeface="Helvetica Neue"/>
              </a:defRPr>
            </a:defPPr>
            <a:lvl1pPr>
              <a:defRPr sz="2175" b="0">
                <a:solidFill>
                  <a:srgbClr val="F4F3EB"/>
                </a:solidFill>
                <a:latin typeface="Helvetica Neue"/>
                <a:ea typeface="Helvetica Neue"/>
                <a:cs typeface="Helvetica Neue"/>
              </a:defRPr>
            </a:lvl1pPr>
            <a:lvl2pPr>
              <a:defRPr sz="2175" b="0">
                <a:solidFill>
                  <a:srgbClr val="F4F3EB"/>
                </a:solidFill>
                <a:latin typeface="Helvetica Neue"/>
                <a:ea typeface="Helvetica Neue"/>
                <a:cs typeface="Helvetica Neue"/>
              </a:defRPr>
            </a:lvl2pPr>
            <a:lvl3pPr>
              <a:defRPr sz="2175" b="0">
                <a:solidFill>
                  <a:srgbClr val="F4F3EB"/>
                </a:solidFill>
                <a:latin typeface="Helvetica Neue"/>
                <a:ea typeface="Helvetica Neue"/>
                <a:cs typeface="Helvetica Neue"/>
              </a:defRPr>
            </a:lvl3pPr>
            <a:lvl4pPr>
              <a:defRPr sz="2175" b="0">
                <a:solidFill>
                  <a:srgbClr val="F4F3EB"/>
                </a:solidFill>
                <a:latin typeface="Helvetica Neue"/>
                <a:ea typeface="Helvetica Neue"/>
                <a:cs typeface="Helvetica Neue"/>
              </a:defRPr>
            </a:lvl4pPr>
            <a:lvl5pPr>
              <a:defRPr sz="2175" b="0">
                <a:solidFill>
                  <a:srgbClr val="F4F3EB"/>
                </a:solidFill>
                <a:latin typeface="Helvetica Neue"/>
                <a:ea typeface="Helvetica Neue"/>
                <a:cs typeface="Helvetica Neue"/>
              </a:defRPr>
            </a:lvl5pPr>
            <a:lvl6pPr>
              <a:defRPr sz="2175" b="0">
                <a:solidFill>
                  <a:srgbClr val="F4F3EB"/>
                </a:solidFill>
                <a:latin typeface="Helvetica Neue"/>
                <a:ea typeface="Helvetica Neue"/>
                <a:cs typeface="Helvetica Neue"/>
              </a:defRPr>
            </a:lvl6pPr>
            <a:lvl7pPr>
              <a:defRPr sz="2175" b="0">
                <a:solidFill>
                  <a:srgbClr val="F4F3EB"/>
                </a:solidFill>
                <a:latin typeface="Helvetica Neue"/>
                <a:ea typeface="Helvetica Neue"/>
                <a:cs typeface="Helvetica Neue"/>
              </a:defRPr>
            </a:lvl7pPr>
            <a:lvl8pPr>
              <a:defRPr sz="2175" b="0">
                <a:solidFill>
                  <a:srgbClr val="F4F3EB"/>
                </a:solidFill>
                <a:latin typeface="Helvetica Neue"/>
                <a:ea typeface="Helvetica Neue"/>
                <a:cs typeface="Helvetica Neue"/>
              </a:defRPr>
            </a:lvl8pPr>
            <a:lvl9pPr>
              <a:defRPr sz="2175" b="0">
                <a:solidFill>
                  <a:srgbClr val="F4F3EB"/>
                </a:solidFill>
                <a:latin typeface="Helvetica Neue"/>
                <a:ea typeface="Helvetica Neue"/>
                <a:cs typeface="Helvetica Neue"/>
              </a:defRPr>
            </a:lvl9pPr>
          </a:lstStyle>
          <a:p xmlns:a="http://schemas.openxmlformats.org/drawingml/2006/main">
            <a:pPr>
              <a:defRPr sz="2175" b="0">
                <a:solidFill>
                  <a:srgbClr val="F4F3EB"/>
                </a:solidFill>
                <a:latin typeface="Helvetica Neue"/>
                <a:ea typeface="Helvetica Neue"/>
                <a:cs typeface="Helvetica Neue"/>
              </a:defRPr>
            </a:pPr>
            <a:r>
              <a:rPr sz="2175" b="0">
                <a:solidFill>
                  <a:srgbClr val="F4F3EB"/>
                </a:solidFill>
                <a:latin typeface="Helvetica Neue"/>
                <a:ea typeface="Helvetica Neue"/>
                <a:cs typeface="Helvetica Neue"/>
              </a:rPr>
              <a:t>A lower meter reading may not lower an invoice while a contract minimum still applies.</a:t>
            </a:r>
          </a:p>
        </p:txBody>
      </p:sp>
      <p:sp>
        <p:nvSpPr>
          <p:cNvPr id="10" name="">
            <a:extLst xmlns:a="http://schemas.openxmlformats.org/drawingml/2006/main">
              <a:ext uri="{FF2B5EF4-FFF2-40B4-BE49-F238E27FC236}">
                <a16:creationId xmlns:a16="http://schemas.microsoft.com/office/drawing/2014/main" id="{0CBB37F4-D5D8-4D89-AB31-3AA71C2BBD41}"/>
              </a:ext>
            </a:extLst>
          </p:cNvPr>
          <p:cNvSpPr>
            <a:spLocks xmlns:a="http://schemas.openxmlformats.org/drawingml/2006/main" noGrp="1"/>
          </p:cNvSpPr>
          <p:nvPr/>
        </p:nvSpPr>
        <p:spPr>
          <a:xfrm xmlns:a="http://schemas.openxmlformats.org/drawingml/2006/main">
            <a:off x="609600" y="54006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BABDB0"/>
                </a:solidFill>
                <a:latin typeface="Helvetica Neue"/>
                <a:ea typeface="Helvetica Neue"/>
                <a:cs typeface="Helvetica Neue"/>
              </a:defRPr>
            </a:defPPr>
            <a:lvl1pPr>
              <a:defRPr sz="1575" b="0">
                <a:solidFill>
                  <a:srgbClr val="BABDB0"/>
                </a:solidFill>
                <a:latin typeface="Helvetica Neue"/>
                <a:ea typeface="Helvetica Neue"/>
                <a:cs typeface="Helvetica Neue"/>
              </a:defRPr>
            </a:lvl1pPr>
            <a:lvl2pPr>
              <a:defRPr sz="1575" b="0">
                <a:solidFill>
                  <a:srgbClr val="BABDB0"/>
                </a:solidFill>
                <a:latin typeface="Helvetica Neue"/>
                <a:ea typeface="Helvetica Neue"/>
                <a:cs typeface="Helvetica Neue"/>
              </a:defRPr>
            </a:lvl2pPr>
            <a:lvl3pPr>
              <a:defRPr sz="1575" b="0">
                <a:solidFill>
                  <a:srgbClr val="BABDB0"/>
                </a:solidFill>
                <a:latin typeface="Helvetica Neue"/>
                <a:ea typeface="Helvetica Neue"/>
                <a:cs typeface="Helvetica Neue"/>
              </a:defRPr>
            </a:lvl3pPr>
            <a:lvl4pPr>
              <a:defRPr sz="1575" b="0">
                <a:solidFill>
                  <a:srgbClr val="BABDB0"/>
                </a:solidFill>
                <a:latin typeface="Helvetica Neue"/>
                <a:ea typeface="Helvetica Neue"/>
                <a:cs typeface="Helvetica Neue"/>
              </a:defRPr>
            </a:lvl4pPr>
            <a:lvl5pPr>
              <a:defRPr sz="1575" b="0">
                <a:solidFill>
                  <a:srgbClr val="BABDB0"/>
                </a:solidFill>
                <a:latin typeface="Helvetica Neue"/>
                <a:ea typeface="Helvetica Neue"/>
                <a:cs typeface="Helvetica Neue"/>
              </a:defRPr>
            </a:lvl5pPr>
            <a:lvl6pPr>
              <a:defRPr sz="1575" b="0">
                <a:solidFill>
                  <a:srgbClr val="BABDB0"/>
                </a:solidFill>
                <a:latin typeface="Helvetica Neue"/>
                <a:ea typeface="Helvetica Neue"/>
                <a:cs typeface="Helvetica Neue"/>
              </a:defRPr>
            </a:lvl6pPr>
            <a:lvl7pPr>
              <a:defRPr sz="1575" b="0">
                <a:solidFill>
                  <a:srgbClr val="BABDB0"/>
                </a:solidFill>
                <a:latin typeface="Helvetica Neue"/>
                <a:ea typeface="Helvetica Neue"/>
                <a:cs typeface="Helvetica Neue"/>
              </a:defRPr>
            </a:lvl7pPr>
            <a:lvl8pPr>
              <a:defRPr sz="1575" b="0">
                <a:solidFill>
                  <a:srgbClr val="BABDB0"/>
                </a:solidFill>
                <a:latin typeface="Helvetica Neue"/>
                <a:ea typeface="Helvetica Neue"/>
                <a:cs typeface="Helvetica Neue"/>
              </a:defRPr>
            </a:lvl8pPr>
            <a:lvl9pPr>
              <a:defRPr sz="1575" b="0">
                <a:solidFill>
                  <a:srgbClr val="BABDB0"/>
                </a:solidFill>
                <a:latin typeface="Helvetica Neue"/>
                <a:ea typeface="Helvetica Neue"/>
                <a:cs typeface="Helvetica Neue"/>
              </a:defRPr>
            </a:lvl9pPr>
          </a:lstStyle>
          <a:p xmlns:a="http://schemas.openxmlformats.org/drawingml/2006/main">
            <a:pPr>
              <a:defRPr sz="1575" b="0">
                <a:solidFill>
                  <a:srgbClr val="BABDB0"/>
                </a:solidFill>
                <a:latin typeface="Helvetica Neue"/>
                <a:ea typeface="Helvetica Neue"/>
                <a:cs typeface="Helvetica Neue"/>
              </a:defRPr>
            </a:pPr>
            <a:r>
              <a:rPr sz="1575" b="0">
                <a:solidFill>
                  <a:srgbClr val="BABDB0"/>
                </a:solidFill>
                <a:latin typeface="Helvetica Neue"/>
                <a:ea typeface="Helvetica Neue"/>
                <a:cs typeface="Helvetica Neue"/>
              </a:rPr>
              <a:t>Contract terms vary by facility and agreement.</a:t>
            </a:r>
          </a:p>
        </p:txBody>
      </p:sp>
      <p:sp>
        <p:nvSpPr>
          <p:cNvPr id="11" name="">
            <a:extLst xmlns:a="http://schemas.openxmlformats.org/drawingml/2006/main">
              <a:ext uri="{FF2B5EF4-FFF2-40B4-BE49-F238E27FC236}">
                <a16:creationId xmlns:a16="http://schemas.microsoft.com/office/drawing/2014/main" id="{FC56A2B1-87EF-4F16-BE9D-BC43980268BC}"/>
              </a:ext>
            </a:extLst>
          </p:cNvPr>
          <p:cNvSpPr>
            <a:spLocks xmlns:a="http://schemas.openxmlformats.org/drawingml/2006/main" noGrp="1"/>
          </p:cNvSpPr>
          <p:nvPr/>
        </p:nvSpPr>
        <p:spPr>
          <a:xfrm xmlns:a="http://schemas.openxmlformats.org/drawingml/2006/main">
            <a:off x="609600" y="5943600"/>
            <a:ext cx="1093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ABDB0"/>
                </a:solidFill>
                <a:latin typeface="Helvetica Neue"/>
                <a:ea typeface="Helvetica Neue"/>
                <a:cs typeface="Helvetica Neue"/>
              </a:defRPr>
            </a:defPPr>
            <a:lvl1pPr>
              <a:defRPr sz="1275" b="0">
                <a:solidFill>
                  <a:srgbClr val="BABDB0"/>
                </a:solidFill>
                <a:latin typeface="Helvetica Neue"/>
                <a:ea typeface="Helvetica Neue"/>
                <a:cs typeface="Helvetica Neue"/>
              </a:defRPr>
            </a:lvl1pPr>
            <a:lvl2pPr>
              <a:defRPr sz="1275" b="0">
                <a:solidFill>
                  <a:srgbClr val="BABDB0"/>
                </a:solidFill>
                <a:latin typeface="Helvetica Neue"/>
                <a:ea typeface="Helvetica Neue"/>
                <a:cs typeface="Helvetica Neue"/>
              </a:defRPr>
            </a:lvl2pPr>
            <a:lvl3pPr>
              <a:defRPr sz="1275" b="0">
                <a:solidFill>
                  <a:srgbClr val="BABDB0"/>
                </a:solidFill>
                <a:latin typeface="Helvetica Neue"/>
                <a:ea typeface="Helvetica Neue"/>
                <a:cs typeface="Helvetica Neue"/>
              </a:defRPr>
            </a:lvl3pPr>
            <a:lvl4pPr>
              <a:defRPr sz="1275" b="0">
                <a:solidFill>
                  <a:srgbClr val="BABDB0"/>
                </a:solidFill>
                <a:latin typeface="Helvetica Neue"/>
                <a:ea typeface="Helvetica Neue"/>
                <a:cs typeface="Helvetica Neue"/>
              </a:defRPr>
            </a:lvl4pPr>
            <a:lvl5pPr>
              <a:defRPr sz="1275" b="0">
                <a:solidFill>
                  <a:srgbClr val="BABDB0"/>
                </a:solidFill>
                <a:latin typeface="Helvetica Neue"/>
                <a:ea typeface="Helvetica Neue"/>
                <a:cs typeface="Helvetica Neue"/>
              </a:defRPr>
            </a:lvl5pPr>
            <a:lvl6pPr>
              <a:defRPr sz="1275" b="0">
                <a:solidFill>
                  <a:srgbClr val="BABDB0"/>
                </a:solidFill>
                <a:latin typeface="Helvetica Neue"/>
                <a:ea typeface="Helvetica Neue"/>
                <a:cs typeface="Helvetica Neue"/>
              </a:defRPr>
            </a:lvl6pPr>
            <a:lvl7pPr>
              <a:defRPr sz="1275" b="0">
                <a:solidFill>
                  <a:srgbClr val="BABDB0"/>
                </a:solidFill>
                <a:latin typeface="Helvetica Neue"/>
                <a:ea typeface="Helvetica Neue"/>
                <a:cs typeface="Helvetica Neue"/>
              </a:defRPr>
            </a:lvl7pPr>
            <a:lvl8pPr>
              <a:defRPr sz="1275" b="0">
                <a:solidFill>
                  <a:srgbClr val="BABDB0"/>
                </a:solidFill>
                <a:latin typeface="Helvetica Neue"/>
                <a:ea typeface="Helvetica Neue"/>
                <a:cs typeface="Helvetica Neue"/>
              </a:defRPr>
            </a:lvl8pPr>
            <a:lvl9pPr>
              <a:defRPr sz="1275" b="0">
                <a:solidFill>
                  <a:srgbClr val="BABDB0"/>
                </a:solidFill>
                <a:latin typeface="Helvetica Neue"/>
                <a:ea typeface="Helvetica Neue"/>
                <a:cs typeface="Helvetica Neue"/>
              </a:defRPr>
            </a:lvl9pPr>
          </a:lstStyle>
          <a:p xmlns:a="http://schemas.openxmlformats.org/drawingml/2006/main">
            <a:pPr>
              <a:defRPr sz="1275" b="0">
                <a:solidFill>
                  <a:srgbClr val="BABDB0"/>
                </a:solidFill>
                <a:latin typeface="Helvetica Neue"/>
                <a:ea typeface="Helvetica Neue"/>
                <a:cs typeface="Helvetica Neue"/>
              </a:defRPr>
            </a:pPr>
            <a:r>
              <a:rPr sz="1275" b="0">
                <a:solidFill>
                  <a:srgbClr val="BABDB0"/>
                </a:solidFill>
                <a:latin typeface="Helvetica Neue"/>
                <a:ea typeface="Helvetica Neue"/>
                <a:cs typeface="Helvetica Neue"/>
              </a:rPr>
              <a:t>Source: CBRE, North America Data Center Trends, H1 2026</a:t>
            </a:r>
          </a:p>
        </p:txBody>
      </p:sp>
    </p:spTree>
    <p:extLst>
      <p:ext uri="{BB962C8B-B14F-4D97-AF65-F5344CB8AC3E}">
        <p14:creationId xmlns:p14="http://schemas.microsoft.com/office/powerpoint/2010/main" val="1634826641"/>
      </p:ext>
    </p:extLst>
  </p:cSld>
</p:sld>
</file>

<file path=ppt/slides/slide4.xml><?xml version="1.0" encoding="utf-8"?>
<p:sld xmlns:p="http://schemas.openxmlformats.org/presentationml/2006/main">
  <p:cSld>
    <p:bg>
      <p:bgPr>
        <a:solidFill xmlns:a="http://schemas.openxmlformats.org/drawingml/2006/main">
          <a:srgbClr val="EEEEE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7B30AD1-ADD7-4774-8FB4-B24E9457B385}"/>
              </a:ext>
            </a:extLst>
          </p:cNvPr>
          <p:cNvSpPr>
            <a:spLocks xmlns:a="http://schemas.openxmlformats.org/drawingml/2006/main" noGrp="1"/>
          </p:cNvSpPr>
          <p:nvPr/>
        </p:nvSpPr>
        <p:spPr>
          <a:xfrm xmlns:a="http://schemas.openxmlformats.org/drawingml/2006/main">
            <a:off x="609600" y="3429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575E43"/>
                </a:solidFill>
                <a:latin typeface="Helvetica Neue"/>
                <a:ea typeface="Helvetica Neue"/>
                <a:cs typeface="Helvetica Neue"/>
              </a:defRPr>
            </a:defPPr>
            <a:lvl1pPr>
              <a:defRPr sz="1125" b="1">
                <a:solidFill>
                  <a:srgbClr val="575E43"/>
                </a:solidFill>
                <a:latin typeface="Helvetica Neue"/>
                <a:ea typeface="Helvetica Neue"/>
                <a:cs typeface="Helvetica Neue"/>
              </a:defRPr>
            </a:lvl1pPr>
            <a:lvl2pPr>
              <a:defRPr sz="1125" b="1">
                <a:solidFill>
                  <a:srgbClr val="575E43"/>
                </a:solidFill>
                <a:latin typeface="Helvetica Neue"/>
                <a:ea typeface="Helvetica Neue"/>
                <a:cs typeface="Helvetica Neue"/>
              </a:defRPr>
            </a:lvl2pPr>
            <a:lvl3pPr>
              <a:defRPr sz="1125" b="1">
                <a:solidFill>
                  <a:srgbClr val="575E43"/>
                </a:solidFill>
                <a:latin typeface="Helvetica Neue"/>
                <a:ea typeface="Helvetica Neue"/>
                <a:cs typeface="Helvetica Neue"/>
              </a:defRPr>
            </a:lvl3pPr>
            <a:lvl4pPr>
              <a:defRPr sz="1125" b="1">
                <a:solidFill>
                  <a:srgbClr val="575E43"/>
                </a:solidFill>
                <a:latin typeface="Helvetica Neue"/>
                <a:ea typeface="Helvetica Neue"/>
                <a:cs typeface="Helvetica Neue"/>
              </a:defRPr>
            </a:lvl4pPr>
            <a:lvl5pPr>
              <a:defRPr sz="1125" b="1">
                <a:solidFill>
                  <a:srgbClr val="575E43"/>
                </a:solidFill>
                <a:latin typeface="Helvetica Neue"/>
                <a:ea typeface="Helvetica Neue"/>
                <a:cs typeface="Helvetica Neue"/>
              </a:defRPr>
            </a:lvl5pPr>
            <a:lvl6pPr>
              <a:defRPr sz="1125" b="1">
                <a:solidFill>
                  <a:srgbClr val="575E43"/>
                </a:solidFill>
                <a:latin typeface="Helvetica Neue"/>
                <a:ea typeface="Helvetica Neue"/>
                <a:cs typeface="Helvetica Neue"/>
              </a:defRPr>
            </a:lvl6pPr>
            <a:lvl7pPr>
              <a:defRPr sz="1125" b="1">
                <a:solidFill>
                  <a:srgbClr val="575E43"/>
                </a:solidFill>
                <a:latin typeface="Helvetica Neue"/>
                <a:ea typeface="Helvetica Neue"/>
                <a:cs typeface="Helvetica Neue"/>
              </a:defRPr>
            </a:lvl7pPr>
            <a:lvl8pPr>
              <a:defRPr sz="1125" b="1">
                <a:solidFill>
                  <a:srgbClr val="575E43"/>
                </a:solidFill>
                <a:latin typeface="Helvetica Neue"/>
                <a:ea typeface="Helvetica Neue"/>
                <a:cs typeface="Helvetica Neue"/>
              </a:defRPr>
            </a:lvl8pPr>
            <a:lvl9pPr>
              <a:defRPr sz="1125" b="1">
                <a:solidFill>
                  <a:srgbClr val="575E43"/>
                </a:solidFill>
                <a:latin typeface="Helvetica Neue"/>
                <a:ea typeface="Helvetica Neue"/>
                <a:cs typeface="Helvetica Neue"/>
              </a:defRPr>
            </a:lvl9pPr>
          </a:lstStyle>
          <a:p xmlns:a="http://schemas.openxmlformats.org/drawingml/2006/main">
            <a:pPr>
              <a:defRPr sz="1125" b="1">
                <a:solidFill>
                  <a:srgbClr val="575E43"/>
                </a:solidFill>
                <a:latin typeface="Helvetica Neue"/>
                <a:ea typeface="Helvetica Neue"/>
                <a:cs typeface="Helvetica Neue"/>
              </a:defRPr>
            </a:pPr>
            <a:r>
              <a:rPr sz="1125" b="1">
                <a:solidFill>
                  <a:srgbClr val="575E43"/>
                </a:solidFill>
                <a:latin typeface="Helvetica Neue"/>
                <a:ea typeface="Helvetica Neue"/>
                <a:cs typeface="Helvetica Neue"/>
              </a:rPr>
              <a:t>THE MEASUREMENT GAP / PUE AND IT WORK</a:t>
            </a:r>
          </a:p>
        </p:txBody>
      </p:sp>
      <p:sp>
        <p:nvSpPr>
          <p:cNvPr id="2" name="">
            <a:extLst xmlns:a="http://schemas.openxmlformats.org/drawingml/2006/main">
              <a:ext uri="{FF2B5EF4-FFF2-40B4-BE49-F238E27FC236}">
                <a16:creationId xmlns:a16="http://schemas.microsoft.com/office/drawing/2014/main" id="{CDA6F7C6-139C-4510-B070-59197B3C322C}"/>
              </a:ext>
            </a:extLst>
          </p:cNvPr>
          <p:cNvSpPr>
            <a:spLocks xmlns:a="http://schemas.openxmlformats.org/drawingml/2006/main" noGrp="1"/>
          </p:cNvSpPr>
          <p:nvPr/>
        </p:nvSpPr>
        <p:spPr>
          <a:xfrm xmlns:a="http://schemas.openxmlformats.org/drawingml/2006/main">
            <a:off x="609600" y="914400"/>
            <a:ext cx="109728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171A12"/>
                </a:solidFill>
                <a:latin typeface="Helvetica Neue"/>
                <a:ea typeface="Helvetica Neue"/>
                <a:cs typeface="Helvetica Neue"/>
              </a:defRPr>
            </a:defPPr>
            <a:lvl1pPr>
              <a:defRPr sz="3900" b="0">
                <a:solidFill>
                  <a:srgbClr val="171A12"/>
                </a:solidFill>
                <a:latin typeface="Helvetica Neue"/>
                <a:ea typeface="Helvetica Neue"/>
                <a:cs typeface="Helvetica Neue"/>
              </a:defRPr>
            </a:lvl1pPr>
            <a:lvl2pPr>
              <a:defRPr sz="3900" b="0">
                <a:solidFill>
                  <a:srgbClr val="171A12"/>
                </a:solidFill>
                <a:latin typeface="Helvetica Neue"/>
                <a:ea typeface="Helvetica Neue"/>
                <a:cs typeface="Helvetica Neue"/>
              </a:defRPr>
            </a:lvl2pPr>
            <a:lvl3pPr>
              <a:defRPr sz="3900" b="0">
                <a:solidFill>
                  <a:srgbClr val="171A12"/>
                </a:solidFill>
                <a:latin typeface="Helvetica Neue"/>
                <a:ea typeface="Helvetica Neue"/>
                <a:cs typeface="Helvetica Neue"/>
              </a:defRPr>
            </a:lvl3pPr>
            <a:lvl4pPr>
              <a:defRPr sz="3900" b="0">
                <a:solidFill>
                  <a:srgbClr val="171A12"/>
                </a:solidFill>
                <a:latin typeface="Helvetica Neue"/>
                <a:ea typeface="Helvetica Neue"/>
                <a:cs typeface="Helvetica Neue"/>
              </a:defRPr>
            </a:lvl4pPr>
            <a:lvl5pPr>
              <a:defRPr sz="3900" b="0">
                <a:solidFill>
                  <a:srgbClr val="171A12"/>
                </a:solidFill>
                <a:latin typeface="Helvetica Neue"/>
                <a:ea typeface="Helvetica Neue"/>
                <a:cs typeface="Helvetica Neue"/>
              </a:defRPr>
            </a:lvl5pPr>
            <a:lvl6pPr>
              <a:defRPr sz="3900" b="0">
                <a:solidFill>
                  <a:srgbClr val="171A12"/>
                </a:solidFill>
                <a:latin typeface="Helvetica Neue"/>
                <a:ea typeface="Helvetica Neue"/>
                <a:cs typeface="Helvetica Neue"/>
              </a:defRPr>
            </a:lvl6pPr>
            <a:lvl7pPr>
              <a:defRPr sz="3900" b="0">
                <a:solidFill>
                  <a:srgbClr val="171A12"/>
                </a:solidFill>
                <a:latin typeface="Helvetica Neue"/>
                <a:ea typeface="Helvetica Neue"/>
                <a:cs typeface="Helvetica Neue"/>
              </a:defRPr>
            </a:lvl7pPr>
            <a:lvl8pPr>
              <a:defRPr sz="3900" b="0">
                <a:solidFill>
                  <a:srgbClr val="171A12"/>
                </a:solidFill>
                <a:latin typeface="Helvetica Neue"/>
                <a:ea typeface="Helvetica Neue"/>
                <a:cs typeface="Helvetica Neue"/>
              </a:defRPr>
            </a:lvl8pPr>
            <a:lvl9pPr>
              <a:defRPr sz="3900" b="0">
                <a:solidFill>
                  <a:srgbClr val="171A12"/>
                </a:solidFill>
                <a:latin typeface="Helvetica Neue"/>
                <a:ea typeface="Helvetica Neue"/>
                <a:cs typeface="Helvetica Neue"/>
              </a:defRPr>
            </a:lvl9pPr>
          </a:lstStyle>
          <a:p xmlns:a="http://schemas.openxmlformats.org/drawingml/2006/main">
            <a:pPr>
              <a:defRPr sz="3900" b="0">
                <a:solidFill>
                  <a:srgbClr val="171A12"/>
                </a:solidFill>
                <a:latin typeface="Helvetica Neue"/>
                <a:ea typeface="Helvetica Neue"/>
                <a:cs typeface="Helvetica Neue"/>
              </a:defRPr>
            </a:pPr>
            <a:r>
              <a:rPr sz="3900" b="0">
                <a:solidFill>
                  <a:srgbClr val="171A12"/>
                </a:solidFill>
                <a:latin typeface="Helvetica Neue"/>
                <a:ea typeface="Helvetica Neue"/>
                <a:cs typeface="Helvetica Neue"/>
              </a:rPr>
              <a:t>Facility and workload efficiency answer different questions</a:t>
            </a:r>
          </a:p>
        </p:txBody>
      </p:sp>
      <p:sp>
        <p:nvSpPr>
          <p:cNvPr id="3" name="">
            <a:extLst xmlns:a="http://schemas.openxmlformats.org/drawingml/2006/main">
              <a:ext uri="{FF2B5EF4-FFF2-40B4-BE49-F238E27FC236}">
                <a16:creationId xmlns:a16="http://schemas.microsoft.com/office/drawing/2014/main" id="{8E76A48C-8D4D-46C9-96B0-3297DE441983}"/>
              </a:ext>
            </a:extLst>
          </p:cNvPr>
          <p:cNvSpPr>
            <a:spLocks xmlns:a="http://schemas.openxmlformats.org/drawingml/2006/main" noGrp="1"/>
          </p:cNvSpPr>
          <p:nvPr/>
        </p:nvSpPr>
        <p:spPr>
          <a:xfrm xmlns:a="http://schemas.openxmlformats.org/drawingml/2006/main">
            <a:off x="609600" y="644842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75E43"/>
                </a:solidFill>
                <a:latin typeface="Helvetica Neue"/>
                <a:ea typeface="Helvetica Neue"/>
                <a:cs typeface="Helvetica Neue"/>
              </a:defRPr>
            </a:defPPr>
            <a:lvl1pPr>
              <a:defRPr sz="900" b="0">
                <a:solidFill>
                  <a:srgbClr val="575E43"/>
                </a:solidFill>
                <a:latin typeface="Helvetica Neue"/>
                <a:ea typeface="Helvetica Neue"/>
                <a:cs typeface="Helvetica Neue"/>
              </a:defRPr>
            </a:lvl1pPr>
            <a:lvl2pPr>
              <a:defRPr sz="900" b="0">
                <a:solidFill>
                  <a:srgbClr val="575E43"/>
                </a:solidFill>
                <a:latin typeface="Helvetica Neue"/>
                <a:ea typeface="Helvetica Neue"/>
                <a:cs typeface="Helvetica Neue"/>
              </a:defRPr>
            </a:lvl2pPr>
            <a:lvl3pPr>
              <a:defRPr sz="900" b="0">
                <a:solidFill>
                  <a:srgbClr val="575E43"/>
                </a:solidFill>
                <a:latin typeface="Helvetica Neue"/>
                <a:ea typeface="Helvetica Neue"/>
                <a:cs typeface="Helvetica Neue"/>
              </a:defRPr>
            </a:lvl3pPr>
            <a:lvl4pPr>
              <a:defRPr sz="900" b="0">
                <a:solidFill>
                  <a:srgbClr val="575E43"/>
                </a:solidFill>
                <a:latin typeface="Helvetica Neue"/>
                <a:ea typeface="Helvetica Neue"/>
                <a:cs typeface="Helvetica Neue"/>
              </a:defRPr>
            </a:lvl4pPr>
            <a:lvl5pPr>
              <a:defRPr sz="900" b="0">
                <a:solidFill>
                  <a:srgbClr val="575E43"/>
                </a:solidFill>
                <a:latin typeface="Helvetica Neue"/>
                <a:ea typeface="Helvetica Neue"/>
                <a:cs typeface="Helvetica Neue"/>
              </a:defRPr>
            </a:lvl5pPr>
            <a:lvl6pPr>
              <a:defRPr sz="900" b="0">
                <a:solidFill>
                  <a:srgbClr val="575E43"/>
                </a:solidFill>
                <a:latin typeface="Helvetica Neue"/>
                <a:ea typeface="Helvetica Neue"/>
                <a:cs typeface="Helvetica Neue"/>
              </a:defRPr>
            </a:lvl6pPr>
            <a:lvl7pPr>
              <a:defRPr sz="900" b="0">
                <a:solidFill>
                  <a:srgbClr val="575E43"/>
                </a:solidFill>
                <a:latin typeface="Helvetica Neue"/>
                <a:ea typeface="Helvetica Neue"/>
                <a:cs typeface="Helvetica Neue"/>
              </a:defRPr>
            </a:lvl7pPr>
            <a:lvl8pPr>
              <a:defRPr sz="900" b="0">
                <a:solidFill>
                  <a:srgbClr val="575E43"/>
                </a:solidFill>
                <a:latin typeface="Helvetica Neue"/>
                <a:ea typeface="Helvetica Neue"/>
                <a:cs typeface="Helvetica Neue"/>
              </a:defRPr>
            </a:lvl8pPr>
            <a:lvl9pPr>
              <a:defRPr sz="900" b="0">
                <a:solidFill>
                  <a:srgbClr val="575E43"/>
                </a:solidFill>
                <a:latin typeface="Helvetica Neue"/>
                <a:ea typeface="Helvetica Neue"/>
                <a:cs typeface="Helvetica Neue"/>
              </a:defRPr>
            </a:lvl9pPr>
          </a:lstStyle>
          <a:p xmlns:a="http://schemas.openxmlformats.org/drawingml/2006/main">
            <a:pPr>
              <a:defRPr sz="900" b="0">
                <a:solidFill>
                  <a:srgbClr val="575E43"/>
                </a:solidFill>
                <a:latin typeface="Helvetica Neue"/>
                <a:ea typeface="Helvetica Neue"/>
                <a:cs typeface="Helvetica Neue"/>
              </a:defRPr>
            </a:pPr>
            <a:r>
              <a:rPr sz="900" b="0">
                <a:solidFill>
                  <a:srgbClr val="575E43"/>
                </a:solidFill>
                <a:latin typeface="Helvetica Neue"/>
                <a:ea typeface="Helvetica Neue"/>
                <a:cs typeface="Helvetica Neue"/>
              </a:rPr>
              <a:t>E FOR ENERGY</a:t>
            </a:r>
          </a:p>
        </p:txBody>
      </p:sp>
      <p:sp>
        <p:nvSpPr>
          <p:cNvPr id="4" name="">
            <a:extLst xmlns:a="http://schemas.openxmlformats.org/drawingml/2006/main">
              <a:ext uri="{FF2B5EF4-FFF2-40B4-BE49-F238E27FC236}">
                <a16:creationId xmlns:a16="http://schemas.microsoft.com/office/drawing/2014/main" id="{85031601-C54F-4A1B-BD48-A3BEF1FC07F5}"/>
              </a:ext>
            </a:extLst>
          </p:cNvPr>
          <p:cNvSpPr>
            <a:spLocks xmlns:a="http://schemas.openxmlformats.org/drawingml/2006/main" noGrp="1"/>
          </p:cNvSpPr>
          <p:nvPr/>
        </p:nvSpPr>
        <p:spPr>
          <a:xfrm xmlns:a="http://schemas.openxmlformats.org/drawingml/2006/main">
            <a:off x="11049000" y="64198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5E43"/>
                </a:solidFill>
                <a:latin typeface="Helvetica Neue"/>
                <a:ea typeface="Helvetica Neue"/>
                <a:cs typeface="Helvetica Neue"/>
              </a:defRPr>
            </a:defPPr>
            <a:lvl1pPr>
              <a:defRPr sz="1200" b="0">
                <a:solidFill>
                  <a:srgbClr val="575E43"/>
                </a:solidFill>
                <a:latin typeface="Helvetica Neue"/>
                <a:ea typeface="Helvetica Neue"/>
                <a:cs typeface="Helvetica Neue"/>
              </a:defRPr>
            </a:lvl1pPr>
            <a:lvl2pPr>
              <a:defRPr sz="1200" b="0">
                <a:solidFill>
                  <a:srgbClr val="575E43"/>
                </a:solidFill>
                <a:latin typeface="Helvetica Neue"/>
                <a:ea typeface="Helvetica Neue"/>
                <a:cs typeface="Helvetica Neue"/>
              </a:defRPr>
            </a:lvl2pPr>
            <a:lvl3pPr>
              <a:defRPr sz="1200" b="0">
                <a:solidFill>
                  <a:srgbClr val="575E43"/>
                </a:solidFill>
                <a:latin typeface="Helvetica Neue"/>
                <a:ea typeface="Helvetica Neue"/>
                <a:cs typeface="Helvetica Neue"/>
              </a:defRPr>
            </a:lvl3pPr>
            <a:lvl4pPr>
              <a:defRPr sz="1200" b="0">
                <a:solidFill>
                  <a:srgbClr val="575E43"/>
                </a:solidFill>
                <a:latin typeface="Helvetica Neue"/>
                <a:ea typeface="Helvetica Neue"/>
                <a:cs typeface="Helvetica Neue"/>
              </a:defRPr>
            </a:lvl4pPr>
            <a:lvl5pPr>
              <a:defRPr sz="1200" b="0">
                <a:solidFill>
                  <a:srgbClr val="575E43"/>
                </a:solidFill>
                <a:latin typeface="Helvetica Neue"/>
                <a:ea typeface="Helvetica Neue"/>
                <a:cs typeface="Helvetica Neue"/>
              </a:defRPr>
            </a:lvl5pPr>
            <a:lvl6pPr>
              <a:defRPr sz="1200" b="0">
                <a:solidFill>
                  <a:srgbClr val="575E43"/>
                </a:solidFill>
                <a:latin typeface="Helvetica Neue"/>
                <a:ea typeface="Helvetica Neue"/>
                <a:cs typeface="Helvetica Neue"/>
              </a:defRPr>
            </a:lvl6pPr>
            <a:lvl7pPr>
              <a:defRPr sz="1200" b="0">
                <a:solidFill>
                  <a:srgbClr val="575E43"/>
                </a:solidFill>
                <a:latin typeface="Helvetica Neue"/>
                <a:ea typeface="Helvetica Neue"/>
                <a:cs typeface="Helvetica Neue"/>
              </a:defRPr>
            </a:lvl7pPr>
            <a:lvl8pPr>
              <a:defRPr sz="1200" b="0">
                <a:solidFill>
                  <a:srgbClr val="575E43"/>
                </a:solidFill>
                <a:latin typeface="Helvetica Neue"/>
                <a:ea typeface="Helvetica Neue"/>
                <a:cs typeface="Helvetica Neue"/>
              </a:defRPr>
            </a:lvl8pPr>
            <a:lvl9pPr>
              <a:defRPr sz="1200" b="0">
                <a:solidFill>
                  <a:srgbClr val="575E43"/>
                </a:solidFill>
                <a:latin typeface="Helvetica Neue"/>
                <a:ea typeface="Helvetica Neue"/>
                <a:cs typeface="Helvetica Neue"/>
              </a:defRPr>
            </a:lvl9pPr>
          </a:lstStyle>
          <a:p xmlns:a="http://schemas.openxmlformats.org/drawingml/2006/main">
            <a:pPr>
              <a:defRPr sz="1200" b="0">
                <a:solidFill>
                  <a:srgbClr val="575E43"/>
                </a:solidFill>
                <a:latin typeface="Helvetica Neue"/>
                <a:ea typeface="Helvetica Neue"/>
                <a:cs typeface="Helvetica Neue"/>
              </a:defRPr>
            </a:pPr>
            <a:r>
              <a:rPr sz="1200" b="0">
                <a:solidFill>
                  <a:srgbClr val="575E43"/>
                </a:solidFill>
                <a:latin typeface="Helvetica Neue"/>
                <a:ea typeface="Helvetica Neue"/>
                <a:cs typeface="Helvetica Neue"/>
              </a:rPr>
              <a:t>04</a:t>
            </a:r>
          </a:p>
        </p:txBody>
      </p:sp>
      <p:graphicFrame>
        <p:nvGraphicFramePr>
          <p:cNvPr id="5" name="">
            <a:extLst xmlns:a="http://schemas.openxmlformats.org/drawingml/2006/main">
              <a:ext uri="{FF2B5EF4-FFF2-40B4-BE49-F238E27FC236}">
                <a16:creationId xmlns:a16="http://schemas.microsoft.com/office/drawing/2014/main" id="{47DE7EE1-3783-4ABD-9177-5F3E5427B614}"/>
              </a:ext>
            </a:extLst>
          </p:cNvPr>
          <p:cNvGraphicFramePr/>
          <p:nvPr/>
        </p:nvGraphicFramePr>
        <p:xfrm>
          <a:off xmlns:a="http://schemas.openxmlformats.org/drawingml/2006/main" x="609600" y="2647950"/>
          <a:ext xmlns:a="http://schemas.openxmlformats.org/drawingml/2006/main" cx="10972800" cy="2381250"/>
        </p:xfrm>
        <a:graphic xmlns:a="http://schemas.openxmlformats.org/drawingml/2006/main">
          <a:graphicData uri="http://schemas.openxmlformats.org/drawingml/2006/table">
            <a:tbl>
              <a:tblPr/>
              <a:tblGrid>
                <a:gridCol w="2524125"/>
                <a:gridCol w="4095750"/>
                <a:gridCol w="4352925"/>
              </a:tblGrid>
              <a:tr h="793750">
                <a:tc>
                  <a:txBody>
                    <a:bodyPr/>
                    <a:lstStyle/>
                    <a:p>
                      <a:r>
                        <a:rPr sz="1500" b="1">
                          <a:solidFill>
                            <a:srgbClr val="F4F3EB"/>
                          </a:solidFill>
                          <a:latin typeface="Helvetica Neue"/>
                          <a:ea typeface="Helvetica Neue"/>
                          <a:cs typeface="Helvetica Neue"/>
                        </a:rPr>
                        <a:t>Measure</a:t>
                      </a:r>
                    </a:p>
                  </a:txBody>
                  <a:tcPr marL="91440" marR="91440" marT="45720" marB="45720">
                    <a:lnL w="4763">
                      <a:solidFill>
                        <a:srgbClr val="C5C8B9"/>
                      </a:solidFill>
                      <a:prstDash val="solid"/>
                    </a:lnL>
                    <a:lnR w="4763">
                      <a:solidFill>
                        <a:srgbClr val="C5C8B9"/>
                      </a:solidFill>
                      <a:prstDash val="solid"/>
                    </a:lnR>
                    <a:lnT w="4763">
                      <a:solidFill>
                        <a:srgbClr val="C5C8B9"/>
                      </a:solidFill>
                      <a:prstDash val="solid"/>
                    </a:lnT>
                    <a:lnB w="4763">
                      <a:solidFill>
                        <a:srgbClr val="C5C8B9"/>
                      </a:solidFill>
                      <a:prstDash val="solid"/>
                    </a:lnB>
                    <a:solidFill>
                      <a:srgbClr val="24271D"/>
                    </a:solidFill>
                  </a:tcPr>
                </a:tc>
                <a:tc>
                  <a:txBody>
                    <a:bodyPr/>
                    <a:lstStyle/>
                    <a:p>
                      <a:r>
                        <a:rPr sz="1500" b="1">
                          <a:solidFill>
                            <a:srgbClr val="F4F3EB"/>
                          </a:solidFill>
                          <a:latin typeface="Helvetica Neue"/>
                          <a:ea typeface="Helvetica Neue"/>
                          <a:cs typeface="Helvetica Neue"/>
                        </a:rPr>
                        <a:t>Question it answers</a:t>
                      </a:r>
                    </a:p>
                  </a:txBody>
                  <a:tcPr marL="91440" marR="91440" marT="45720" marB="45720">
                    <a:lnR w="4763">
                      <a:solidFill>
                        <a:srgbClr val="C5C8B9"/>
                      </a:solidFill>
                      <a:prstDash val="solid"/>
                    </a:lnR>
                    <a:lnT w="4763">
                      <a:solidFill>
                        <a:srgbClr val="C5C8B9"/>
                      </a:solidFill>
                      <a:prstDash val="solid"/>
                    </a:lnT>
                    <a:lnB w="4763">
                      <a:solidFill>
                        <a:srgbClr val="C5C8B9"/>
                      </a:solidFill>
                      <a:prstDash val="solid"/>
                    </a:lnB>
                    <a:solidFill>
                      <a:srgbClr val="24271D"/>
                    </a:solidFill>
                  </a:tcPr>
                </a:tc>
                <a:tc>
                  <a:txBody>
                    <a:bodyPr/>
                    <a:lstStyle/>
                    <a:p>
                      <a:r>
                        <a:rPr sz="1500" b="1">
                          <a:solidFill>
                            <a:srgbClr val="F4F3EB"/>
                          </a:solidFill>
                          <a:latin typeface="Helvetica Neue"/>
                          <a:ea typeface="Helvetica Neue"/>
                          <a:cs typeface="Helvetica Neue"/>
                        </a:rPr>
                        <a:t>Decision it does not settle</a:t>
                      </a:r>
                    </a:p>
                  </a:txBody>
                  <a:tcPr marL="91440" marR="91440" marT="45720" marB="45720">
                    <a:lnR w="4763">
                      <a:solidFill>
                        <a:srgbClr val="C5C8B9"/>
                      </a:solidFill>
                      <a:prstDash val="solid"/>
                    </a:lnR>
                    <a:lnT w="4763">
                      <a:solidFill>
                        <a:srgbClr val="C5C8B9"/>
                      </a:solidFill>
                      <a:prstDash val="solid"/>
                    </a:lnT>
                    <a:lnB w="4763">
                      <a:solidFill>
                        <a:srgbClr val="C5C8B9"/>
                      </a:solidFill>
                      <a:prstDash val="solid"/>
                    </a:lnB>
                    <a:solidFill>
                      <a:srgbClr val="24271D"/>
                    </a:solidFill>
                  </a:tcPr>
                </a:tc>
              </a:tr>
              <a:tr h="793750">
                <a:tc>
                  <a:txBody>
                    <a:bodyPr/>
                    <a:lstStyle/>
                    <a:p>
                      <a:r>
                        <a:rPr sz="1650" b="0">
                          <a:solidFill>
                            <a:srgbClr val="171A12"/>
                          </a:solidFill>
                          <a:latin typeface="Helvetica Neue"/>
                          <a:ea typeface="Helvetica Neue"/>
                          <a:cs typeface="Helvetica Neue"/>
                        </a:rPr>
                        <a:t>PUE</a:t>
                      </a:r>
                    </a:p>
                  </a:txBody>
                  <a:tcPr marL="91440" marR="91440" marT="45720" marB="45720">
                    <a:lnL w="4763">
                      <a:solidFill>
                        <a:srgbClr val="C5C8B9"/>
                      </a:solidFill>
                      <a:prstDash val="solid"/>
                    </a:lnL>
                    <a:lnR w="4763">
                      <a:solidFill>
                        <a:srgbClr val="C5C8B9"/>
                      </a:solidFill>
                      <a:prstDash val="solid"/>
                    </a:lnR>
                    <a:lnB w="4763">
                      <a:solidFill>
                        <a:srgbClr val="C5C8B9"/>
                      </a:solidFill>
                      <a:prstDash val="solid"/>
                    </a:lnB>
                    <a:solidFill>
                      <a:srgbClr val="EEEEE4"/>
                    </a:solidFill>
                  </a:tcPr>
                </a:tc>
                <a:tc>
                  <a:txBody>
                    <a:bodyPr/>
                    <a:lstStyle/>
                    <a:p>
                      <a:r>
                        <a:rPr sz="1650" b="0">
                          <a:solidFill>
                            <a:srgbClr val="171A12"/>
                          </a:solidFill>
                          <a:latin typeface="Helvetica Neue"/>
                          <a:ea typeface="Helvetica Neue"/>
                          <a:cs typeface="Helvetica Neue"/>
                        </a:rPr>
                        <a:t>How much facility energy supports IT load?</a:t>
                      </a:r>
                    </a:p>
                  </a:txBody>
                  <a:tcPr marL="91440" marR="91440" marT="45720" marB="45720">
                    <a:lnR w="4763">
                      <a:solidFill>
                        <a:srgbClr val="C5C8B9"/>
                      </a:solidFill>
                      <a:prstDash val="solid"/>
                    </a:lnR>
                    <a:lnB w="4763">
                      <a:solidFill>
                        <a:srgbClr val="C5C8B9"/>
                      </a:solidFill>
                      <a:prstDash val="solid"/>
                    </a:lnB>
                    <a:solidFill>
                      <a:srgbClr val="EEEEE4"/>
                    </a:solidFill>
                  </a:tcPr>
                </a:tc>
                <a:tc>
                  <a:txBody>
                    <a:bodyPr/>
                    <a:lstStyle/>
                    <a:p>
                      <a:r>
                        <a:rPr sz="1650" b="0">
                          <a:solidFill>
                            <a:srgbClr val="171A12"/>
                          </a:solidFill>
                          <a:latin typeface="Helvetica Neue"/>
                          <a:ea typeface="Helvetica Neue"/>
                          <a:cs typeface="Helvetica Neue"/>
                        </a:rPr>
                        <a:t>Which model or serving setup uses less energy per accepted task?</a:t>
                      </a:r>
                    </a:p>
                  </a:txBody>
                  <a:tcPr marL="91440" marR="91440" marT="45720" marB="45720">
                    <a:lnR w="4763">
                      <a:solidFill>
                        <a:srgbClr val="C5C8B9"/>
                      </a:solidFill>
                      <a:prstDash val="solid"/>
                    </a:lnR>
                    <a:lnB w="4763">
                      <a:solidFill>
                        <a:srgbClr val="C5C8B9"/>
                      </a:solidFill>
                      <a:prstDash val="solid"/>
                    </a:lnB>
                    <a:solidFill>
                      <a:srgbClr val="EEEEE4"/>
                    </a:solidFill>
                  </a:tcPr>
                </a:tc>
              </a:tr>
              <a:tr h="793750">
                <a:tc>
                  <a:txBody>
                    <a:bodyPr/>
                    <a:lstStyle/>
                    <a:p>
                      <a:r>
                        <a:rPr sz="1650" b="0">
                          <a:solidFill>
                            <a:srgbClr val="171A12"/>
                          </a:solidFill>
                          <a:latin typeface="Helvetica Neue"/>
                          <a:ea typeface="Helvetica Neue"/>
                          <a:cs typeface="Helvetica Neue"/>
                        </a:rPr>
                        <a:t>Energy per successful task</a:t>
                      </a:r>
                    </a:p>
                  </a:txBody>
                  <a:tcPr marL="91440" marR="91440" marT="45720" marB="45720">
                    <a:lnL w="4763">
                      <a:solidFill>
                        <a:srgbClr val="C5C8B9"/>
                      </a:solidFill>
                      <a:prstDash val="solid"/>
                    </a:lnL>
                    <a:lnR w="4763">
                      <a:solidFill>
                        <a:srgbClr val="C5C8B9"/>
                      </a:solidFill>
                      <a:prstDash val="solid"/>
                    </a:lnR>
                    <a:lnB w="4763">
                      <a:solidFill>
                        <a:srgbClr val="C5C8B9"/>
                      </a:solidFill>
                      <a:prstDash val="solid"/>
                    </a:lnB>
                    <a:solidFill>
                      <a:srgbClr val="EEEEE4"/>
                    </a:solidFill>
                  </a:tcPr>
                </a:tc>
                <a:tc>
                  <a:txBody>
                    <a:bodyPr/>
                    <a:lstStyle/>
                    <a:p>
                      <a:r>
                        <a:rPr sz="1650" b="0">
                          <a:solidFill>
                            <a:srgbClr val="171A12"/>
                          </a:solidFill>
                          <a:latin typeface="Helvetica Neue"/>
                          <a:ea typeface="Helvetica Neue"/>
                          <a:cs typeface="Helvetica Neue"/>
                        </a:rPr>
                        <a:t>How much metered energy supports a defined result?</a:t>
                      </a:r>
                    </a:p>
                  </a:txBody>
                  <a:tcPr marL="91440" marR="91440" marT="45720" marB="45720">
                    <a:lnR w="4763">
                      <a:solidFill>
                        <a:srgbClr val="C5C8B9"/>
                      </a:solidFill>
                      <a:prstDash val="solid"/>
                    </a:lnR>
                    <a:lnB w="4763">
                      <a:solidFill>
                        <a:srgbClr val="C5C8B9"/>
                      </a:solidFill>
                      <a:prstDash val="solid"/>
                    </a:lnB>
                    <a:solidFill>
                      <a:srgbClr val="EEEEE4"/>
                    </a:solidFill>
                  </a:tcPr>
                </a:tc>
                <a:tc>
                  <a:txBody>
                    <a:bodyPr/>
                    <a:lstStyle/>
                    <a:p>
                      <a:r>
                        <a:rPr sz="1650" b="0">
                          <a:solidFill>
                            <a:srgbClr val="171A12"/>
                          </a:solidFill>
                          <a:latin typeface="Helvetica Neue"/>
                          <a:ea typeface="Helvetica Neue"/>
                          <a:cs typeface="Helvetica Neue"/>
                        </a:rPr>
                        <a:t>Whether grid, cooling or contract capacity is available</a:t>
                      </a:r>
                    </a:p>
                  </a:txBody>
                  <a:tcPr marL="91440" marR="91440" marT="45720" marB="45720">
                    <a:lnR w="4763">
                      <a:solidFill>
                        <a:srgbClr val="C5C8B9"/>
                      </a:solidFill>
                      <a:prstDash val="solid"/>
                    </a:lnR>
                    <a:lnB w="4763">
                      <a:solidFill>
                        <a:srgbClr val="C5C8B9"/>
                      </a:solidFill>
                      <a:prstDash val="solid"/>
                    </a:lnB>
                    <a:solidFill>
                      <a:srgbClr val="EEEEE4"/>
                    </a:solidFill>
                  </a:tcPr>
                </a:tc>
              </a:tr>
            </a:tbl>
          </a:graphicData>
        </a:graphic>
      </p:graphicFrame>
      <p:sp>
        <p:nvSpPr>
          <p:cNvPr id="6" name="">
            <a:extLst xmlns:a="http://schemas.openxmlformats.org/drawingml/2006/main">
              <a:ext uri="{FF2B5EF4-FFF2-40B4-BE49-F238E27FC236}">
                <a16:creationId xmlns:a16="http://schemas.microsoft.com/office/drawing/2014/main" id="{11C7BEF7-E917-4610-9303-478246056F65}"/>
              </a:ext>
            </a:extLst>
          </p:cNvPr>
          <p:cNvSpPr>
            <a:spLocks xmlns:a="http://schemas.openxmlformats.org/drawingml/2006/main" noGrp="1"/>
          </p:cNvSpPr>
          <p:nvPr/>
        </p:nvSpPr>
        <p:spPr>
          <a:xfrm xmlns:a="http://schemas.openxmlformats.org/drawingml/2006/main">
            <a:off x="609600" y="53149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75E43"/>
                </a:solidFill>
                <a:latin typeface="Helvetica Neue"/>
                <a:ea typeface="Helvetica Neue"/>
                <a:cs typeface="Helvetica Neue"/>
              </a:defRPr>
            </a:defPPr>
            <a:lvl1pPr>
              <a:defRPr sz="1800" b="0">
                <a:solidFill>
                  <a:srgbClr val="575E43"/>
                </a:solidFill>
                <a:latin typeface="Helvetica Neue"/>
                <a:ea typeface="Helvetica Neue"/>
                <a:cs typeface="Helvetica Neue"/>
              </a:defRPr>
            </a:lvl1pPr>
            <a:lvl2pPr>
              <a:defRPr sz="1800" b="0">
                <a:solidFill>
                  <a:srgbClr val="575E43"/>
                </a:solidFill>
                <a:latin typeface="Helvetica Neue"/>
                <a:ea typeface="Helvetica Neue"/>
                <a:cs typeface="Helvetica Neue"/>
              </a:defRPr>
            </a:lvl2pPr>
            <a:lvl3pPr>
              <a:defRPr sz="1800" b="0">
                <a:solidFill>
                  <a:srgbClr val="575E43"/>
                </a:solidFill>
                <a:latin typeface="Helvetica Neue"/>
                <a:ea typeface="Helvetica Neue"/>
                <a:cs typeface="Helvetica Neue"/>
              </a:defRPr>
            </a:lvl3pPr>
            <a:lvl4pPr>
              <a:defRPr sz="1800" b="0">
                <a:solidFill>
                  <a:srgbClr val="575E43"/>
                </a:solidFill>
                <a:latin typeface="Helvetica Neue"/>
                <a:ea typeface="Helvetica Neue"/>
                <a:cs typeface="Helvetica Neue"/>
              </a:defRPr>
            </a:lvl4pPr>
            <a:lvl5pPr>
              <a:defRPr sz="1800" b="0">
                <a:solidFill>
                  <a:srgbClr val="575E43"/>
                </a:solidFill>
                <a:latin typeface="Helvetica Neue"/>
                <a:ea typeface="Helvetica Neue"/>
                <a:cs typeface="Helvetica Neue"/>
              </a:defRPr>
            </a:lvl5pPr>
            <a:lvl6pPr>
              <a:defRPr sz="1800" b="0">
                <a:solidFill>
                  <a:srgbClr val="575E43"/>
                </a:solidFill>
                <a:latin typeface="Helvetica Neue"/>
                <a:ea typeface="Helvetica Neue"/>
                <a:cs typeface="Helvetica Neue"/>
              </a:defRPr>
            </a:lvl6pPr>
            <a:lvl7pPr>
              <a:defRPr sz="1800" b="0">
                <a:solidFill>
                  <a:srgbClr val="575E43"/>
                </a:solidFill>
                <a:latin typeface="Helvetica Neue"/>
                <a:ea typeface="Helvetica Neue"/>
                <a:cs typeface="Helvetica Neue"/>
              </a:defRPr>
            </a:lvl7pPr>
            <a:lvl8pPr>
              <a:defRPr sz="1800" b="0">
                <a:solidFill>
                  <a:srgbClr val="575E43"/>
                </a:solidFill>
                <a:latin typeface="Helvetica Neue"/>
                <a:ea typeface="Helvetica Neue"/>
                <a:cs typeface="Helvetica Neue"/>
              </a:defRPr>
            </a:lvl8pPr>
            <a:lvl9pPr>
              <a:defRPr sz="1800" b="0">
                <a:solidFill>
                  <a:srgbClr val="575E43"/>
                </a:solidFill>
                <a:latin typeface="Helvetica Neue"/>
                <a:ea typeface="Helvetica Neue"/>
                <a:cs typeface="Helvetica Neue"/>
              </a:defRPr>
            </a:lvl9pPr>
          </a:lstStyle>
          <a:p xmlns:a="http://schemas.openxmlformats.org/drawingml/2006/main">
            <a:pPr>
              <a:defRPr sz="1800" b="0">
                <a:solidFill>
                  <a:srgbClr val="575E43"/>
                </a:solidFill>
                <a:latin typeface="Helvetica Neue"/>
                <a:ea typeface="Helvetica Neue"/>
                <a:cs typeface="Helvetica Neue"/>
              </a:defRPr>
            </a:pPr>
            <a:r>
              <a:rPr sz="1800" b="0">
                <a:solidFill>
                  <a:srgbClr val="575E43"/>
                </a:solidFill>
                <a:latin typeface="Helvetica Neue"/>
                <a:ea typeface="Helvetica Neue"/>
                <a:cs typeface="Helvetica Neue"/>
              </a:rPr>
              <a:t>PUE measures facility efficiency, but not IT efficiency. Uptime’s weighted sample PUE was 1.54 and virtually flat for six years.</a:t>
            </a:r>
          </a:p>
        </p:txBody>
      </p:sp>
      <p:sp>
        <p:nvSpPr>
          <p:cNvPr id="7" name="">
            <a:extLst xmlns:a="http://schemas.openxmlformats.org/drawingml/2006/main">
              <a:ext uri="{FF2B5EF4-FFF2-40B4-BE49-F238E27FC236}">
                <a16:creationId xmlns:a16="http://schemas.microsoft.com/office/drawing/2014/main" id="{5E60E290-FA0A-4CA8-B277-1E808D0D4800}"/>
              </a:ext>
            </a:extLst>
          </p:cNvPr>
          <p:cNvSpPr>
            <a:spLocks xmlns:a="http://schemas.openxmlformats.org/drawingml/2006/main" noGrp="1"/>
          </p:cNvSpPr>
          <p:nvPr/>
        </p:nvSpPr>
        <p:spPr>
          <a:xfrm xmlns:a="http://schemas.openxmlformats.org/drawingml/2006/main">
            <a:off x="609600" y="5943600"/>
            <a:ext cx="1093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75E43"/>
                </a:solidFill>
                <a:latin typeface="Helvetica Neue"/>
                <a:ea typeface="Helvetica Neue"/>
                <a:cs typeface="Helvetica Neue"/>
              </a:defRPr>
            </a:defPPr>
            <a:lvl1pPr>
              <a:defRPr sz="1275" b="0">
                <a:solidFill>
                  <a:srgbClr val="575E43"/>
                </a:solidFill>
                <a:latin typeface="Helvetica Neue"/>
                <a:ea typeface="Helvetica Neue"/>
                <a:cs typeface="Helvetica Neue"/>
              </a:defRPr>
            </a:lvl1pPr>
            <a:lvl2pPr>
              <a:defRPr sz="1275" b="0">
                <a:solidFill>
                  <a:srgbClr val="575E43"/>
                </a:solidFill>
                <a:latin typeface="Helvetica Neue"/>
                <a:ea typeface="Helvetica Neue"/>
                <a:cs typeface="Helvetica Neue"/>
              </a:defRPr>
            </a:lvl2pPr>
            <a:lvl3pPr>
              <a:defRPr sz="1275" b="0">
                <a:solidFill>
                  <a:srgbClr val="575E43"/>
                </a:solidFill>
                <a:latin typeface="Helvetica Neue"/>
                <a:ea typeface="Helvetica Neue"/>
                <a:cs typeface="Helvetica Neue"/>
              </a:defRPr>
            </a:lvl3pPr>
            <a:lvl4pPr>
              <a:defRPr sz="1275" b="0">
                <a:solidFill>
                  <a:srgbClr val="575E43"/>
                </a:solidFill>
                <a:latin typeface="Helvetica Neue"/>
                <a:ea typeface="Helvetica Neue"/>
                <a:cs typeface="Helvetica Neue"/>
              </a:defRPr>
            </a:lvl4pPr>
            <a:lvl5pPr>
              <a:defRPr sz="1275" b="0">
                <a:solidFill>
                  <a:srgbClr val="575E43"/>
                </a:solidFill>
                <a:latin typeface="Helvetica Neue"/>
                <a:ea typeface="Helvetica Neue"/>
                <a:cs typeface="Helvetica Neue"/>
              </a:defRPr>
            </a:lvl5pPr>
            <a:lvl6pPr>
              <a:defRPr sz="1275" b="0">
                <a:solidFill>
                  <a:srgbClr val="575E43"/>
                </a:solidFill>
                <a:latin typeface="Helvetica Neue"/>
                <a:ea typeface="Helvetica Neue"/>
                <a:cs typeface="Helvetica Neue"/>
              </a:defRPr>
            </a:lvl6pPr>
            <a:lvl7pPr>
              <a:defRPr sz="1275" b="0">
                <a:solidFill>
                  <a:srgbClr val="575E43"/>
                </a:solidFill>
                <a:latin typeface="Helvetica Neue"/>
                <a:ea typeface="Helvetica Neue"/>
                <a:cs typeface="Helvetica Neue"/>
              </a:defRPr>
            </a:lvl7pPr>
            <a:lvl8pPr>
              <a:defRPr sz="1275" b="0">
                <a:solidFill>
                  <a:srgbClr val="575E43"/>
                </a:solidFill>
                <a:latin typeface="Helvetica Neue"/>
                <a:ea typeface="Helvetica Neue"/>
                <a:cs typeface="Helvetica Neue"/>
              </a:defRPr>
            </a:lvl8pPr>
            <a:lvl9pPr>
              <a:defRPr sz="1275" b="0">
                <a:solidFill>
                  <a:srgbClr val="575E43"/>
                </a:solidFill>
                <a:latin typeface="Helvetica Neue"/>
                <a:ea typeface="Helvetica Neue"/>
                <a:cs typeface="Helvetica Neue"/>
              </a:defRPr>
            </a:lvl9pPr>
          </a:lstStyle>
          <a:p xmlns:a="http://schemas.openxmlformats.org/drawingml/2006/main">
            <a:pPr>
              <a:defRPr sz="1275" b="0">
                <a:solidFill>
                  <a:srgbClr val="575E43"/>
                </a:solidFill>
                <a:latin typeface="Helvetica Neue"/>
                <a:ea typeface="Helvetica Neue"/>
                <a:cs typeface="Helvetica Neue"/>
              </a:defRPr>
            </a:pPr>
            <a:r>
              <a:rPr sz="1275" b="0">
                <a:solidFill>
                  <a:srgbClr val="575E43"/>
                </a:solidFill>
                <a:latin typeface="Helvetica Neue"/>
                <a:ea typeface="Helvetica Neue"/>
                <a:cs typeface="Helvetica Neue"/>
              </a:rPr>
              <a:t>Sources: Uptime Global Data Center Survey 2025; IEA Energy and AI</a:t>
            </a:r>
          </a:p>
        </p:txBody>
      </p:sp>
    </p:spTree>
    <p:extLst>
      <p:ext uri="{BB962C8B-B14F-4D97-AF65-F5344CB8AC3E}">
        <p14:creationId xmlns:p14="http://schemas.microsoft.com/office/powerpoint/2010/main" val="48699253"/>
      </p:ext>
    </p:extLst>
  </p:cSld>
</p:sld>
</file>

<file path=ppt/slides/slide5.xml><?xml version="1.0" encoding="utf-8"?>
<p:sld xmlns:p="http://schemas.openxmlformats.org/presentationml/2006/main">
  <p:cSld>
    <p:bg>
      <p:bgPr>
        <a:solidFill xmlns:a="http://schemas.openxmlformats.org/drawingml/2006/main">
          <a:srgbClr val="11121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552BFAE-0A12-4FFD-96EF-EC7712C99CC4}"/>
              </a:ext>
            </a:extLst>
          </p:cNvPr>
          <p:cNvSpPr>
            <a:spLocks xmlns:a="http://schemas.openxmlformats.org/drawingml/2006/main" noGrp="1"/>
          </p:cNvSpPr>
          <p:nvPr/>
        </p:nvSpPr>
        <p:spPr>
          <a:xfrm xmlns:a="http://schemas.openxmlformats.org/drawingml/2006/main">
            <a:off x="609600" y="3429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FFDB24"/>
                </a:solidFill>
                <a:latin typeface="Helvetica Neue"/>
                <a:ea typeface="Helvetica Neue"/>
                <a:cs typeface="Helvetica Neue"/>
              </a:defRPr>
            </a:defPPr>
            <a:lvl1pPr>
              <a:defRPr sz="1125" b="1">
                <a:solidFill>
                  <a:srgbClr val="FFDB24"/>
                </a:solidFill>
                <a:latin typeface="Helvetica Neue"/>
                <a:ea typeface="Helvetica Neue"/>
                <a:cs typeface="Helvetica Neue"/>
              </a:defRPr>
            </a:lvl1pPr>
            <a:lvl2pPr>
              <a:defRPr sz="1125" b="1">
                <a:solidFill>
                  <a:srgbClr val="FFDB24"/>
                </a:solidFill>
                <a:latin typeface="Helvetica Neue"/>
                <a:ea typeface="Helvetica Neue"/>
                <a:cs typeface="Helvetica Neue"/>
              </a:defRPr>
            </a:lvl2pPr>
            <a:lvl3pPr>
              <a:defRPr sz="1125" b="1">
                <a:solidFill>
                  <a:srgbClr val="FFDB24"/>
                </a:solidFill>
                <a:latin typeface="Helvetica Neue"/>
                <a:ea typeface="Helvetica Neue"/>
                <a:cs typeface="Helvetica Neue"/>
              </a:defRPr>
            </a:lvl3pPr>
            <a:lvl4pPr>
              <a:defRPr sz="1125" b="1">
                <a:solidFill>
                  <a:srgbClr val="FFDB24"/>
                </a:solidFill>
                <a:latin typeface="Helvetica Neue"/>
                <a:ea typeface="Helvetica Neue"/>
                <a:cs typeface="Helvetica Neue"/>
              </a:defRPr>
            </a:lvl4pPr>
            <a:lvl5pPr>
              <a:defRPr sz="1125" b="1">
                <a:solidFill>
                  <a:srgbClr val="FFDB24"/>
                </a:solidFill>
                <a:latin typeface="Helvetica Neue"/>
                <a:ea typeface="Helvetica Neue"/>
                <a:cs typeface="Helvetica Neue"/>
              </a:defRPr>
            </a:lvl5pPr>
            <a:lvl6pPr>
              <a:defRPr sz="1125" b="1">
                <a:solidFill>
                  <a:srgbClr val="FFDB24"/>
                </a:solidFill>
                <a:latin typeface="Helvetica Neue"/>
                <a:ea typeface="Helvetica Neue"/>
                <a:cs typeface="Helvetica Neue"/>
              </a:defRPr>
            </a:lvl6pPr>
            <a:lvl7pPr>
              <a:defRPr sz="1125" b="1">
                <a:solidFill>
                  <a:srgbClr val="FFDB24"/>
                </a:solidFill>
                <a:latin typeface="Helvetica Neue"/>
                <a:ea typeface="Helvetica Neue"/>
                <a:cs typeface="Helvetica Neue"/>
              </a:defRPr>
            </a:lvl7pPr>
            <a:lvl8pPr>
              <a:defRPr sz="1125" b="1">
                <a:solidFill>
                  <a:srgbClr val="FFDB24"/>
                </a:solidFill>
                <a:latin typeface="Helvetica Neue"/>
                <a:ea typeface="Helvetica Neue"/>
                <a:cs typeface="Helvetica Neue"/>
              </a:defRPr>
            </a:lvl8pPr>
            <a:lvl9pPr>
              <a:defRPr sz="1125" b="1">
                <a:solidFill>
                  <a:srgbClr val="FFDB24"/>
                </a:solidFill>
                <a:latin typeface="Helvetica Neue"/>
                <a:ea typeface="Helvetica Neue"/>
                <a:cs typeface="Helvetica Neue"/>
              </a:defRPr>
            </a:lvl9pPr>
          </a:lstStyle>
          <a:p xmlns:a="http://schemas.openxmlformats.org/drawingml/2006/main">
            <a:pPr>
              <a:defRPr sz="1125" b="1">
                <a:solidFill>
                  <a:srgbClr val="FFDB24"/>
                </a:solidFill>
                <a:latin typeface="Helvetica Neue"/>
                <a:ea typeface="Helvetica Neue"/>
                <a:cs typeface="Helvetica Neue"/>
              </a:defRPr>
            </a:pPr>
            <a:r>
              <a:rPr sz="1125" b="1">
                <a:solidFill>
                  <a:srgbClr val="FFDB24"/>
                </a:solidFill>
                <a:latin typeface="Helvetica Neue"/>
                <a:ea typeface="Helvetica Neue"/>
                <a:cs typeface="Helvetica Neue"/>
              </a:rPr>
              <a:t>BUYER DECISION / WORKLOAD UNIT ECONOMICS</a:t>
            </a:r>
          </a:p>
        </p:txBody>
      </p:sp>
      <p:sp>
        <p:nvSpPr>
          <p:cNvPr id="2" name="">
            <a:extLst xmlns:a="http://schemas.openxmlformats.org/drawingml/2006/main">
              <a:ext uri="{FF2B5EF4-FFF2-40B4-BE49-F238E27FC236}">
                <a16:creationId xmlns:a16="http://schemas.microsoft.com/office/drawing/2014/main" id="{15CA4D35-C893-4F57-8FCE-91C761855A1F}"/>
              </a:ext>
            </a:extLst>
          </p:cNvPr>
          <p:cNvSpPr>
            <a:spLocks xmlns:a="http://schemas.openxmlformats.org/drawingml/2006/main" noGrp="1"/>
          </p:cNvSpPr>
          <p:nvPr/>
        </p:nvSpPr>
        <p:spPr>
          <a:xfrm xmlns:a="http://schemas.openxmlformats.org/drawingml/2006/main">
            <a:off x="609600" y="914400"/>
            <a:ext cx="109728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F4F3EB"/>
                </a:solidFill>
                <a:latin typeface="Helvetica Neue"/>
                <a:ea typeface="Helvetica Neue"/>
                <a:cs typeface="Helvetica Neue"/>
              </a:defRPr>
            </a:defPPr>
            <a:lvl1pPr>
              <a:defRPr sz="3900" b="0">
                <a:solidFill>
                  <a:srgbClr val="F4F3EB"/>
                </a:solidFill>
                <a:latin typeface="Helvetica Neue"/>
                <a:ea typeface="Helvetica Neue"/>
                <a:cs typeface="Helvetica Neue"/>
              </a:defRPr>
            </a:lvl1pPr>
            <a:lvl2pPr>
              <a:defRPr sz="3900" b="0">
                <a:solidFill>
                  <a:srgbClr val="F4F3EB"/>
                </a:solidFill>
                <a:latin typeface="Helvetica Neue"/>
                <a:ea typeface="Helvetica Neue"/>
                <a:cs typeface="Helvetica Neue"/>
              </a:defRPr>
            </a:lvl2pPr>
            <a:lvl3pPr>
              <a:defRPr sz="3900" b="0">
                <a:solidFill>
                  <a:srgbClr val="F4F3EB"/>
                </a:solidFill>
                <a:latin typeface="Helvetica Neue"/>
                <a:ea typeface="Helvetica Neue"/>
                <a:cs typeface="Helvetica Neue"/>
              </a:defRPr>
            </a:lvl3pPr>
            <a:lvl4pPr>
              <a:defRPr sz="3900" b="0">
                <a:solidFill>
                  <a:srgbClr val="F4F3EB"/>
                </a:solidFill>
                <a:latin typeface="Helvetica Neue"/>
                <a:ea typeface="Helvetica Neue"/>
                <a:cs typeface="Helvetica Neue"/>
              </a:defRPr>
            </a:lvl4pPr>
            <a:lvl5pPr>
              <a:defRPr sz="3900" b="0">
                <a:solidFill>
                  <a:srgbClr val="F4F3EB"/>
                </a:solidFill>
                <a:latin typeface="Helvetica Neue"/>
                <a:ea typeface="Helvetica Neue"/>
                <a:cs typeface="Helvetica Neue"/>
              </a:defRPr>
            </a:lvl5pPr>
            <a:lvl6pPr>
              <a:defRPr sz="3900" b="0">
                <a:solidFill>
                  <a:srgbClr val="F4F3EB"/>
                </a:solidFill>
                <a:latin typeface="Helvetica Neue"/>
                <a:ea typeface="Helvetica Neue"/>
                <a:cs typeface="Helvetica Neue"/>
              </a:defRPr>
            </a:lvl6pPr>
            <a:lvl7pPr>
              <a:defRPr sz="3900" b="0">
                <a:solidFill>
                  <a:srgbClr val="F4F3EB"/>
                </a:solidFill>
                <a:latin typeface="Helvetica Neue"/>
                <a:ea typeface="Helvetica Neue"/>
                <a:cs typeface="Helvetica Neue"/>
              </a:defRPr>
            </a:lvl7pPr>
            <a:lvl8pPr>
              <a:defRPr sz="3900" b="0">
                <a:solidFill>
                  <a:srgbClr val="F4F3EB"/>
                </a:solidFill>
                <a:latin typeface="Helvetica Neue"/>
                <a:ea typeface="Helvetica Neue"/>
                <a:cs typeface="Helvetica Neue"/>
              </a:defRPr>
            </a:lvl8pPr>
            <a:lvl9pPr>
              <a:defRPr sz="3900" b="0">
                <a:solidFill>
                  <a:srgbClr val="F4F3EB"/>
                </a:solidFill>
                <a:latin typeface="Helvetica Neue"/>
                <a:ea typeface="Helvetica Neue"/>
                <a:cs typeface="Helvetica Neue"/>
              </a:defRPr>
            </a:lvl9pPr>
          </a:lstStyle>
          <a:p xmlns:a="http://schemas.openxmlformats.org/drawingml/2006/main">
            <a:pPr>
              <a:defRPr sz="3900" b="0">
                <a:solidFill>
                  <a:srgbClr val="F4F3EB"/>
                </a:solidFill>
                <a:latin typeface="Helvetica Neue"/>
                <a:ea typeface="Helvetica Neue"/>
                <a:cs typeface="Helvetica Neue"/>
              </a:defRPr>
            </a:pPr>
            <a:r>
              <a:rPr sz="3900" b="0">
                <a:solidFill>
                  <a:srgbClr val="F4F3EB"/>
                </a:solidFill>
                <a:latin typeface="Helvetica Neue"/>
                <a:ea typeface="Helvetica Neue"/>
                <a:cs typeface="Helvetica Neue"/>
              </a:rPr>
              <a:t>Workload comparisons at a fixed service target</a:t>
            </a:r>
          </a:p>
        </p:txBody>
      </p:sp>
      <p:sp>
        <p:nvSpPr>
          <p:cNvPr id="3" name="">
            <a:extLst xmlns:a="http://schemas.openxmlformats.org/drawingml/2006/main">
              <a:ext uri="{FF2B5EF4-FFF2-40B4-BE49-F238E27FC236}">
                <a16:creationId xmlns:a16="http://schemas.microsoft.com/office/drawing/2014/main" id="{8920902F-A899-4012-A342-19179D4E25AE}"/>
              </a:ext>
            </a:extLst>
          </p:cNvPr>
          <p:cNvSpPr>
            <a:spLocks xmlns:a="http://schemas.openxmlformats.org/drawingml/2006/main" noGrp="1"/>
          </p:cNvSpPr>
          <p:nvPr/>
        </p:nvSpPr>
        <p:spPr>
          <a:xfrm xmlns:a="http://schemas.openxmlformats.org/drawingml/2006/main">
            <a:off x="609600" y="644842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BABDB0"/>
                </a:solidFill>
                <a:latin typeface="Helvetica Neue"/>
                <a:ea typeface="Helvetica Neue"/>
                <a:cs typeface="Helvetica Neue"/>
              </a:defRPr>
            </a:defPPr>
            <a:lvl1pPr>
              <a:defRPr sz="900" b="0">
                <a:solidFill>
                  <a:srgbClr val="BABDB0"/>
                </a:solidFill>
                <a:latin typeface="Helvetica Neue"/>
                <a:ea typeface="Helvetica Neue"/>
                <a:cs typeface="Helvetica Neue"/>
              </a:defRPr>
            </a:lvl1pPr>
            <a:lvl2pPr>
              <a:defRPr sz="900" b="0">
                <a:solidFill>
                  <a:srgbClr val="BABDB0"/>
                </a:solidFill>
                <a:latin typeface="Helvetica Neue"/>
                <a:ea typeface="Helvetica Neue"/>
                <a:cs typeface="Helvetica Neue"/>
              </a:defRPr>
            </a:lvl2pPr>
            <a:lvl3pPr>
              <a:defRPr sz="900" b="0">
                <a:solidFill>
                  <a:srgbClr val="BABDB0"/>
                </a:solidFill>
                <a:latin typeface="Helvetica Neue"/>
                <a:ea typeface="Helvetica Neue"/>
                <a:cs typeface="Helvetica Neue"/>
              </a:defRPr>
            </a:lvl3pPr>
            <a:lvl4pPr>
              <a:defRPr sz="900" b="0">
                <a:solidFill>
                  <a:srgbClr val="BABDB0"/>
                </a:solidFill>
                <a:latin typeface="Helvetica Neue"/>
                <a:ea typeface="Helvetica Neue"/>
                <a:cs typeface="Helvetica Neue"/>
              </a:defRPr>
            </a:lvl4pPr>
            <a:lvl5pPr>
              <a:defRPr sz="900" b="0">
                <a:solidFill>
                  <a:srgbClr val="BABDB0"/>
                </a:solidFill>
                <a:latin typeface="Helvetica Neue"/>
                <a:ea typeface="Helvetica Neue"/>
                <a:cs typeface="Helvetica Neue"/>
              </a:defRPr>
            </a:lvl5pPr>
            <a:lvl6pPr>
              <a:defRPr sz="900" b="0">
                <a:solidFill>
                  <a:srgbClr val="BABDB0"/>
                </a:solidFill>
                <a:latin typeface="Helvetica Neue"/>
                <a:ea typeface="Helvetica Neue"/>
                <a:cs typeface="Helvetica Neue"/>
              </a:defRPr>
            </a:lvl6pPr>
            <a:lvl7pPr>
              <a:defRPr sz="900" b="0">
                <a:solidFill>
                  <a:srgbClr val="BABDB0"/>
                </a:solidFill>
                <a:latin typeface="Helvetica Neue"/>
                <a:ea typeface="Helvetica Neue"/>
                <a:cs typeface="Helvetica Neue"/>
              </a:defRPr>
            </a:lvl7pPr>
            <a:lvl8pPr>
              <a:defRPr sz="900" b="0">
                <a:solidFill>
                  <a:srgbClr val="BABDB0"/>
                </a:solidFill>
                <a:latin typeface="Helvetica Neue"/>
                <a:ea typeface="Helvetica Neue"/>
                <a:cs typeface="Helvetica Neue"/>
              </a:defRPr>
            </a:lvl8pPr>
            <a:lvl9pPr>
              <a:defRPr sz="900" b="0">
                <a:solidFill>
                  <a:srgbClr val="BABDB0"/>
                </a:solidFill>
                <a:latin typeface="Helvetica Neue"/>
                <a:ea typeface="Helvetica Neue"/>
                <a:cs typeface="Helvetica Neue"/>
              </a:defRPr>
            </a:lvl9pPr>
          </a:lstStyle>
          <a:p xmlns:a="http://schemas.openxmlformats.org/drawingml/2006/main">
            <a:pPr>
              <a:defRPr sz="900" b="0">
                <a:solidFill>
                  <a:srgbClr val="BABDB0"/>
                </a:solidFill>
                <a:latin typeface="Helvetica Neue"/>
                <a:ea typeface="Helvetica Neue"/>
                <a:cs typeface="Helvetica Neue"/>
              </a:defRPr>
            </a:pPr>
            <a:r>
              <a:rPr sz="900" b="0">
                <a:solidFill>
                  <a:srgbClr val="BABDB0"/>
                </a:solidFill>
                <a:latin typeface="Helvetica Neue"/>
                <a:ea typeface="Helvetica Neue"/>
                <a:cs typeface="Helvetica Neue"/>
              </a:rPr>
              <a:t>E FOR ENERGY</a:t>
            </a:r>
          </a:p>
        </p:txBody>
      </p:sp>
      <p:sp>
        <p:nvSpPr>
          <p:cNvPr id="4" name="">
            <a:extLst xmlns:a="http://schemas.openxmlformats.org/drawingml/2006/main">
              <a:ext uri="{FF2B5EF4-FFF2-40B4-BE49-F238E27FC236}">
                <a16:creationId xmlns:a16="http://schemas.microsoft.com/office/drawing/2014/main" id="{3D75AA2D-33E9-4EB9-A6BB-7B08AC983B9C}"/>
              </a:ext>
            </a:extLst>
          </p:cNvPr>
          <p:cNvSpPr>
            <a:spLocks xmlns:a="http://schemas.openxmlformats.org/drawingml/2006/main" noGrp="1"/>
          </p:cNvSpPr>
          <p:nvPr/>
        </p:nvSpPr>
        <p:spPr>
          <a:xfrm xmlns:a="http://schemas.openxmlformats.org/drawingml/2006/main">
            <a:off x="11049000" y="64198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BABDB0"/>
                </a:solidFill>
                <a:latin typeface="Helvetica Neue"/>
                <a:ea typeface="Helvetica Neue"/>
                <a:cs typeface="Helvetica Neue"/>
              </a:defRPr>
            </a:defPPr>
            <a:lvl1pPr>
              <a:defRPr sz="1200" b="0">
                <a:solidFill>
                  <a:srgbClr val="BABDB0"/>
                </a:solidFill>
                <a:latin typeface="Helvetica Neue"/>
                <a:ea typeface="Helvetica Neue"/>
                <a:cs typeface="Helvetica Neue"/>
              </a:defRPr>
            </a:lvl1pPr>
            <a:lvl2pPr>
              <a:defRPr sz="1200" b="0">
                <a:solidFill>
                  <a:srgbClr val="BABDB0"/>
                </a:solidFill>
                <a:latin typeface="Helvetica Neue"/>
                <a:ea typeface="Helvetica Neue"/>
                <a:cs typeface="Helvetica Neue"/>
              </a:defRPr>
            </a:lvl2pPr>
            <a:lvl3pPr>
              <a:defRPr sz="1200" b="0">
                <a:solidFill>
                  <a:srgbClr val="BABDB0"/>
                </a:solidFill>
                <a:latin typeface="Helvetica Neue"/>
                <a:ea typeface="Helvetica Neue"/>
                <a:cs typeface="Helvetica Neue"/>
              </a:defRPr>
            </a:lvl3pPr>
            <a:lvl4pPr>
              <a:defRPr sz="1200" b="0">
                <a:solidFill>
                  <a:srgbClr val="BABDB0"/>
                </a:solidFill>
                <a:latin typeface="Helvetica Neue"/>
                <a:ea typeface="Helvetica Neue"/>
                <a:cs typeface="Helvetica Neue"/>
              </a:defRPr>
            </a:lvl4pPr>
            <a:lvl5pPr>
              <a:defRPr sz="1200" b="0">
                <a:solidFill>
                  <a:srgbClr val="BABDB0"/>
                </a:solidFill>
                <a:latin typeface="Helvetica Neue"/>
                <a:ea typeface="Helvetica Neue"/>
                <a:cs typeface="Helvetica Neue"/>
              </a:defRPr>
            </a:lvl5pPr>
            <a:lvl6pPr>
              <a:defRPr sz="1200" b="0">
                <a:solidFill>
                  <a:srgbClr val="BABDB0"/>
                </a:solidFill>
                <a:latin typeface="Helvetica Neue"/>
                <a:ea typeface="Helvetica Neue"/>
                <a:cs typeface="Helvetica Neue"/>
              </a:defRPr>
            </a:lvl6pPr>
            <a:lvl7pPr>
              <a:defRPr sz="1200" b="0">
                <a:solidFill>
                  <a:srgbClr val="BABDB0"/>
                </a:solidFill>
                <a:latin typeface="Helvetica Neue"/>
                <a:ea typeface="Helvetica Neue"/>
                <a:cs typeface="Helvetica Neue"/>
              </a:defRPr>
            </a:lvl7pPr>
            <a:lvl8pPr>
              <a:defRPr sz="1200" b="0">
                <a:solidFill>
                  <a:srgbClr val="BABDB0"/>
                </a:solidFill>
                <a:latin typeface="Helvetica Neue"/>
                <a:ea typeface="Helvetica Neue"/>
                <a:cs typeface="Helvetica Neue"/>
              </a:defRPr>
            </a:lvl8pPr>
            <a:lvl9pPr>
              <a:defRPr sz="1200" b="0">
                <a:solidFill>
                  <a:srgbClr val="BABDB0"/>
                </a:solidFill>
                <a:latin typeface="Helvetica Neue"/>
                <a:ea typeface="Helvetica Neue"/>
                <a:cs typeface="Helvetica Neue"/>
              </a:defRPr>
            </a:lvl9pPr>
          </a:lstStyle>
          <a:p xmlns:a="http://schemas.openxmlformats.org/drawingml/2006/main">
            <a:pPr>
              <a:defRPr sz="1200" b="0">
                <a:solidFill>
                  <a:srgbClr val="BABDB0"/>
                </a:solidFill>
                <a:latin typeface="Helvetica Neue"/>
                <a:ea typeface="Helvetica Neue"/>
                <a:cs typeface="Helvetica Neue"/>
              </a:defRPr>
            </a:pPr>
            <a:r>
              <a:rPr sz="1200" b="0">
                <a:solidFill>
                  <a:srgbClr val="BABDB0"/>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D08F2BD3-695A-4E70-B257-9CF41721A610}"/>
              </a:ext>
            </a:extLst>
          </p:cNvPr>
          <p:cNvSpPr>
            <a:spLocks xmlns:a="http://schemas.openxmlformats.org/drawingml/2006/main" noGrp="1"/>
          </p:cNvSpPr>
          <p:nvPr/>
        </p:nvSpPr>
        <p:spPr>
          <a:xfrm xmlns:a="http://schemas.openxmlformats.org/drawingml/2006/main">
            <a:off x="609600" y="252412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FFDB24"/>
                </a:solidFill>
                <a:latin typeface="Helvetica Neue"/>
                <a:ea typeface="Helvetica Neue"/>
                <a:cs typeface="Helvetica Neue"/>
              </a:defRPr>
            </a:defPPr>
            <a:lvl1pPr>
              <a:defRPr sz="2175" b="1">
                <a:solidFill>
                  <a:srgbClr val="FFDB24"/>
                </a:solidFill>
                <a:latin typeface="Helvetica Neue"/>
                <a:ea typeface="Helvetica Neue"/>
                <a:cs typeface="Helvetica Neue"/>
              </a:defRPr>
            </a:lvl1pPr>
            <a:lvl2pPr>
              <a:defRPr sz="2175" b="1">
                <a:solidFill>
                  <a:srgbClr val="FFDB24"/>
                </a:solidFill>
                <a:latin typeface="Helvetica Neue"/>
                <a:ea typeface="Helvetica Neue"/>
                <a:cs typeface="Helvetica Neue"/>
              </a:defRPr>
            </a:lvl2pPr>
            <a:lvl3pPr>
              <a:defRPr sz="2175" b="1">
                <a:solidFill>
                  <a:srgbClr val="FFDB24"/>
                </a:solidFill>
                <a:latin typeface="Helvetica Neue"/>
                <a:ea typeface="Helvetica Neue"/>
                <a:cs typeface="Helvetica Neue"/>
              </a:defRPr>
            </a:lvl3pPr>
            <a:lvl4pPr>
              <a:defRPr sz="2175" b="1">
                <a:solidFill>
                  <a:srgbClr val="FFDB24"/>
                </a:solidFill>
                <a:latin typeface="Helvetica Neue"/>
                <a:ea typeface="Helvetica Neue"/>
                <a:cs typeface="Helvetica Neue"/>
              </a:defRPr>
            </a:lvl4pPr>
            <a:lvl5pPr>
              <a:defRPr sz="2175" b="1">
                <a:solidFill>
                  <a:srgbClr val="FFDB24"/>
                </a:solidFill>
                <a:latin typeface="Helvetica Neue"/>
                <a:ea typeface="Helvetica Neue"/>
                <a:cs typeface="Helvetica Neue"/>
              </a:defRPr>
            </a:lvl5pPr>
            <a:lvl6pPr>
              <a:defRPr sz="2175" b="1">
                <a:solidFill>
                  <a:srgbClr val="FFDB24"/>
                </a:solidFill>
                <a:latin typeface="Helvetica Neue"/>
                <a:ea typeface="Helvetica Neue"/>
                <a:cs typeface="Helvetica Neue"/>
              </a:defRPr>
            </a:lvl6pPr>
            <a:lvl7pPr>
              <a:defRPr sz="2175" b="1">
                <a:solidFill>
                  <a:srgbClr val="FFDB24"/>
                </a:solidFill>
                <a:latin typeface="Helvetica Neue"/>
                <a:ea typeface="Helvetica Neue"/>
                <a:cs typeface="Helvetica Neue"/>
              </a:defRPr>
            </a:lvl7pPr>
            <a:lvl8pPr>
              <a:defRPr sz="2175" b="1">
                <a:solidFill>
                  <a:srgbClr val="FFDB24"/>
                </a:solidFill>
                <a:latin typeface="Helvetica Neue"/>
                <a:ea typeface="Helvetica Neue"/>
                <a:cs typeface="Helvetica Neue"/>
              </a:defRPr>
            </a:lvl8pPr>
            <a:lvl9pPr>
              <a:defRPr sz="2175" b="1">
                <a:solidFill>
                  <a:srgbClr val="FFDB24"/>
                </a:solidFill>
                <a:latin typeface="Helvetica Neue"/>
                <a:ea typeface="Helvetica Neue"/>
                <a:cs typeface="Helvetica Neue"/>
              </a:defRPr>
            </a:lvl9pPr>
          </a:lstStyle>
          <a:p xmlns:a="http://schemas.openxmlformats.org/drawingml/2006/main">
            <a:pPr>
              <a:defRPr sz="2175" b="1">
                <a:solidFill>
                  <a:srgbClr val="FFDB24"/>
                </a:solidFill>
                <a:latin typeface="Helvetica Neue"/>
                <a:ea typeface="Helvetica Neue"/>
                <a:cs typeface="Helvetica Neue"/>
              </a:defRPr>
            </a:pPr>
            <a:r>
              <a:rPr sz="2175" b="1">
                <a:solidFill>
                  <a:srgbClr val="FFDB24"/>
                </a:solidFill>
                <a:latin typeface="Helvetica Neue"/>
                <a:ea typeface="Helvetica Neue"/>
                <a:cs typeface="Helvetica Neue"/>
              </a:rPr>
              <a:t>Accepted work</a:t>
            </a:r>
          </a:p>
        </p:txBody>
      </p:sp>
      <p:sp>
        <p:nvSpPr>
          <p:cNvPr id="6" name="">
            <a:extLst xmlns:a="http://schemas.openxmlformats.org/drawingml/2006/main">
              <a:ext uri="{FF2B5EF4-FFF2-40B4-BE49-F238E27FC236}">
                <a16:creationId xmlns:a16="http://schemas.microsoft.com/office/drawing/2014/main" id="{700D7BDE-F1AA-48E0-844A-42885D921591}"/>
              </a:ext>
            </a:extLst>
          </p:cNvPr>
          <p:cNvSpPr>
            <a:spLocks xmlns:a="http://schemas.openxmlformats.org/drawingml/2006/main" noGrp="1"/>
          </p:cNvSpPr>
          <p:nvPr/>
        </p:nvSpPr>
        <p:spPr>
          <a:xfrm xmlns:a="http://schemas.openxmlformats.org/drawingml/2006/main">
            <a:off x="609600" y="3000375"/>
            <a:ext cx="314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F4F3EB"/>
                </a:solidFill>
                <a:latin typeface="Helvetica Neue"/>
                <a:ea typeface="Helvetica Neue"/>
                <a:cs typeface="Helvetica Neue"/>
              </a:defRPr>
            </a:defPPr>
            <a:lvl1pPr>
              <a:defRPr sz="1950" b="0">
                <a:solidFill>
                  <a:srgbClr val="F4F3EB"/>
                </a:solidFill>
                <a:latin typeface="Helvetica Neue"/>
                <a:ea typeface="Helvetica Neue"/>
                <a:cs typeface="Helvetica Neue"/>
              </a:defRPr>
            </a:lvl1pPr>
            <a:lvl2pPr>
              <a:defRPr sz="1950" b="0">
                <a:solidFill>
                  <a:srgbClr val="F4F3EB"/>
                </a:solidFill>
                <a:latin typeface="Helvetica Neue"/>
                <a:ea typeface="Helvetica Neue"/>
                <a:cs typeface="Helvetica Neue"/>
              </a:defRPr>
            </a:lvl2pPr>
            <a:lvl3pPr>
              <a:defRPr sz="1950" b="0">
                <a:solidFill>
                  <a:srgbClr val="F4F3EB"/>
                </a:solidFill>
                <a:latin typeface="Helvetica Neue"/>
                <a:ea typeface="Helvetica Neue"/>
                <a:cs typeface="Helvetica Neue"/>
              </a:defRPr>
            </a:lvl3pPr>
            <a:lvl4pPr>
              <a:defRPr sz="1950" b="0">
                <a:solidFill>
                  <a:srgbClr val="F4F3EB"/>
                </a:solidFill>
                <a:latin typeface="Helvetica Neue"/>
                <a:ea typeface="Helvetica Neue"/>
                <a:cs typeface="Helvetica Neue"/>
              </a:defRPr>
            </a:lvl4pPr>
            <a:lvl5pPr>
              <a:defRPr sz="1950" b="0">
                <a:solidFill>
                  <a:srgbClr val="F4F3EB"/>
                </a:solidFill>
                <a:latin typeface="Helvetica Neue"/>
                <a:ea typeface="Helvetica Neue"/>
                <a:cs typeface="Helvetica Neue"/>
              </a:defRPr>
            </a:lvl5pPr>
            <a:lvl6pPr>
              <a:defRPr sz="1950" b="0">
                <a:solidFill>
                  <a:srgbClr val="F4F3EB"/>
                </a:solidFill>
                <a:latin typeface="Helvetica Neue"/>
                <a:ea typeface="Helvetica Neue"/>
                <a:cs typeface="Helvetica Neue"/>
              </a:defRPr>
            </a:lvl6pPr>
            <a:lvl7pPr>
              <a:defRPr sz="1950" b="0">
                <a:solidFill>
                  <a:srgbClr val="F4F3EB"/>
                </a:solidFill>
                <a:latin typeface="Helvetica Neue"/>
                <a:ea typeface="Helvetica Neue"/>
                <a:cs typeface="Helvetica Neue"/>
              </a:defRPr>
            </a:lvl7pPr>
            <a:lvl8pPr>
              <a:defRPr sz="1950" b="0">
                <a:solidFill>
                  <a:srgbClr val="F4F3EB"/>
                </a:solidFill>
                <a:latin typeface="Helvetica Neue"/>
                <a:ea typeface="Helvetica Neue"/>
                <a:cs typeface="Helvetica Neue"/>
              </a:defRPr>
            </a:lvl8pPr>
            <a:lvl9pPr>
              <a:defRPr sz="1950" b="0">
                <a:solidFill>
                  <a:srgbClr val="F4F3EB"/>
                </a:solidFill>
                <a:latin typeface="Helvetica Neue"/>
                <a:ea typeface="Helvetica Neue"/>
                <a:cs typeface="Helvetica Neue"/>
              </a:defRPr>
            </a:lvl9pPr>
          </a:lstStyle>
          <a:p xmlns:a="http://schemas.openxmlformats.org/drawingml/2006/main">
            <a:pPr>
              <a:defRPr sz="1950" b="0">
                <a:solidFill>
                  <a:srgbClr val="F4F3EB"/>
                </a:solidFill>
                <a:latin typeface="Helvetica Neue"/>
                <a:ea typeface="Helvetica Neue"/>
                <a:cs typeface="Helvetica Neue"/>
              </a:defRPr>
            </a:pPr>
            <a:r>
              <a:rPr sz="1950" b="0">
                <a:solidFill>
                  <a:srgbClr val="F4F3EB"/>
                </a:solidFill>
                <a:latin typeface="Helvetica Neue"/>
                <a:ea typeface="Helvetica Neue"/>
                <a:cs typeface="Helvetica Neue"/>
              </a:rPr>
              <a:t>Customer-defined task quality</a:t>
            </a:r>
          </a:p>
        </p:txBody>
      </p:sp>
      <p:sp>
        <p:nvSpPr>
          <p:cNvPr id="7" name="">
            <a:extLst xmlns:a="http://schemas.openxmlformats.org/drawingml/2006/main">
              <a:ext uri="{FF2B5EF4-FFF2-40B4-BE49-F238E27FC236}">
                <a16:creationId xmlns:a16="http://schemas.microsoft.com/office/drawing/2014/main" id="{14AFF9E2-02DD-455D-9249-BF87A4B766A1}"/>
              </a:ext>
            </a:extLst>
          </p:cNvPr>
          <p:cNvSpPr>
            <a:spLocks xmlns:a="http://schemas.openxmlformats.org/drawingml/2006/main" noGrp="1"/>
          </p:cNvSpPr>
          <p:nvPr/>
        </p:nvSpPr>
        <p:spPr>
          <a:xfrm xmlns:a="http://schemas.openxmlformats.org/drawingml/2006/main">
            <a:off x="4324350" y="252412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EE6758"/>
                </a:solidFill>
                <a:latin typeface="Helvetica Neue"/>
                <a:ea typeface="Helvetica Neue"/>
                <a:cs typeface="Helvetica Neue"/>
              </a:defRPr>
            </a:defPPr>
            <a:lvl1pPr>
              <a:defRPr sz="2175" b="1">
                <a:solidFill>
                  <a:srgbClr val="EE6758"/>
                </a:solidFill>
                <a:latin typeface="Helvetica Neue"/>
                <a:ea typeface="Helvetica Neue"/>
                <a:cs typeface="Helvetica Neue"/>
              </a:defRPr>
            </a:lvl1pPr>
            <a:lvl2pPr>
              <a:defRPr sz="2175" b="1">
                <a:solidFill>
                  <a:srgbClr val="EE6758"/>
                </a:solidFill>
                <a:latin typeface="Helvetica Neue"/>
                <a:ea typeface="Helvetica Neue"/>
                <a:cs typeface="Helvetica Neue"/>
              </a:defRPr>
            </a:lvl2pPr>
            <a:lvl3pPr>
              <a:defRPr sz="2175" b="1">
                <a:solidFill>
                  <a:srgbClr val="EE6758"/>
                </a:solidFill>
                <a:latin typeface="Helvetica Neue"/>
                <a:ea typeface="Helvetica Neue"/>
                <a:cs typeface="Helvetica Neue"/>
              </a:defRPr>
            </a:lvl3pPr>
            <a:lvl4pPr>
              <a:defRPr sz="2175" b="1">
                <a:solidFill>
                  <a:srgbClr val="EE6758"/>
                </a:solidFill>
                <a:latin typeface="Helvetica Neue"/>
                <a:ea typeface="Helvetica Neue"/>
                <a:cs typeface="Helvetica Neue"/>
              </a:defRPr>
            </a:lvl4pPr>
            <a:lvl5pPr>
              <a:defRPr sz="2175" b="1">
                <a:solidFill>
                  <a:srgbClr val="EE6758"/>
                </a:solidFill>
                <a:latin typeface="Helvetica Neue"/>
                <a:ea typeface="Helvetica Neue"/>
                <a:cs typeface="Helvetica Neue"/>
              </a:defRPr>
            </a:lvl5pPr>
            <a:lvl6pPr>
              <a:defRPr sz="2175" b="1">
                <a:solidFill>
                  <a:srgbClr val="EE6758"/>
                </a:solidFill>
                <a:latin typeface="Helvetica Neue"/>
                <a:ea typeface="Helvetica Neue"/>
                <a:cs typeface="Helvetica Neue"/>
              </a:defRPr>
            </a:lvl6pPr>
            <a:lvl7pPr>
              <a:defRPr sz="2175" b="1">
                <a:solidFill>
                  <a:srgbClr val="EE6758"/>
                </a:solidFill>
                <a:latin typeface="Helvetica Neue"/>
                <a:ea typeface="Helvetica Neue"/>
                <a:cs typeface="Helvetica Neue"/>
              </a:defRPr>
            </a:lvl7pPr>
            <a:lvl8pPr>
              <a:defRPr sz="2175" b="1">
                <a:solidFill>
                  <a:srgbClr val="EE6758"/>
                </a:solidFill>
                <a:latin typeface="Helvetica Neue"/>
                <a:ea typeface="Helvetica Neue"/>
                <a:cs typeface="Helvetica Neue"/>
              </a:defRPr>
            </a:lvl8pPr>
            <a:lvl9pPr>
              <a:defRPr sz="2175" b="1">
                <a:solidFill>
                  <a:srgbClr val="EE6758"/>
                </a:solidFill>
                <a:latin typeface="Helvetica Neue"/>
                <a:ea typeface="Helvetica Neue"/>
                <a:cs typeface="Helvetica Neue"/>
              </a:defRPr>
            </a:lvl9pPr>
          </a:lstStyle>
          <a:p xmlns:a="http://schemas.openxmlformats.org/drawingml/2006/main">
            <a:pPr>
              <a:defRPr sz="2175" b="1">
                <a:solidFill>
                  <a:srgbClr val="EE6758"/>
                </a:solidFill>
                <a:latin typeface="Helvetica Neue"/>
                <a:ea typeface="Helvetica Neue"/>
                <a:cs typeface="Helvetica Neue"/>
              </a:defRPr>
            </a:pPr>
            <a:r>
              <a:rPr sz="2175" b="1">
                <a:solidFill>
                  <a:srgbClr val="EE6758"/>
                </a:solidFill>
                <a:latin typeface="Helvetica Neue"/>
                <a:ea typeface="Helvetica Neue"/>
                <a:cs typeface="Helvetica Neue"/>
              </a:rPr>
              <a:t>Service</a:t>
            </a:r>
          </a:p>
        </p:txBody>
      </p:sp>
      <p:sp>
        <p:nvSpPr>
          <p:cNvPr id="8" name="">
            <a:extLst xmlns:a="http://schemas.openxmlformats.org/drawingml/2006/main">
              <a:ext uri="{FF2B5EF4-FFF2-40B4-BE49-F238E27FC236}">
                <a16:creationId xmlns:a16="http://schemas.microsoft.com/office/drawing/2014/main" id="{E21C7DD8-E35B-4AC3-899C-C2654A9F1DB4}"/>
              </a:ext>
            </a:extLst>
          </p:cNvPr>
          <p:cNvSpPr>
            <a:spLocks xmlns:a="http://schemas.openxmlformats.org/drawingml/2006/main" noGrp="1"/>
          </p:cNvSpPr>
          <p:nvPr/>
        </p:nvSpPr>
        <p:spPr>
          <a:xfrm xmlns:a="http://schemas.openxmlformats.org/drawingml/2006/main">
            <a:off x="4324350" y="3000375"/>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F4F3EB"/>
                </a:solidFill>
                <a:latin typeface="Helvetica Neue"/>
                <a:ea typeface="Helvetica Neue"/>
                <a:cs typeface="Helvetica Neue"/>
              </a:defRPr>
            </a:defPPr>
            <a:lvl1pPr>
              <a:defRPr sz="1875" b="0">
                <a:solidFill>
                  <a:srgbClr val="F4F3EB"/>
                </a:solidFill>
                <a:latin typeface="Helvetica Neue"/>
                <a:ea typeface="Helvetica Neue"/>
                <a:cs typeface="Helvetica Neue"/>
              </a:defRPr>
            </a:lvl1pPr>
            <a:lvl2pPr>
              <a:defRPr sz="1875" b="0">
                <a:solidFill>
                  <a:srgbClr val="F4F3EB"/>
                </a:solidFill>
                <a:latin typeface="Helvetica Neue"/>
                <a:ea typeface="Helvetica Neue"/>
                <a:cs typeface="Helvetica Neue"/>
              </a:defRPr>
            </a:lvl2pPr>
            <a:lvl3pPr>
              <a:defRPr sz="1875" b="0">
                <a:solidFill>
                  <a:srgbClr val="F4F3EB"/>
                </a:solidFill>
                <a:latin typeface="Helvetica Neue"/>
                <a:ea typeface="Helvetica Neue"/>
                <a:cs typeface="Helvetica Neue"/>
              </a:defRPr>
            </a:lvl3pPr>
            <a:lvl4pPr>
              <a:defRPr sz="1875" b="0">
                <a:solidFill>
                  <a:srgbClr val="F4F3EB"/>
                </a:solidFill>
                <a:latin typeface="Helvetica Neue"/>
                <a:ea typeface="Helvetica Neue"/>
                <a:cs typeface="Helvetica Neue"/>
              </a:defRPr>
            </a:lvl4pPr>
            <a:lvl5pPr>
              <a:defRPr sz="1875" b="0">
                <a:solidFill>
                  <a:srgbClr val="F4F3EB"/>
                </a:solidFill>
                <a:latin typeface="Helvetica Neue"/>
                <a:ea typeface="Helvetica Neue"/>
                <a:cs typeface="Helvetica Neue"/>
              </a:defRPr>
            </a:lvl5pPr>
            <a:lvl6pPr>
              <a:defRPr sz="1875" b="0">
                <a:solidFill>
                  <a:srgbClr val="F4F3EB"/>
                </a:solidFill>
                <a:latin typeface="Helvetica Neue"/>
                <a:ea typeface="Helvetica Neue"/>
                <a:cs typeface="Helvetica Neue"/>
              </a:defRPr>
            </a:lvl6pPr>
            <a:lvl7pPr>
              <a:defRPr sz="1875" b="0">
                <a:solidFill>
                  <a:srgbClr val="F4F3EB"/>
                </a:solidFill>
                <a:latin typeface="Helvetica Neue"/>
                <a:ea typeface="Helvetica Neue"/>
                <a:cs typeface="Helvetica Neue"/>
              </a:defRPr>
            </a:lvl7pPr>
            <a:lvl8pPr>
              <a:defRPr sz="1875" b="0">
                <a:solidFill>
                  <a:srgbClr val="F4F3EB"/>
                </a:solidFill>
                <a:latin typeface="Helvetica Neue"/>
                <a:ea typeface="Helvetica Neue"/>
                <a:cs typeface="Helvetica Neue"/>
              </a:defRPr>
            </a:lvl8pPr>
            <a:lvl9pPr>
              <a:defRPr sz="1875" b="0">
                <a:solidFill>
                  <a:srgbClr val="F4F3EB"/>
                </a:solidFill>
                <a:latin typeface="Helvetica Neue"/>
                <a:ea typeface="Helvetica Neue"/>
                <a:cs typeface="Helvetica Neue"/>
              </a:defRPr>
            </a:lvl9pPr>
          </a:lstStyle>
          <a:p xmlns:a="http://schemas.openxmlformats.org/drawingml/2006/main">
            <a:pPr>
              <a:defRPr sz="1875" b="0">
                <a:solidFill>
                  <a:srgbClr val="F4F3EB"/>
                </a:solidFill>
                <a:latin typeface="Helvetica Neue"/>
                <a:ea typeface="Helvetica Neue"/>
                <a:cs typeface="Helvetica Neue"/>
              </a:defRPr>
            </a:pPr>
            <a:r>
              <a:rPr sz="1875" b="0">
                <a:solidFill>
                  <a:srgbClr val="F4F3EB"/>
                </a:solidFill>
                <a:latin typeface="Helvetica Neue"/>
                <a:ea typeface="Helvetica Neue"/>
                <a:cs typeface="Helvetica Neue"/>
              </a:rPr>
              <a:t>TTFT: time to first token</a:t>
            </a:r>
          </a:p>
          <a:p xmlns:a="http://schemas.openxmlformats.org/drawingml/2006/main">
            <a:pPr>
              <a:defRPr sz="1875" b="0">
                <a:solidFill>
                  <a:srgbClr val="F4F3EB"/>
                </a:solidFill>
                <a:latin typeface="Helvetica Neue"/>
                <a:ea typeface="Helvetica Neue"/>
                <a:cs typeface="Helvetica Neue"/>
              </a:defRPr>
            </a:pPr>
            <a:r>
              <a:rPr sz="1875" b="0">
                <a:solidFill>
                  <a:srgbClr val="F4F3EB"/>
                </a:solidFill>
                <a:latin typeface="Helvetica Neue"/>
                <a:ea typeface="Helvetica Neue"/>
                <a:cs typeface="Helvetica Neue"/>
              </a:rPr>
              <a:t>TPOT: time per output token</a:t>
            </a:r>
          </a:p>
          <a:p xmlns:a="http://schemas.openxmlformats.org/drawingml/2006/main">
            <a:pPr>
              <a:defRPr sz="1875" b="0">
                <a:solidFill>
                  <a:srgbClr val="F4F3EB"/>
                </a:solidFill>
                <a:latin typeface="Helvetica Neue"/>
                <a:ea typeface="Helvetica Neue"/>
                <a:cs typeface="Helvetica Neue"/>
              </a:defRPr>
            </a:pPr>
            <a:r>
              <a:rPr sz="1875" b="0">
                <a:solidFill>
                  <a:srgbClr val="F4F3EB"/>
                </a:solidFill>
                <a:latin typeface="Helvetica Neue"/>
                <a:ea typeface="Helvetica Neue"/>
                <a:cs typeface="Helvetica Neue"/>
              </a:rPr>
              <a:t>End-to-end task latency</a:t>
            </a:r>
          </a:p>
        </p:txBody>
      </p:sp>
      <p:sp>
        <p:nvSpPr>
          <p:cNvPr id="9" name="">
            <a:extLst xmlns:a="http://schemas.openxmlformats.org/drawingml/2006/main">
              <a:ext uri="{FF2B5EF4-FFF2-40B4-BE49-F238E27FC236}">
                <a16:creationId xmlns:a16="http://schemas.microsoft.com/office/drawing/2014/main" id="{44ECC9AD-B333-40C1-8A43-C059ED9FB91A}"/>
              </a:ext>
            </a:extLst>
          </p:cNvPr>
          <p:cNvSpPr>
            <a:spLocks xmlns:a="http://schemas.openxmlformats.org/drawingml/2006/main" noGrp="1"/>
          </p:cNvSpPr>
          <p:nvPr/>
        </p:nvSpPr>
        <p:spPr>
          <a:xfrm xmlns:a="http://schemas.openxmlformats.org/drawingml/2006/main">
            <a:off x="8229600" y="252412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FFDB24"/>
                </a:solidFill>
                <a:latin typeface="Helvetica Neue"/>
                <a:ea typeface="Helvetica Neue"/>
                <a:cs typeface="Helvetica Neue"/>
              </a:defRPr>
            </a:defPPr>
            <a:lvl1pPr>
              <a:defRPr sz="2175" b="1">
                <a:solidFill>
                  <a:srgbClr val="FFDB24"/>
                </a:solidFill>
                <a:latin typeface="Helvetica Neue"/>
                <a:ea typeface="Helvetica Neue"/>
                <a:cs typeface="Helvetica Neue"/>
              </a:defRPr>
            </a:lvl1pPr>
            <a:lvl2pPr>
              <a:defRPr sz="2175" b="1">
                <a:solidFill>
                  <a:srgbClr val="FFDB24"/>
                </a:solidFill>
                <a:latin typeface="Helvetica Neue"/>
                <a:ea typeface="Helvetica Neue"/>
                <a:cs typeface="Helvetica Neue"/>
              </a:defRPr>
            </a:lvl2pPr>
            <a:lvl3pPr>
              <a:defRPr sz="2175" b="1">
                <a:solidFill>
                  <a:srgbClr val="FFDB24"/>
                </a:solidFill>
                <a:latin typeface="Helvetica Neue"/>
                <a:ea typeface="Helvetica Neue"/>
                <a:cs typeface="Helvetica Neue"/>
              </a:defRPr>
            </a:lvl3pPr>
            <a:lvl4pPr>
              <a:defRPr sz="2175" b="1">
                <a:solidFill>
                  <a:srgbClr val="FFDB24"/>
                </a:solidFill>
                <a:latin typeface="Helvetica Neue"/>
                <a:ea typeface="Helvetica Neue"/>
                <a:cs typeface="Helvetica Neue"/>
              </a:defRPr>
            </a:lvl4pPr>
            <a:lvl5pPr>
              <a:defRPr sz="2175" b="1">
                <a:solidFill>
                  <a:srgbClr val="FFDB24"/>
                </a:solidFill>
                <a:latin typeface="Helvetica Neue"/>
                <a:ea typeface="Helvetica Neue"/>
                <a:cs typeface="Helvetica Neue"/>
              </a:defRPr>
            </a:lvl5pPr>
            <a:lvl6pPr>
              <a:defRPr sz="2175" b="1">
                <a:solidFill>
                  <a:srgbClr val="FFDB24"/>
                </a:solidFill>
                <a:latin typeface="Helvetica Neue"/>
                <a:ea typeface="Helvetica Neue"/>
                <a:cs typeface="Helvetica Neue"/>
              </a:defRPr>
            </a:lvl6pPr>
            <a:lvl7pPr>
              <a:defRPr sz="2175" b="1">
                <a:solidFill>
                  <a:srgbClr val="FFDB24"/>
                </a:solidFill>
                <a:latin typeface="Helvetica Neue"/>
                <a:ea typeface="Helvetica Neue"/>
                <a:cs typeface="Helvetica Neue"/>
              </a:defRPr>
            </a:lvl7pPr>
            <a:lvl8pPr>
              <a:defRPr sz="2175" b="1">
                <a:solidFill>
                  <a:srgbClr val="FFDB24"/>
                </a:solidFill>
                <a:latin typeface="Helvetica Neue"/>
                <a:ea typeface="Helvetica Neue"/>
                <a:cs typeface="Helvetica Neue"/>
              </a:defRPr>
            </a:lvl8pPr>
            <a:lvl9pPr>
              <a:defRPr sz="2175" b="1">
                <a:solidFill>
                  <a:srgbClr val="FFDB24"/>
                </a:solidFill>
                <a:latin typeface="Helvetica Neue"/>
                <a:ea typeface="Helvetica Neue"/>
                <a:cs typeface="Helvetica Neue"/>
              </a:defRPr>
            </a:lvl9pPr>
          </a:lstStyle>
          <a:p xmlns:a="http://schemas.openxmlformats.org/drawingml/2006/main">
            <a:pPr>
              <a:defRPr sz="2175" b="1">
                <a:solidFill>
                  <a:srgbClr val="FFDB24"/>
                </a:solidFill>
                <a:latin typeface="Helvetica Neue"/>
                <a:ea typeface="Helvetica Neue"/>
                <a:cs typeface="Helvetica Neue"/>
              </a:defRPr>
            </a:pPr>
            <a:r>
              <a:rPr sz="2175" b="1">
                <a:solidFill>
                  <a:srgbClr val="FFDB24"/>
                </a:solidFill>
                <a:latin typeface="Helvetica Neue"/>
                <a:ea typeface="Helvetica Neue"/>
                <a:cs typeface="Helvetica Neue"/>
              </a:rPr>
              <a:t>Energy</a:t>
            </a:r>
          </a:p>
        </p:txBody>
      </p:sp>
      <p:sp>
        <p:nvSpPr>
          <p:cNvPr id="10" name="">
            <a:extLst xmlns:a="http://schemas.openxmlformats.org/drawingml/2006/main">
              <a:ext uri="{FF2B5EF4-FFF2-40B4-BE49-F238E27FC236}">
                <a16:creationId xmlns:a16="http://schemas.microsoft.com/office/drawing/2014/main" id="{71886C16-DB52-4BF6-B4C0-776551125D1E}"/>
              </a:ext>
            </a:extLst>
          </p:cNvPr>
          <p:cNvSpPr>
            <a:spLocks xmlns:a="http://schemas.openxmlformats.org/drawingml/2006/main" noGrp="1"/>
          </p:cNvSpPr>
          <p:nvPr/>
        </p:nvSpPr>
        <p:spPr>
          <a:xfrm xmlns:a="http://schemas.openxmlformats.org/drawingml/2006/main">
            <a:off x="8229600" y="3000375"/>
            <a:ext cx="319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F4F3EB"/>
                </a:solidFill>
                <a:latin typeface="Helvetica Neue"/>
                <a:ea typeface="Helvetica Neue"/>
                <a:cs typeface="Helvetica Neue"/>
              </a:defRPr>
            </a:defPPr>
            <a:lvl1pPr>
              <a:defRPr sz="1950" b="0">
                <a:solidFill>
                  <a:srgbClr val="F4F3EB"/>
                </a:solidFill>
                <a:latin typeface="Helvetica Neue"/>
                <a:ea typeface="Helvetica Neue"/>
                <a:cs typeface="Helvetica Neue"/>
              </a:defRPr>
            </a:lvl1pPr>
            <a:lvl2pPr>
              <a:defRPr sz="1950" b="0">
                <a:solidFill>
                  <a:srgbClr val="F4F3EB"/>
                </a:solidFill>
                <a:latin typeface="Helvetica Neue"/>
                <a:ea typeface="Helvetica Neue"/>
                <a:cs typeface="Helvetica Neue"/>
              </a:defRPr>
            </a:lvl2pPr>
            <a:lvl3pPr>
              <a:defRPr sz="1950" b="0">
                <a:solidFill>
                  <a:srgbClr val="F4F3EB"/>
                </a:solidFill>
                <a:latin typeface="Helvetica Neue"/>
                <a:ea typeface="Helvetica Neue"/>
                <a:cs typeface="Helvetica Neue"/>
              </a:defRPr>
            </a:lvl3pPr>
            <a:lvl4pPr>
              <a:defRPr sz="1950" b="0">
                <a:solidFill>
                  <a:srgbClr val="F4F3EB"/>
                </a:solidFill>
                <a:latin typeface="Helvetica Neue"/>
                <a:ea typeface="Helvetica Neue"/>
                <a:cs typeface="Helvetica Neue"/>
              </a:defRPr>
            </a:lvl4pPr>
            <a:lvl5pPr>
              <a:defRPr sz="1950" b="0">
                <a:solidFill>
                  <a:srgbClr val="F4F3EB"/>
                </a:solidFill>
                <a:latin typeface="Helvetica Neue"/>
                <a:ea typeface="Helvetica Neue"/>
                <a:cs typeface="Helvetica Neue"/>
              </a:defRPr>
            </a:lvl5pPr>
            <a:lvl6pPr>
              <a:defRPr sz="1950" b="0">
                <a:solidFill>
                  <a:srgbClr val="F4F3EB"/>
                </a:solidFill>
                <a:latin typeface="Helvetica Neue"/>
                <a:ea typeface="Helvetica Neue"/>
                <a:cs typeface="Helvetica Neue"/>
              </a:defRPr>
            </a:lvl6pPr>
            <a:lvl7pPr>
              <a:defRPr sz="1950" b="0">
                <a:solidFill>
                  <a:srgbClr val="F4F3EB"/>
                </a:solidFill>
                <a:latin typeface="Helvetica Neue"/>
                <a:ea typeface="Helvetica Neue"/>
                <a:cs typeface="Helvetica Neue"/>
              </a:defRPr>
            </a:lvl7pPr>
            <a:lvl8pPr>
              <a:defRPr sz="1950" b="0">
                <a:solidFill>
                  <a:srgbClr val="F4F3EB"/>
                </a:solidFill>
                <a:latin typeface="Helvetica Neue"/>
                <a:ea typeface="Helvetica Neue"/>
                <a:cs typeface="Helvetica Neue"/>
              </a:defRPr>
            </a:lvl8pPr>
            <a:lvl9pPr>
              <a:defRPr sz="1950" b="0">
                <a:solidFill>
                  <a:srgbClr val="F4F3EB"/>
                </a:solidFill>
                <a:latin typeface="Helvetica Neue"/>
                <a:ea typeface="Helvetica Neue"/>
                <a:cs typeface="Helvetica Neue"/>
              </a:defRPr>
            </a:lvl9pPr>
          </a:lstStyle>
          <a:p xmlns:a="http://schemas.openxmlformats.org/drawingml/2006/main">
            <a:pPr>
              <a:defRPr sz="1950" b="0">
                <a:solidFill>
                  <a:srgbClr val="F4F3EB"/>
                </a:solidFill>
                <a:latin typeface="Helvetica Neue"/>
                <a:ea typeface="Helvetica Neue"/>
                <a:cs typeface="Helvetica Neue"/>
              </a:defRPr>
            </a:pPr>
            <a:r>
              <a:rPr sz="1950" b="0">
                <a:solidFill>
                  <a:srgbClr val="F4F3EB"/>
                </a:solidFill>
                <a:latin typeface="Helvetica Neue"/>
                <a:ea typeface="Helvetica Neue"/>
                <a:cs typeface="Helvetica Neue"/>
              </a:rPr>
              <a:t>System kWh in the agreed test window</a:t>
            </a:r>
          </a:p>
        </p:txBody>
      </p:sp>
      <p:sp>
        <p:nvSpPr>
          <p:cNvPr id="11" name="">
            <a:extLst xmlns:a="http://schemas.openxmlformats.org/drawingml/2006/main">
              <a:ext uri="{FF2B5EF4-FFF2-40B4-BE49-F238E27FC236}">
                <a16:creationId xmlns:a16="http://schemas.microsoft.com/office/drawing/2014/main" id="{E01EC379-4682-4EA0-ABF1-D9EACBFE732B}"/>
              </a:ext>
            </a:extLst>
          </p:cNvPr>
          <p:cNvSpPr>
            <a:spLocks xmlns:a="http://schemas.openxmlformats.org/drawingml/2006/main" noGrp="1"/>
          </p:cNvSpPr>
          <p:nvPr/>
        </p:nvSpPr>
        <p:spPr>
          <a:xfrm xmlns:a="http://schemas.openxmlformats.org/drawingml/2006/main">
            <a:off x="609600" y="4629150"/>
            <a:ext cx="1071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F4F3EB"/>
                </a:solidFill>
                <a:latin typeface="Helvetica Neue"/>
                <a:ea typeface="Helvetica Neue"/>
                <a:cs typeface="Helvetica Neue"/>
              </a:defRPr>
            </a:defPPr>
            <a:lvl1pPr>
              <a:defRPr sz="2625" b="1">
                <a:solidFill>
                  <a:srgbClr val="F4F3EB"/>
                </a:solidFill>
                <a:latin typeface="Helvetica Neue"/>
                <a:ea typeface="Helvetica Neue"/>
                <a:cs typeface="Helvetica Neue"/>
              </a:defRPr>
            </a:lvl1pPr>
            <a:lvl2pPr>
              <a:defRPr sz="2625" b="1">
                <a:solidFill>
                  <a:srgbClr val="F4F3EB"/>
                </a:solidFill>
                <a:latin typeface="Helvetica Neue"/>
                <a:ea typeface="Helvetica Neue"/>
                <a:cs typeface="Helvetica Neue"/>
              </a:defRPr>
            </a:lvl2pPr>
            <a:lvl3pPr>
              <a:defRPr sz="2625" b="1">
                <a:solidFill>
                  <a:srgbClr val="F4F3EB"/>
                </a:solidFill>
                <a:latin typeface="Helvetica Neue"/>
                <a:ea typeface="Helvetica Neue"/>
                <a:cs typeface="Helvetica Neue"/>
              </a:defRPr>
            </a:lvl3pPr>
            <a:lvl4pPr>
              <a:defRPr sz="2625" b="1">
                <a:solidFill>
                  <a:srgbClr val="F4F3EB"/>
                </a:solidFill>
                <a:latin typeface="Helvetica Neue"/>
                <a:ea typeface="Helvetica Neue"/>
                <a:cs typeface="Helvetica Neue"/>
              </a:defRPr>
            </a:lvl4pPr>
            <a:lvl5pPr>
              <a:defRPr sz="2625" b="1">
                <a:solidFill>
                  <a:srgbClr val="F4F3EB"/>
                </a:solidFill>
                <a:latin typeface="Helvetica Neue"/>
                <a:ea typeface="Helvetica Neue"/>
                <a:cs typeface="Helvetica Neue"/>
              </a:defRPr>
            </a:lvl5pPr>
            <a:lvl6pPr>
              <a:defRPr sz="2625" b="1">
                <a:solidFill>
                  <a:srgbClr val="F4F3EB"/>
                </a:solidFill>
                <a:latin typeface="Helvetica Neue"/>
                <a:ea typeface="Helvetica Neue"/>
                <a:cs typeface="Helvetica Neue"/>
              </a:defRPr>
            </a:lvl6pPr>
            <a:lvl7pPr>
              <a:defRPr sz="2625" b="1">
                <a:solidFill>
                  <a:srgbClr val="F4F3EB"/>
                </a:solidFill>
                <a:latin typeface="Helvetica Neue"/>
                <a:ea typeface="Helvetica Neue"/>
                <a:cs typeface="Helvetica Neue"/>
              </a:defRPr>
            </a:lvl7pPr>
            <a:lvl8pPr>
              <a:defRPr sz="2625" b="1">
                <a:solidFill>
                  <a:srgbClr val="F4F3EB"/>
                </a:solidFill>
                <a:latin typeface="Helvetica Neue"/>
                <a:ea typeface="Helvetica Neue"/>
                <a:cs typeface="Helvetica Neue"/>
              </a:defRPr>
            </a:lvl8pPr>
            <a:lvl9pPr>
              <a:defRPr sz="2625" b="1">
                <a:solidFill>
                  <a:srgbClr val="F4F3EB"/>
                </a:solidFill>
                <a:latin typeface="Helvetica Neue"/>
                <a:ea typeface="Helvetica Neue"/>
                <a:cs typeface="Helvetica Neue"/>
              </a:defRPr>
            </a:lvl9pPr>
          </a:lstStyle>
          <a:p xmlns:a="http://schemas.openxmlformats.org/drawingml/2006/main">
            <a:pPr>
              <a:defRPr sz="2625" b="1">
                <a:solidFill>
                  <a:srgbClr val="F4F3EB"/>
                </a:solidFill>
                <a:latin typeface="Helvetica Neue"/>
                <a:ea typeface="Helvetica Neue"/>
                <a:cs typeface="Helvetica Neue"/>
              </a:defRPr>
            </a:pPr>
            <a:r>
              <a:rPr sz="2625" b="1">
                <a:solidFill>
                  <a:srgbClr val="F4F3EB"/>
                </a:solidFill>
                <a:latin typeface="Helvetica Neue"/>
                <a:ea typeface="Helvetica Neue"/>
                <a:cs typeface="Helvetica Neue"/>
              </a:rPr>
              <a:t>kWh per successful task = metered energy ÷ accepted tasks</a:t>
            </a:r>
          </a:p>
        </p:txBody>
      </p:sp>
      <p:sp>
        <p:nvSpPr>
          <p:cNvPr id="12" name="">
            <a:extLst xmlns:a="http://schemas.openxmlformats.org/drawingml/2006/main">
              <a:ext uri="{FF2B5EF4-FFF2-40B4-BE49-F238E27FC236}">
                <a16:creationId xmlns:a16="http://schemas.microsoft.com/office/drawing/2014/main" id="{87FA3D0B-2CB4-4EFF-B1B5-16FE0EA010F7}"/>
              </a:ext>
            </a:extLst>
          </p:cNvPr>
          <p:cNvSpPr>
            <a:spLocks xmlns:a="http://schemas.openxmlformats.org/drawingml/2006/main" noGrp="1"/>
          </p:cNvSpPr>
          <p:nvPr/>
        </p:nvSpPr>
        <p:spPr>
          <a:xfrm xmlns:a="http://schemas.openxmlformats.org/drawingml/2006/main">
            <a:off x="609600" y="54102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BABDB0"/>
                </a:solidFill>
                <a:latin typeface="Helvetica Neue"/>
                <a:ea typeface="Helvetica Neue"/>
                <a:cs typeface="Helvetica Neue"/>
              </a:defRPr>
            </a:defPPr>
            <a:lvl1pPr>
              <a:defRPr sz="1800" b="0">
                <a:solidFill>
                  <a:srgbClr val="BABDB0"/>
                </a:solidFill>
                <a:latin typeface="Helvetica Neue"/>
                <a:ea typeface="Helvetica Neue"/>
                <a:cs typeface="Helvetica Neue"/>
              </a:defRPr>
            </a:lvl1pPr>
            <a:lvl2pPr>
              <a:defRPr sz="1800" b="0">
                <a:solidFill>
                  <a:srgbClr val="BABDB0"/>
                </a:solidFill>
                <a:latin typeface="Helvetica Neue"/>
                <a:ea typeface="Helvetica Neue"/>
                <a:cs typeface="Helvetica Neue"/>
              </a:defRPr>
            </a:lvl2pPr>
            <a:lvl3pPr>
              <a:defRPr sz="1800" b="0">
                <a:solidFill>
                  <a:srgbClr val="BABDB0"/>
                </a:solidFill>
                <a:latin typeface="Helvetica Neue"/>
                <a:ea typeface="Helvetica Neue"/>
                <a:cs typeface="Helvetica Neue"/>
              </a:defRPr>
            </a:lvl3pPr>
            <a:lvl4pPr>
              <a:defRPr sz="1800" b="0">
                <a:solidFill>
                  <a:srgbClr val="BABDB0"/>
                </a:solidFill>
                <a:latin typeface="Helvetica Neue"/>
                <a:ea typeface="Helvetica Neue"/>
                <a:cs typeface="Helvetica Neue"/>
              </a:defRPr>
            </a:lvl4pPr>
            <a:lvl5pPr>
              <a:defRPr sz="1800" b="0">
                <a:solidFill>
                  <a:srgbClr val="BABDB0"/>
                </a:solidFill>
                <a:latin typeface="Helvetica Neue"/>
                <a:ea typeface="Helvetica Neue"/>
                <a:cs typeface="Helvetica Neue"/>
              </a:defRPr>
            </a:lvl5pPr>
            <a:lvl6pPr>
              <a:defRPr sz="1800" b="0">
                <a:solidFill>
                  <a:srgbClr val="BABDB0"/>
                </a:solidFill>
                <a:latin typeface="Helvetica Neue"/>
                <a:ea typeface="Helvetica Neue"/>
                <a:cs typeface="Helvetica Neue"/>
              </a:defRPr>
            </a:lvl6pPr>
            <a:lvl7pPr>
              <a:defRPr sz="1800" b="0">
                <a:solidFill>
                  <a:srgbClr val="BABDB0"/>
                </a:solidFill>
                <a:latin typeface="Helvetica Neue"/>
                <a:ea typeface="Helvetica Neue"/>
                <a:cs typeface="Helvetica Neue"/>
              </a:defRPr>
            </a:lvl7pPr>
            <a:lvl8pPr>
              <a:defRPr sz="1800" b="0">
                <a:solidFill>
                  <a:srgbClr val="BABDB0"/>
                </a:solidFill>
                <a:latin typeface="Helvetica Neue"/>
                <a:ea typeface="Helvetica Neue"/>
                <a:cs typeface="Helvetica Neue"/>
              </a:defRPr>
            </a:lvl8pPr>
            <a:lvl9pPr>
              <a:defRPr sz="1800" b="0">
                <a:solidFill>
                  <a:srgbClr val="BABDB0"/>
                </a:solidFill>
                <a:latin typeface="Helvetica Neue"/>
                <a:ea typeface="Helvetica Neue"/>
                <a:cs typeface="Helvetica Neue"/>
              </a:defRPr>
            </a:lvl9pPr>
          </a:lstStyle>
          <a:p xmlns:a="http://schemas.openxmlformats.org/drawingml/2006/main">
            <a:pPr>
              <a:defRPr sz="1800" b="0">
                <a:solidFill>
                  <a:srgbClr val="BABDB0"/>
                </a:solidFill>
                <a:latin typeface="Helvetica Neue"/>
                <a:ea typeface="Helvetica Neue"/>
                <a:cs typeface="Helvetica Neue"/>
              </a:defRPr>
            </a:pPr>
            <a:r>
              <a:rPr sz="1800" b="0">
                <a:solidFill>
                  <a:srgbClr val="BABDB0"/>
                </a:solidFill>
                <a:latin typeface="Helvetica Neue"/>
                <a:ea typeface="Helvetica Neue"/>
                <a:cs typeface="Helvetica Neue"/>
              </a:rPr>
              <a:t>Include energy used by retries, failures and idle time inside the test boundary.</a:t>
            </a:r>
          </a:p>
        </p:txBody>
      </p:sp>
    </p:spTree>
    <p:extLst>
      <p:ext uri="{BB962C8B-B14F-4D97-AF65-F5344CB8AC3E}">
        <p14:creationId xmlns:p14="http://schemas.microsoft.com/office/powerpoint/2010/main" val="157902805"/>
      </p:ext>
    </p:extLst>
  </p:cSld>
</p:sld>
</file>

<file path=ppt/slides/slide6.xml><?xml version="1.0" encoding="utf-8"?>
<p:sld xmlns:p="http://schemas.openxmlformats.org/presentationml/2006/main">
  <p:cSld>
    <p:bg>
      <p:bgPr>
        <a:solidFill xmlns:a="http://schemas.openxmlformats.org/drawingml/2006/main">
          <a:srgbClr val="EEEEE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7ABBBF3-9772-4AEA-8212-45C5B960A843}"/>
              </a:ext>
            </a:extLst>
          </p:cNvPr>
          <p:cNvSpPr>
            <a:spLocks xmlns:a="http://schemas.openxmlformats.org/drawingml/2006/main" noGrp="1"/>
          </p:cNvSpPr>
          <p:nvPr/>
        </p:nvSpPr>
        <p:spPr>
          <a:xfrm xmlns:a="http://schemas.openxmlformats.org/drawingml/2006/main">
            <a:off x="609600" y="3429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575E43"/>
                </a:solidFill>
                <a:latin typeface="Helvetica Neue"/>
                <a:ea typeface="Helvetica Neue"/>
                <a:cs typeface="Helvetica Neue"/>
              </a:defRPr>
            </a:defPPr>
            <a:lvl1pPr>
              <a:defRPr sz="1125" b="1">
                <a:solidFill>
                  <a:srgbClr val="575E43"/>
                </a:solidFill>
                <a:latin typeface="Helvetica Neue"/>
                <a:ea typeface="Helvetica Neue"/>
                <a:cs typeface="Helvetica Neue"/>
              </a:defRPr>
            </a:lvl1pPr>
            <a:lvl2pPr>
              <a:defRPr sz="1125" b="1">
                <a:solidFill>
                  <a:srgbClr val="575E43"/>
                </a:solidFill>
                <a:latin typeface="Helvetica Neue"/>
                <a:ea typeface="Helvetica Neue"/>
                <a:cs typeface="Helvetica Neue"/>
              </a:defRPr>
            </a:lvl2pPr>
            <a:lvl3pPr>
              <a:defRPr sz="1125" b="1">
                <a:solidFill>
                  <a:srgbClr val="575E43"/>
                </a:solidFill>
                <a:latin typeface="Helvetica Neue"/>
                <a:ea typeface="Helvetica Neue"/>
                <a:cs typeface="Helvetica Neue"/>
              </a:defRPr>
            </a:lvl3pPr>
            <a:lvl4pPr>
              <a:defRPr sz="1125" b="1">
                <a:solidFill>
                  <a:srgbClr val="575E43"/>
                </a:solidFill>
                <a:latin typeface="Helvetica Neue"/>
                <a:ea typeface="Helvetica Neue"/>
                <a:cs typeface="Helvetica Neue"/>
              </a:defRPr>
            </a:lvl4pPr>
            <a:lvl5pPr>
              <a:defRPr sz="1125" b="1">
                <a:solidFill>
                  <a:srgbClr val="575E43"/>
                </a:solidFill>
                <a:latin typeface="Helvetica Neue"/>
                <a:ea typeface="Helvetica Neue"/>
                <a:cs typeface="Helvetica Neue"/>
              </a:defRPr>
            </a:lvl5pPr>
            <a:lvl6pPr>
              <a:defRPr sz="1125" b="1">
                <a:solidFill>
                  <a:srgbClr val="575E43"/>
                </a:solidFill>
                <a:latin typeface="Helvetica Neue"/>
                <a:ea typeface="Helvetica Neue"/>
                <a:cs typeface="Helvetica Neue"/>
              </a:defRPr>
            </a:lvl6pPr>
            <a:lvl7pPr>
              <a:defRPr sz="1125" b="1">
                <a:solidFill>
                  <a:srgbClr val="575E43"/>
                </a:solidFill>
                <a:latin typeface="Helvetica Neue"/>
                <a:ea typeface="Helvetica Neue"/>
                <a:cs typeface="Helvetica Neue"/>
              </a:defRPr>
            </a:lvl7pPr>
            <a:lvl8pPr>
              <a:defRPr sz="1125" b="1">
                <a:solidFill>
                  <a:srgbClr val="575E43"/>
                </a:solidFill>
                <a:latin typeface="Helvetica Neue"/>
                <a:ea typeface="Helvetica Neue"/>
                <a:cs typeface="Helvetica Neue"/>
              </a:defRPr>
            </a:lvl8pPr>
            <a:lvl9pPr>
              <a:defRPr sz="1125" b="1">
                <a:solidFill>
                  <a:srgbClr val="575E43"/>
                </a:solidFill>
                <a:latin typeface="Helvetica Neue"/>
                <a:ea typeface="Helvetica Neue"/>
                <a:cs typeface="Helvetica Neue"/>
              </a:defRPr>
            </a:lvl9pPr>
          </a:lstStyle>
          <a:p xmlns:a="http://schemas.openxmlformats.org/drawingml/2006/main">
            <a:pPr>
              <a:defRPr sz="1125" b="1">
                <a:solidFill>
                  <a:srgbClr val="575E43"/>
                </a:solidFill>
                <a:latin typeface="Helvetica Neue"/>
                <a:ea typeface="Helvetica Neue"/>
                <a:cs typeface="Helvetica Neue"/>
              </a:defRPr>
            </a:pPr>
            <a:r>
              <a:rPr sz="1125" b="1">
                <a:solidFill>
                  <a:srgbClr val="575E43"/>
                </a:solidFill>
                <a:latin typeface="Helvetica Neue"/>
                <a:ea typeface="Helvetica Neue"/>
                <a:cs typeface="Helvetica Neue"/>
              </a:rPr>
              <a:t>PROPOSED PILOT OUTPUT / REPORT FORMAT</a:t>
            </a:r>
          </a:p>
        </p:txBody>
      </p:sp>
      <p:sp>
        <p:nvSpPr>
          <p:cNvPr id="2" name="">
            <a:extLst xmlns:a="http://schemas.openxmlformats.org/drawingml/2006/main">
              <a:ext uri="{FF2B5EF4-FFF2-40B4-BE49-F238E27FC236}">
                <a16:creationId xmlns:a16="http://schemas.microsoft.com/office/drawing/2014/main" id="{73B7D4DF-1129-4D84-A933-2F87B8553D4D}"/>
              </a:ext>
            </a:extLst>
          </p:cNvPr>
          <p:cNvSpPr>
            <a:spLocks xmlns:a="http://schemas.openxmlformats.org/drawingml/2006/main" noGrp="1"/>
          </p:cNvSpPr>
          <p:nvPr/>
        </p:nvSpPr>
        <p:spPr>
          <a:xfrm xmlns:a="http://schemas.openxmlformats.org/drawingml/2006/main">
            <a:off x="609600" y="914400"/>
            <a:ext cx="109728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171A12"/>
                </a:solidFill>
                <a:latin typeface="Helvetica Neue"/>
                <a:ea typeface="Helvetica Neue"/>
                <a:cs typeface="Helvetica Neue"/>
              </a:defRPr>
            </a:defPPr>
            <a:lvl1pPr>
              <a:defRPr sz="3900" b="0">
                <a:solidFill>
                  <a:srgbClr val="171A12"/>
                </a:solidFill>
                <a:latin typeface="Helvetica Neue"/>
                <a:ea typeface="Helvetica Neue"/>
                <a:cs typeface="Helvetica Neue"/>
              </a:defRPr>
            </a:lvl1pPr>
            <a:lvl2pPr>
              <a:defRPr sz="3900" b="0">
                <a:solidFill>
                  <a:srgbClr val="171A12"/>
                </a:solidFill>
                <a:latin typeface="Helvetica Neue"/>
                <a:ea typeface="Helvetica Neue"/>
                <a:cs typeface="Helvetica Neue"/>
              </a:defRPr>
            </a:lvl2pPr>
            <a:lvl3pPr>
              <a:defRPr sz="3900" b="0">
                <a:solidFill>
                  <a:srgbClr val="171A12"/>
                </a:solidFill>
                <a:latin typeface="Helvetica Neue"/>
                <a:ea typeface="Helvetica Neue"/>
                <a:cs typeface="Helvetica Neue"/>
              </a:defRPr>
            </a:lvl3pPr>
            <a:lvl4pPr>
              <a:defRPr sz="3900" b="0">
                <a:solidFill>
                  <a:srgbClr val="171A12"/>
                </a:solidFill>
                <a:latin typeface="Helvetica Neue"/>
                <a:ea typeface="Helvetica Neue"/>
                <a:cs typeface="Helvetica Neue"/>
              </a:defRPr>
            </a:lvl4pPr>
            <a:lvl5pPr>
              <a:defRPr sz="3900" b="0">
                <a:solidFill>
                  <a:srgbClr val="171A12"/>
                </a:solidFill>
                <a:latin typeface="Helvetica Neue"/>
                <a:ea typeface="Helvetica Neue"/>
                <a:cs typeface="Helvetica Neue"/>
              </a:defRPr>
            </a:lvl5pPr>
            <a:lvl6pPr>
              <a:defRPr sz="3900" b="0">
                <a:solidFill>
                  <a:srgbClr val="171A12"/>
                </a:solidFill>
                <a:latin typeface="Helvetica Neue"/>
                <a:ea typeface="Helvetica Neue"/>
                <a:cs typeface="Helvetica Neue"/>
              </a:defRPr>
            </a:lvl6pPr>
            <a:lvl7pPr>
              <a:defRPr sz="3900" b="0">
                <a:solidFill>
                  <a:srgbClr val="171A12"/>
                </a:solidFill>
                <a:latin typeface="Helvetica Neue"/>
                <a:ea typeface="Helvetica Neue"/>
                <a:cs typeface="Helvetica Neue"/>
              </a:defRPr>
            </a:lvl7pPr>
            <a:lvl8pPr>
              <a:defRPr sz="3900" b="0">
                <a:solidFill>
                  <a:srgbClr val="171A12"/>
                </a:solidFill>
                <a:latin typeface="Helvetica Neue"/>
                <a:ea typeface="Helvetica Neue"/>
                <a:cs typeface="Helvetica Neue"/>
              </a:defRPr>
            </a:lvl8pPr>
            <a:lvl9pPr>
              <a:defRPr sz="3900" b="0">
                <a:solidFill>
                  <a:srgbClr val="171A12"/>
                </a:solidFill>
                <a:latin typeface="Helvetica Neue"/>
                <a:ea typeface="Helvetica Neue"/>
                <a:cs typeface="Helvetica Neue"/>
              </a:defRPr>
            </a:lvl9pPr>
          </a:lstStyle>
          <a:p xmlns:a="http://schemas.openxmlformats.org/drawingml/2006/main">
            <a:pPr>
              <a:defRPr sz="3900" b="0">
                <a:solidFill>
                  <a:srgbClr val="171A12"/>
                </a:solidFill>
                <a:latin typeface="Helvetica Neue"/>
                <a:ea typeface="Helvetica Neue"/>
                <a:cs typeface="Helvetica Neue"/>
              </a:defRPr>
            </a:pPr>
            <a:r>
              <a:rPr sz="3900" b="0">
                <a:solidFill>
                  <a:srgbClr val="171A12"/>
                </a:solidFill>
                <a:latin typeface="Helvetica Neue"/>
                <a:ea typeface="Helvetica Neue"/>
                <a:cs typeface="Helvetica Neue"/>
              </a:rPr>
              <a:t>One comparison supports a deployment decision</a:t>
            </a:r>
          </a:p>
        </p:txBody>
      </p:sp>
      <p:sp>
        <p:nvSpPr>
          <p:cNvPr id="3" name="">
            <a:extLst xmlns:a="http://schemas.openxmlformats.org/drawingml/2006/main">
              <a:ext uri="{FF2B5EF4-FFF2-40B4-BE49-F238E27FC236}">
                <a16:creationId xmlns:a16="http://schemas.microsoft.com/office/drawing/2014/main" id="{80BD924F-0187-4E3E-8546-AA91FC85189F}"/>
              </a:ext>
            </a:extLst>
          </p:cNvPr>
          <p:cNvSpPr>
            <a:spLocks xmlns:a="http://schemas.openxmlformats.org/drawingml/2006/main" noGrp="1"/>
          </p:cNvSpPr>
          <p:nvPr/>
        </p:nvSpPr>
        <p:spPr>
          <a:xfrm xmlns:a="http://schemas.openxmlformats.org/drawingml/2006/main">
            <a:off x="609600" y="644842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75E43"/>
                </a:solidFill>
                <a:latin typeface="Helvetica Neue"/>
                <a:ea typeface="Helvetica Neue"/>
                <a:cs typeface="Helvetica Neue"/>
              </a:defRPr>
            </a:defPPr>
            <a:lvl1pPr>
              <a:defRPr sz="900" b="0">
                <a:solidFill>
                  <a:srgbClr val="575E43"/>
                </a:solidFill>
                <a:latin typeface="Helvetica Neue"/>
                <a:ea typeface="Helvetica Neue"/>
                <a:cs typeface="Helvetica Neue"/>
              </a:defRPr>
            </a:lvl1pPr>
            <a:lvl2pPr>
              <a:defRPr sz="900" b="0">
                <a:solidFill>
                  <a:srgbClr val="575E43"/>
                </a:solidFill>
                <a:latin typeface="Helvetica Neue"/>
                <a:ea typeface="Helvetica Neue"/>
                <a:cs typeface="Helvetica Neue"/>
              </a:defRPr>
            </a:lvl2pPr>
            <a:lvl3pPr>
              <a:defRPr sz="900" b="0">
                <a:solidFill>
                  <a:srgbClr val="575E43"/>
                </a:solidFill>
                <a:latin typeface="Helvetica Neue"/>
                <a:ea typeface="Helvetica Neue"/>
                <a:cs typeface="Helvetica Neue"/>
              </a:defRPr>
            </a:lvl3pPr>
            <a:lvl4pPr>
              <a:defRPr sz="900" b="0">
                <a:solidFill>
                  <a:srgbClr val="575E43"/>
                </a:solidFill>
                <a:latin typeface="Helvetica Neue"/>
                <a:ea typeface="Helvetica Neue"/>
                <a:cs typeface="Helvetica Neue"/>
              </a:defRPr>
            </a:lvl4pPr>
            <a:lvl5pPr>
              <a:defRPr sz="900" b="0">
                <a:solidFill>
                  <a:srgbClr val="575E43"/>
                </a:solidFill>
                <a:latin typeface="Helvetica Neue"/>
                <a:ea typeface="Helvetica Neue"/>
                <a:cs typeface="Helvetica Neue"/>
              </a:defRPr>
            </a:lvl5pPr>
            <a:lvl6pPr>
              <a:defRPr sz="900" b="0">
                <a:solidFill>
                  <a:srgbClr val="575E43"/>
                </a:solidFill>
                <a:latin typeface="Helvetica Neue"/>
                <a:ea typeface="Helvetica Neue"/>
                <a:cs typeface="Helvetica Neue"/>
              </a:defRPr>
            </a:lvl6pPr>
            <a:lvl7pPr>
              <a:defRPr sz="900" b="0">
                <a:solidFill>
                  <a:srgbClr val="575E43"/>
                </a:solidFill>
                <a:latin typeface="Helvetica Neue"/>
                <a:ea typeface="Helvetica Neue"/>
                <a:cs typeface="Helvetica Neue"/>
              </a:defRPr>
            </a:lvl7pPr>
            <a:lvl8pPr>
              <a:defRPr sz="900" b="0">
                <a:solidFill>
                  <a:srgbClr val="575E43"/>
                </a:solidFill>
                <a:latin typeface="Helvetica Neue"/>
                <a:ea typeface="Helvetica Neue"/>
                <a:cs typeface="Helvetica Neue"/>
              </a:defRPr>
            </a:lvl8pPr>
            <a:lvl9pPr>
              <a:defRPr sz="900" b="0">
                <a:solidFill>
                  <a:srgbClr val="575E43"/>
                </a:solidFill>
                <a:latin typeface="Helvetica Neue"/>
                <a:ea typeface="Helvetica Neue"/>
                <a:cs typeface="Helvetica Neue"/>
              </a:defRPr>
            </a:lvl9pPr>
          </a:lstStyle>
          <a:p xmlns:a="http://schemas.openxmlformats.org/drawingml/2006/main">
            <a:pPr>
              <a:defRPr sz="900" b="0">
                <a:solidFill>
                  <a:srgbClr val="575E43"/>
                </a:solidFill>
                <a:latin typeface="Helvetica Neue"/>
                <a:ea typeface="Helvetica Neue"/>
                <a:cs typeface="Helvetica Neue"/>
              </a:defRPr>
            </a:pPr>
            <a:r>
              <a:rPr sz="900" b="0">
                <a:solidFill>
                  <a:srgbClr val="575E43"/>
                </a:solidFill>
                <a:latin typeface="Helvetica Neue"/>
                <a:ea typeface="Helvetica Neue"/>
                <a:cs typeface="Helvetica Neue"/>
              </a:rPr>
              <a:t>E FOR ENERGY</a:t>
            </a:r>
          </a:p>
        </p:txBody>
      </p:sp>
      <p:sp>
        <p:nvSpPr>
          <p:cNvPr id="4" name="">
            <a:extLst xmlns:a="http://schemas.openxmlformats.org/drawingml/2006/main">
              <a:ext uri="{FF2B5EF4-FFF2-40B4-BE49-F238E27FC236}">
                <a16:creationId xmlns:a16="http://schemas.microsoft.com/office/drawing/2014/main" id="{5F41FCDF-8AF6-4BAF-B61C-FDB4ADF1BF7C}"/>
              </a:ext>
            </a:extLst>
          </p:cNvPr>
          <p:cNvSpPr>
            <a:spLocks xmlns:a="http://schemas.openxmlformats.org/drawingml/2006/main" noGrp="1"/>
          </p:cNvSpPr>
          <p:nvPr/>
        </p:nvSpPr>
        <p:spPr>
          <a:xfrm xmlns:a="http://schemas.openxmlformats.org/drawingml/2006/main">
            <a:off x="11049000" y="64198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5E43"/>
                </a:solidFill>
                <a:latin typeface="Helvetica Neue"/>
                <a:ea typeface="Helvetica Neue"/>
                <a:cs typeface="Helvetica Neue"/>
              </a:defRPr>
            </a:defPPr>
            <a:lvl1pPr>
              <a:defRPr sz="1200" b="0">
                <a:solidFill>
                  <a:srgbClr val="575E43"/>
                </a:solidFill>
                <a:latin typeface="Helvetica Neue"/>
                <a:ea typeface="Helvetica Neue"/>
                <a:cs typeface="Helvetica Neue"/>
              </a:defRPr>
            </a:lvl1pPr>
            <a:lvl2pPr>
              <a:defRPr sz="1200" b="0">
                <a:solidFill>
                  <a:srgbClr val="575E43"/>
                </a:solidFill>
                <a:latin typeface="Helvetica Neue"/>
                <a:ea typeface="Helvetica Neue"/>
                <a:cs typeface="Helvetica Neue"/>
              </a:defRPr>
            </a:lvl2pPr>
            <a:lvl3pPr>
              <a:defRPr sz="1200" b="0">
                <a:solidFill>
                  <a:srgbClr val="575E43"/>
                </a:solidFill>
                <a:latin typeface="Helvetica Neue"/>
                <a:ea typeface="Helvetica Neue"/>
                <a:cs typeface="Helvetica Neue"/>
              </a:defRPr>
            </a:lvl3pPr>
            <a:lvl4pPr>
              <a:defRPr sz="1200" b="0">
                <a:solidFill>
                  <a:srgbClr val="575E43"/>
                </a:solidFill>
                <a:latin typeface="Helvetica Neue"/>
                <a:ea typeface="Helvetica Neue"/>
                <a:cs typeface="Helvetica Neue"/>
              </a:defRPr>
            </a:lvl4pPr>
            <a:lvl5pPr>
              <a:defRPr sz="1200" b="0">
                <a:solidFill>
                  <a:srgbClr val="575E43"/>
                </a:solidFill>
                <a:latin typeface="Helvetica Neue"/>
                <a:ea typeface="Helvetica Neue"/>
                <a:cs typeface="Helvetica Neue"/>
              </a:defRPr>
            </a:lvl5pPr>
            <a:lvl6pPr>
              <a:defRPr sz="1200" b="0">
                <a:solidFill>
                  <a:srgbClr val="575E43"/>
                </a:solidFill>
                <a:latin typeface="Helvetica Neue"/>
                <a:ea typeface="Helvetica Neue"/>
                <a:cs typeface="Helvetica Neue"/>
              </a:defRPr>
            </a:lvl6pPr>
            <a:lvl7pPr>
              <a:defRPr sz="1200" b="0">
                <a:solidFill>
                  <a:srgbClr val="575E43"/>
                </a:solidFill>
                <a:latin typeface="Helvetica Neue"/>
                <a:ea typeface="Helvetica Neue"/>
                <a:cs typeface="Helvetica Neue"/>
              </a:defRPr>
            </a:lvl7pPr>
            <a:lvl8pPr>
              <a:defRPr sz="1200" b="0">
                <a:solidFill>
                  <a:srgbClr val="575E43"/>
                </a:solidFill>
                <a:latin typeface="Helvetica Neue"/>
                <a:ea typeface="Helvetica Neue"/>
                <a:cs typeface="Helvetica Neue"/>
              </a:defRPr>
            </a:lvl8pPr>
            <a:lvl9pPr>
              <a:defRPr sz="1200" b="0">
                <a:solidFill>
                  <a:srgbClr val="575E43"/>
                </a:solidFill>
                <a:latin typeface="Helvetica Neue"/>
                <a:ea typeface="Helvetica Neue"/>
                <a:cs typeface="Helvetica Neue"/>
              </a:defRPr>
            </a:lvl9pPr>
          </a:lstStyle>
          <a:p xmlns:a="http://schemas.openxmlformats.org/drawingml/2006/main">
            <a:pPr>
              <a:defRPr sz="1200" b="0">
                <a:solidFill>
                  <a:srgbClr val="575E43"/>
                </a:solidFill>
                <a:latin typeface="Helvetica Neue"/>
                <a:ea typeface="Helvetica Neue"/>
                <a:cs typeface="Helvetica Neue"/>
              </a:defRPr>
            </a:pPr>
            <a:r>
              <a:rPr sz="1200" b="0">
                <a:solidFill>
                  <a:srgbClr val="575E43"/>
                </a:solidFill>
                <a:latin typeface="Helvetica Neue"/>
                <a:ea typeface="Helvetica Neue"/>
                <a:cs typeface="Helvetica Neue"/>
              </a:rPr>
              <a:t>06</a:t>
            </a:r>
          </a:p>
        </p:txBody>
      </p:sp>
      <p:graphicFrame>
        <p:nvGraphicFramePr>
          <p:cNvPr id="5" name="">
            <a:extLst xmlns:a="http://schemas.openxmlformats.org/drawingml/2006/main">
              <a:ext uri="{FF2B5EF4-FFF2-40B4-BE49-F238E27FC236}">
                <a16:creationId xmlns:a16="http://schemas.microsoft.com/office/drawing/2014/main" id="{E271BA3B-9147-458D-B5AF-B9A2E1C12724}"/>
              </a:ext>
            </a:extLst>
          </p:cNvPr>
          <p:cNvGraphicFramePr/>
          <p:nvPr/>
        </p:nvGraphicFramePr>
        <p:xfrm>
          <a:off xmlns:a="http://schemas.openxmlformats.org/drawingml/2006/main" x="609600" y="2571750"/>
          <a:ext xmlns:a="http://schemas.openxmlformats.org/drawingml/2006/main" cx="10972800" cy="2857500"/>
        </p:xfrm>
        <a:graphic xmlns:a="http://schemas.openxmlformats.org/drawingml/2006/main">
          <a:graphicData uri="http://schemas.openxmlformats.org/drawingml/2006/table">
            <a:tbl>
              <a:tblPr/>
              <a:tblGrid>
                <a:gridCol w="2762250"/>
                <a:gridCol w="5238750"/>
                <a:gridCol w="2971800"/>
              </a:tblGrid>
              <a:tr h="571500">
                <a:tc>
                  <a:txBody>
                    <a:bodyPr/>
                    <a:lstStyle/>
                    <a:p>
                      <a:r>
                        <a:rPr sz="1500" b="1">
                          <a:solidFill>
                            <a:srgbClr val="F4F3EB"/>
                          </a:solidFill>
                          <a:latin typeface="Helvetica Neue"/>
                          <a:ea typeface="Helvetica Neue"/>
                          <a:cs typeface="Helvetica Neue"/>
                        </a:rPr>
                        <a:t>Report section</a:t>
                      </a:r>
                    </a:p>
                  </a:txBody>
                  <a:tcPr marL="91440" marR="91440" marT="45720" marB="45720">
                    <a:lnL w="4763">
                      <a:solidFill>
                        <a:srgbClr val="C5C8B9"/>
                      </a:solidFill>
                      <a:prstDash val="solid"/>
                    </a:lnL>
                    <a:lnR w="4763">
                      <a:solidFill>
                        <a:srgbClr val="C5C8B9"/>
                      </a:solidFill>
                      <a:prstDash val="solid"/>
                    </a:lnR>
                    <a:lnT w="4763">
                      <a:solidFill>
                        <a:srgbClr val="C5C8B9"/>
                      </a:solidFill>
                      <a:prstDash val="solid"/>
                    </a:lnT>
                    <a:lnB w="4763">
                      <a:solidFill>
                        <a:srgbClr val="C5C8B9"/>
                      </a:solidFill>
                      <a:prstDash val="solid"/>
                    </a:lnB>
                    <a:solidFill>
                      <a:srgbClr val="24271D"/>
                    </a:solidFill>
                  </a:tcPr>
                </a:tc>
                <a:tc>
                  <a:txBody>
                    <a:bodyPr/>
                    <a:lstStyle/>
                    <a:p>
                      <a:r>
                        <a:rPr sz="1500" b="1">
                          <a:solidFill>
                            <a:srgbClr val="F4F3EB"/>
                          </a:solidFill>
                          <a:latin typeface="Helvetica Neue"/>
                          <a:ea typeface="Helvetica Neue"/>
                          <a:cs typeface="Helvetica Neue"/>
                        </a:rPr>
                        <a:t>Evidence shown to the buyer</a:t>
                      </a:r>
                    </a:p>
                  </a:txBody>
                  <a:tcPr marL="91440" marR="91440" marT="45720" marB="45720">
                    <a:lnR w="4763">
                      <a:solidFill>
                        <a:srgbClr val="C5C8B9"/>
                      </a:solidFill>
                      <a:prstDash val="solid"/>
                    </a:lnR>
                    <a:lnT w="4763">
                      <a:solidFill>
                        <a:srgbClr val="C5C8B9"/>
                      </a:solidFill>
                      <a:prstDash val="solid"/>
                    </a:lnT>
                    <a:lnB w="4763">
                      <a:solidFill>
                        <a:srgbClr val="C5C8B9"/>
                      </a:solidFill>
                      <a:prstDash val="solid"/>
                    </a:lnB>
                    <a:solidFill>
                      <a:srgbClr val="24271D"/>
                    </a:solidFill>
                  </a:tcPr>
                </a:tc>
                <a:tc>
                  <a:txBody>
                    <a:bodyPr/>
                    <a:lstStyle/>
                    <a:p>
                      <a:r>
                        <a:rPr sz="1500" b="1">
                          <a:solidFill>
                            <a:srgbClr val="F4F3EB"/>
                          </a:solidFill>
                          <a:latin typeface="Helvetica Neue"/>
                          <a:ea typeface="Helvetica Neue"/>
                          <a:cs typeface="Helvetica Neue"/>
                        </a:rPr>
                        <a:t>Decision supported</a:t>
                      </a:r>
                    </a:p>
                  </a:txBody>
                  <a:tcPr marL="91440" marR="91440" marT="45720" marB="45720">
                    <a:lnR w="4763">
                      <a:solidFill>
                        <a:srgbClr val="C5C8B9"/>
                      </a:solidFill>
                      <a:prstDash val="solid"/>
                    </a:lnR>
                    <a:lnT w="4763">
                      <a:solidFill>
                        <a:srgbClr val="C5C8B9"/>
                      </a:solidFill>
                      <a:prstDash val="solid"/>
                    </a:lnT>
                    <a:lnB w="4763">
                      <a:solidFill>
                        <a:srgbClr val="C5C8B9"/>
                      </a:solidFill>
                      <a:prstDash val="solid"/>
                    </a:lnB>
                    <a:solidFill>
                      <a:srgbClr val="24271D"/>
                    </a:solidFill>
                  </a:tcPr>
                </a:tc>
              </a:tr>
              <a:tr h="571500">
                <a:tc>
                  <a:txBody>
                    <a:bodyPr/>
                    <a:lstStyle/>
                    <a:p>
                      <a:r>
                        <a:rPr sz="1650" b="0">
                          <a:solidFill>
                            <a:srgbClr val="171A12"/>
                          </a:solidFill>
                          <a:latin typeface="Helvetica Neue"/>
                          <a:ea typeface="Helvetica Neue"/>
                          <a:cs typeface="Helvetica Neue"/>
                        </a:rPr>
                        <a:t>Workload and service</a:t>
                      </a:r>
                    </a:p>
                  </a:txBody>
                  <a:tcPr marL="91440" marR="91440" marT="45720" marB="45720">
                    <a:lnL w="4763">
                      <a:solidFill>
                        <a:srgbClr val="C5C8B9"/>
                      </a:solidFill>
                      <a:prstDash val="solid"/>
                    </a:lnL>
                    <a:lnR w="4763">
                      <a:solidFill>
                        <a:srgbClr val="C5C8B9"/>
                      </a:solidFill>
                      <a:prstDash val="solid"/>
                    </a:lnR>
                    <a:lnB w="4763">
                      <a:solidFill>
                        <a:srgbClr val="C5C8B9"/>
                      </a:solidFill>
                      <a:prstDash val="solid"/>
                    </a:lnB>
                    <a:solidFill>
                      <a:srgbClr val="EEEEE4"/>
                    </a:solidFill>
                  </a:tcPr>
                </a:tc>
                <a:tc>
                  <a:txBody>
                    <a:bodyPr/>
                    <a:lstStyle/>
                    <a:p>
                      <a:r>
                        <a:rPr sz="1650" b="0">
                          <a:solidFill>
                            <a:srgbClr val="171A12"/>
                          </a:solidFill>
                          <a:latin typeface="Helvetica Neue"/>
                          <a:ea typeface="Helvetica Neue"/>
                          <a:cs typeface="Helvetica Neue"/>
                        </a:rPr>
                        <a:t>Task mix, model, quality, TTFT and TPOT</a:t>
                      </a:r>
                    </a:p>
                  </a:txBody>
                  <a:tcPr marL="91440" marR="91440" marT="45720" marB="45720">
                    <a:lnR w="4763">
                      <a:solidFill>
                        <a:srgbClr val="C5C8B9"/>
                      </a:solidFill>
                      <a:prstDash val="solid"/>
                    </a:lnR>
                    <a:lnB w="4763">
                      <a:solidFill>
                        <a:srgbClr val="C5C8B9"/>
                      </a:solidFill>
                      <a:prstDash val="solid"/>
                    </a:lnB>
                    <a:solidFill>
                      <a:srgbClr val="EEEEE4"/>
                    </a:solidFill>
                  </a:tcPr>
                </a:tc>
                <a:tc>
                  <a:txBody>
                    <a:bodyPr/>
                    <a:lstStyle/>
                    <a:p>
                      <a:r>
                        <a:rPr sz="1650" b="0">
                          <a:solidFill>
                            <a:srgbClr val="171A12"/>
                          </a:solidFill>
                          <a:latin typeface="Helvetica Neue"/>
                          <a:ea typeface="Helvetica Neue"/>
                          <a:cs typeface="Helvetica Neue"/>
                        </a:rPr>
                        <a:t>Is the comparison fair?</a:t>
                      </a:r>
                    </a:p>
                  </a:txBody>
                  <a:tcPr marL="91440" marR="91440" marT="45720" marB="45720">
                    <a:lnR w="4763">
                      <a:solidFill>
                        <a:srgbClr val="C5C8B9"/>
                      </a:solidFill>
                      <a:prstDash val="solid"/>
                    </a:lnR>
                    <a:lnB w="4763">
                      <a:solidFill>
                        <a:srgbClr val="C5C8B9"/>
                      </a:solidFill>
                      <a:prstDash val="solid"/>
                    </a:lnB>
                    <a:solidFill>
                      <a:srgbClr val="EEEEE4"/>
                    </a:solidFill>
                  </a:tcPr>
                </a:tc>
              </a:tr>
              <a:tr h="571500">
                <a:tc>
                  <a:txBody>
                    <a:bodyPr/>
                    <a:lstStyle/>
                    <a:p>
                      <a:r>
                        <a:rPr sz="1650" b="0">
                          <a:solidFill>
                            <a:srgbClr val="171A12"/>
                          </a:solidFill>
                          <a:latin typeface="Helvetica Neue"/>
                          <a:ea typeface="Helvetica Neue"/>
                          <a:cs typeface="Helvetica Neue"/>
                        </a:rPr>
                        <a:t>Energy and output</a:t>
                      </a:r>
                    </a:p>
                  </a:txBody>
                  <a:tcPr marL="91440" marR="91440" marT="45720" marB="45720">
                    <a:lnL w="4763">
                      <a:solidFill>
                        <a:srgbClr val="C5C8B9"/>
                      </a:solidFill>
                      <a:prstDash val="solid"/>
                    </a:lnL>
                    <a:lnR w="4763">
                      <a:solidFill>
                        <a:srgbClr val="C5C8B9"/>
                      </a:solidFill>
                      <a:prstDash val="solid"/>
                    </a:lnR>
                    <a:lnB w="4763">
                      <a:solidFill>
                        <a:srgbClr val="C5C8B9"/>
                      </a:solidFill>
                      <a:prstDash val="solid"/>
                    </a:lnB>
                    <a:solidFill>
                      <a:srgbClr val="EEEEE4"/>
                    </a:solidFill>
                  </a:tcPr>
                </a:tc>
                <a:tc>
                  <a:txBody>
                    <a:bodyPr/>
                    <a:lstStyle/>
                    <a:p>
                      <a:r>
                        <a:rPr sz="1650" b="0">
                          <a:solidFill>
                            <a:srgbClr val="171A12"/>
                          </a:solidFill>
                          <a:latin typeface="Helvetica Neue"/>
                          <a:ea typeface="Helvetica Neue"/>
                          <a:cs typeface="Helvetica Neue"/>
                        </a:rPr>
                        <a:t>System kWh, accepted tasks, token counts</a:t>
                      </a:r>
                    </a:p>
                  </a:txBody>
                  <a:tcPr marL="91440" marR="91440" marT="45720" marB="45720">
                    <a:lnR w="4763">
                      <a:solidFill>
                        <a:srgbClr val="C5C8B9"/>
                      </a:solidFill>
                      <a:prstDash val="solid"/>
                    </a:lnR>
                    <a:lnB w="4763">
                      <a:solidFill>
                        <a:srgbClr val="C5C8B9"/>
                      </a:solidFill>
                      <a:prstDash val="solid"/>
                    </a:lnB>
                    <a:solidFill>
                      <a:srgbClr val="EEEEE4"/>
                    </a:solidFill>
                  </a:tcPr>
                </a:tc>
                <a:tc>
                  <a:txBody>
                    <a:bodyPr/>
                    <a:lstStyle/>
                    <a:p>
                      <a:r>
                        <a:rPr sz="1650" b="0">
                          <a:solidFill>
                            <a:srgbClr val="171A12"/>
                          </a:solidFill>
                          <a:latin typeface="Helvetica Neue"/>
                          <a:ea typeface="Helvetica Neue"/>
                          <a:cs typeface="Helvetica Neue"/>
                        </a:rPr>
                        <a:t>Did intensity improve?</a:t>
                      </a:r>
                    </a:p>
                  </a:txBody>
                  <a:tcPr marL="91440" marR="91440" marT="45720" marB="45720">
                    <a:lnR w="4763">
                      <a:solidFill>
                        <a:srgbClr val="C5C8B9"/>
                      </a:solidFill>
                      <a:prstDash val="solid"/>
                    </a:lnR>
                    <a:lnB w="4763">
                      <a:solidFill>
                        <a:srgbClr val="C5C8B9"/>
                      </a:solidFill>
                      <a:prstDash val="solid"/>
                    </a:lnB>
                    <a:solidFill>
                      <a:srgbClr val="EEEEE4"/>
                    </a:solidFill>
                  </a:tcPr>
                </a:tc>
              </a:tr>
              <a:tr h="571500">
                <a:tc>
                  <a:txBody>
                    <a:bodyPr/>
                    <a:lstStyle/>
                    <a:p>
                      <a:r>
                        <a:rPr sz="1650" b="0">
                          <a:solidFill>
                            <a:srgbClr val="171A12"/>
                          </a:solidFill>
                          <a:latin typeface="Helvetica Neue"/>
                          <a:ea typeface="Helvetica Neue"/>
                          <a:cs typeface="Helvetica Neue"/>
                        </a:rPr>
                        <a:t>Economics</a:t>
                      </a:r>
                    </a:p>
                  </a:txBody>
                  <a:tcPr marL="91440" marR="91440" marT="45720" marB="45720">
                    <a:lnL w="4763">
                      <a:solidFill>
                        <a:srgbClr val="C5C8B9"/>
                      </a:solidFill>
                      <a:prstDash val="solid"/>
                    </a:lnL>
                    <a:lnR w="4763">
                      <a:solidFill>
                        <a:srgbClr val="C5C8B9"/>
                      </a:solidFill>
                      <a:prstDash val="solid"/>
                    </a:lnR>
                    <a:lnB w="4763">
                      <a:solidFill>
                        <a:srgbClr val="C5C8B9"/>
                      </a:solidFill>
                      <a:prstDash val="solid"/>
                    </a:lnB>
                    <a:solidFill>
                      <a:srgbClr val="EEEEE4"/>
                    </a:solidFill>
                  </a:tcPr>
                </a:tc>
                <a:tc>
                  <a:txBody>
                    <a:bodyPr/>
                    <a:lstStyle/>
                    <a:p>
                      <a:r>
                        <a:rPr sz="1650" b="0">
                          <a:solidFill>
                            <a:srgbClr val="171A12"/>
                          </a:solidFill>
                          <a:latin typeface="Helvetica Neue"/>
                          <a:ea typeface="Helvetica Neue"/>
                          <a:cs typeface="Helvetica Neue"/>
                        </a:rPr>
                        <a:t>Electricity delta, contract terms, fees and effort</a:t>
                      </a:r>
                    </a:p>
                  </a:txBody>
                  <a:tcPr marL="91440" marR="91440" marT="45720" marB="45720">
                    <a:lnR w="4763">
                      <a:solidFill>
                        <a:srgbClr val="C5C8B9"/>
                      </a:solidFill>
                      <a:prstDash val="solid"/>
                    </a:lnR>
                    <a:lnB w="4763">
                      <a:solidFill>
                        <a:srgbClr val="C5C8B9"/>
                      </a:solidFill>
                      <a:prstDash val="solid"/>
                    </a:lnB>
                    <a:solidFill>
                      <a:srgbClr val="EEEEE4"/>
                    </a:solidFill>
                  </a:tcPr>
                </a:tc>
                <a:tc>
                  <a:txBody>
                    <a:bodyPr/>
                    <a:lstStyle/>
                    <a:p>
                      <a:r>
                        <a:rPr sz="1650" b="0">
                          <a:solidFill>
                            <a:srgbClr val="171A12"/>
                          </a:solidFill>
                          <a:latin typeface="Helvetica Neue"/>
                          <a:ea typeface="Helvetica Neue"/>
                          <a:cs typeface="Helvetica Neue"/>
                        </a:rPr>
                        <a:t>Is the change worthwhile?</a:t>
                      </a:r>
                    </a:p>
                  </a:txBody>
                  <a:tcPr marL="91440" marR="91440" marT="45720" marB="45720">
                    <a:lnR w="4763">
                      <a:solidFill>
                        <a:srgbClr val="C5C8B9"/>
                      </a:solidFill>
                      <a:prstDash val="solid"/>
                    </a:lnR>
                    <a:lnB w="4763">
                      <a:solidFill>
                        <a:srgbClr val="C5C8B9"/>
                      </a:solidFill>
                      <a:prstDash val="solid"/>
                    </a:lnB>
                    <a:solidFill>
                      <a:srgbClr val="EEEEE4"/>
                    </a:solidFill>
                  </a:tcPr>
                </a:tc>
              </a:tr>
              <a:tr h="571500">
                <a:tc>
                  <a:txBody>
                    <a:bodyPr/>
                    <a:lstStyle/>
                    <a:p>
                      <a:r>
                        <a:rPr sz="1650" b="0">
                          <a:solidFill>
                            <a:srgbClr val="171A12"/>
                          </a:solidFill>
                          <a:latin typeface="Helvetica Neue"/>
                          <a:ea typeface="Helvetica Neue"/>
                          <a:cs typeface="Helvetica Neue"/>
                        </a:rPr>
                        <a:t>Recommendation</a:t>
                      </a:r>
                    </a:p>
                  </a:txBody>
                  <a:tcPr marL="91440" marR="91440" marT="45720" marB="45720">
                    <a:lnL w="4763">
                      <a:solidFill>
                        <a:srgbClr val="C5C8B9"/>
                      </a:solidFill>
                      <a:prstDash val="solid"/>
                    </a:lnL>
                    <a:lnR w="4763">
                      <a:solidFill>
                        <a:srgbClr val="C5C8B9"/>
                      </a:solidFill>
                      <a:prstDash val="solid"/>
                    </a:lnR>
                    <a:lnB w="4763">
                      <a:solidFill>
                        <a:srgbClr val="C5C8B9"/>
                      </a:solidFill>
                      <a:prstDash val="solid"/>
                    </a:lnB>
                    <a:solidFill>
                      <a:srgbClr val="EEEEE4"/>
                    </a:solidFill>
                  </a:tcPr>
                </a:tc>
                <a:tc>
                  <a:txBody>
                    <a:bodyPr/>
                    <a:lstStyle/>
                    <a:p>
                      <a:r>
                        <a:rPr sz="1650" b="0">
                          <a:solidFill>
                            <a:srgbClr val="171A12"/>
                          </a:solidFill>
                          <a:latin typeface="Helvetica Neue"/>
                          <a:ea typeface="Helvetica Neue"/>
                          <a:cs typeface="Helvetica Neue"/>
                        </a:rPr>
                        <a:t>Evidence, uncertainty and operating limits</a:t>
                      </a:r>
                    </a:p>
                  </a:txBody>
                  <a:tcPr marL="91440" marR="91440" marT="45720" marB="45720">
                    <a:lnR w="4763">
                      <a:solidFill>
                        <a:srgbClr val="C5C8B9"/>
                      </a:solidFill>
                      <a:prstDash val="solid"/>
                    </a:lnR>
                    <a:lnB w="4763">
                      <a:solidFill>
                        <a:srgbClr val="C5C8B9"/>
                      </a:solidFill>
                      <a:prstDash val="solid"/>
                    </a:lnB>
                    <a:solidFill>
                      <a:srgbClr val="EEEEE4"/>
                    </a:solidFill>
                  </a:tcPr>
                </a:tc>
                <a:tc>
                  <a:txBody>
                    <a:bodyPr/>
                    <a:lstStyle/>
                    <a:p>
                      <a:r>
                        <a:rPr sz="1650" b="0">
                          <a:solidFill>
                            <a:srgbClr val="171A12"/>
                          </a:solidFill>
                          <a:latin typeface="Helvetica Neue"/>
                          <a:ea typeface="Helvetica Neue"/>
                          <a:cs typeface="Helvetica Neue"/>
                        </a:rPr>
                        <a:t>Deploy, retest or retain baseline</a:t>
                      </a:r>
                    </a:p>
                  </a:txBody>
                  <a:tcPr marL="91440" marR="91440" marT="45720" marB="45720">
                    <a:lnR w="4763">
                      <a:solidFill>
                        <a:srgbClr val="C5C8B9"/>
                      </a:solidFill>
                      <a:prstDash val="solid"/>
                    </a:lnR>
                    <a:lnB w="4763">
                      <a:solidFill>
                        <a:srgbClr val="C5C8B9"/>
                      </a:solidFill>
                      <a:prstDash val="solid"/>
                    </a:lnB>
                    <a:solidFill>
                      <a:srgbClr val="EEEEE4"/>
                    </a:solidFill>
                  </a:tcPr>
                </a:tc>
              </a:tr>
            </a:tbl>
          </a:graphicData>
        </a:graphic>
      </p:graphicFrame>
      <p:sp>
        <p:nvSpPr>
          <p:cNvPr id="6" name="">
            <a:extLst xmlns:a="http://schemas.openxmlformats.org/drawingml/2006/main">
              <a:ext uri="{FF2B5EF4-FFF2-40B4-BE49-F238E27FC236}">
                <a16:creationId xmlns:a16="http://schemas.microsoft.com/office/drawing/2014/main" id="{92A9C661-7097-4085-9205-C6F322D1E6BB}"/>
              </a:ext>
            </a:extLst>
          </p:cNvPr>
          <p:cNvSpPr>
            <a:spLocks xmlns:a="http://schemas.openxmlformats.org/drawingml/2006/main" noGrp="1"/>
          </p:cNvSpPr>
          <p:nvPr/>
        </p:nvSpPr>
        <p:spPr>
          <a:xfrm xmlns:a="http://schemas.openxmlformats.org/drawingml/2006/main">
            <a:off x="609600" y="56292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75E43"/>
                </a:solidFill>
                <a:latin typeface="Helvetica Neue"/>
                <a:ea typeface="Helvetica Neue"/>
                <a:cs typeface="Helvetica Neue"/>
              </a:defRPr>
            </a:defPPr>
            <a:lvl1pPr>
              <a:defRPr sz="1650" b="0">
                <a:solidFill>
                  <a:srgbClr val="575E43"/>
                </a:solidFill>
                <a:latin typeface="Helvetica Neue"/>
                <a:ea typeface="Helvetica Neue"/>
                <a:cs typeface="Helvetica Neue"/>
              </a:defRPr>
            </a:lvl1pPr>
            <a:lvl2pPr>
              <a:defRPr sz="1650" b="0">
                <a:solidFill>
                  <a:srgbClr val="575E43"/>
                </a:solidFill>
                <a:latin typeface="Helvetica Neue"/>
                <a:ea typeface="Helvetica Neue"/>
                <a:cs typeface="Helvetica Neue"/>
              </a:defRPr>
            </a:lvl2pPr>
            <a:lvl3pPr>
              <a:defRPr sz="1650" b="0">
                <a:solidFill>
                  <a:srgbClr val="575E43"/>
                </a:solidFill>
                <a:latin typeface="Helvetica Neue"/>
                <a:ea typeface="Helvetica Neue"/>
                <a:cs typeface="Helvetica Neue"/>
              </a:defRPr>
            </a:lvl3pPr>
            <a:lvl4pPr>
              <a:defRPr sz="1650" b="0">
                <a:solidFill>
                  <a:srgbClr val="575E43"/>
                </a:solidFill>
                <a:latin typeface="Helvetica Neue"/>
                <a:ea typeface="Helvetica Neue"/>
                <a:cs typeface="Helvetica Neue"/>
              </a:defRPr>
            </a:lvl4pPr>
            <a:lvl5pPr>
              <a:defRPr sz="1650" b="0">
                <a:solidFill>
                  <a:srgbClr val="575E43"/>
                </a:solidFill>
                <a:latin typeface="Helvetica Neue"/>
                <a:ea typeface="Helvetica Neue"/>
                <a:cs typeface="Helvetica Neue"/>
              </a:defRPr>
            </a:lvl5pPr>
            <a:lvl6pPr>
              <a:defRPr sz="1650" b="0">
                <a:solidFill>
                  <a:srgbClr val="575E43"/>
                </a:solidFill>
                <a:latin typeface="Helvetica Neue"/>
                <a:ea typeface="Helvetica Neue"/>
                <a:cs typeface="Helvetica Neue"/>
              </a:defRPr>
            </a:lvl6pPr>
            <a:lvl7pPr>
              <a:defRPr sz="1650" b="0">
                <a:solidFill>
                  <a:srgbClr val="575E43"/>
                </a:solidFill>
                <a:latin typeface="Helvetica Neue"/>
                <a:ea typeface="Helvetica Neue"/>
                <a:cs typeface="Helvetica Neue"/>
              </a:defRPr>
            </a:lvl7pPr>
            <a:lvl8pPr>
              <a:defRPr sz="1650" b="0">
                <a:solidFill>
                  <a:srgbClr val="575E43"/>
                </a:solidFill>
                <a:latin typeface="Helvetica Neue"/>
                <a:ea typeface="Helvetica Neue"/>
                <a:cs typeface="Helvetica Neue"/>
              </a:defRPr>
            </a:lvl8pPr>
            <a:lvl9pPr>
              <a:defRPr sz="1650" b="0">
                <a:solidFill>
                  <a:srgbClr val="575E43"/>
                </a:solidFill>
                <a:latin typeface="Helvetica Neue"/>
                <a:ea typeface="Helvetica Neue"/>
                <a:cs typeface="Helvetica Neue"/>
              </a:defRPr>
            </a:lvl9pPr>
          </a:lstStyle>
          <a:p xmlns:a="http://schemas.openxmlformats.org/drawingml/2006/main">
            <a:pPr>
              <a:defRPr sz="1650" b="0">
                <a:solidFill>
                  <a:srgbClr val="575E43"/>
                </a:solidFill>
                <a:latin typeface="Helvetica Neue"/>
                <a:ea typeface="Helvetica Neue"/>
                <a:cs typeface="Helvetica Neue"/>
              </a:defRPr>
            </a:pPr>
            <a:r>
              <a:rPr sz="1650" b="0">
                <a:solidFill>
                  <a:srgbClr val="575E43"/>
                </a:solidFill>
                <a:latin typeface="Helvetica Neue"/>
                <a:ea typeface="Helvetica Neue"/>
                <a:cs typeface="Helvetica Neue"/>
              </a:rPr>
              <a:t>Proposed editable report format. No customer results or product screenshot are represented here.</a:t>
            </a:r>
          </a:p>
        </p:txBody>
      </p:sp>
    </p:spTree>
    <p:extLst>
      <p:ext uri="{BB962C8B-B14F-4D97-AF65-F5344CB8AC3E}">
        <p14:creationId xmlns:p14="http://schemas.microsoft.com/office/powerpoint/2010/main" val="327119921"/>
      </p:ext>
    </p:extLst>
  </p:cSld>
</p:sld>
</file>

<file path=ppt/slides/slide7.xml><?xml version="1.0" encoding="utf-8"?>
<p:sld xmlns:p="http://schemas.openxmlformats.org/presentationml/2006/main">
  <p:cSld>
    <p:bg>
      <p:bgPr>
        <a:solidFill xmlns:a="http://schemas.openxmlformats.org/drawingml/2006/main">
          <a:srgbClr val="11121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8FFF615-876E-4015-AB3D-00E0AD1AEA86}"/>
              </a:ext>
            </a:extLst>
          </p:cNvPr>
          <p:cNvSpPr>
            <a:spLocks xmlns:a="http://schemas.openxmlformats.org/drawingml/2006/main" noGrp="1"/>
          </p:cNvSpPr>
          <p:nvPr/>
        </p:nvSpPr>
        <p:spPr>
          <a:xfrm xmlns:a="http://schemas.openxmlformats.org/drawingml/2006/main">
            <a:off x="609600" y="3429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FFDB24"/>
                </a:solidFill>
                <a:latin typeface="Helvetica Neue"/>
                <a:ea typeface="Helvetica Neue"/>
                <a:cs typeface="Helvetica Neue"/>
              </a:defRPr>
            </a:defPPr>
            <a:lvl1pPr>
              <a:defRPr sz="1125" b="1">
                <a:solidFill>
                  <a:srgbClr val="FFDB24"/>
                </a:solidFill>
                <a:latin typeface="Helvetica Neue"/>
                <a:ea typeface="Helvetica Neue"/>
                <a:cs typeface="Helvetica Neue"/>
              </a:defRPr>
            </a:lvl1pPr>
            <a:lvl2pPr>
              <a:defRPr sz="1125" b="1">
                <a:solidFill>
                  <a:srgbClr val="FFDB24"/>
                </a:solidFill>
                <a:latin typeface="Helvetica Neue"/>
                <a:ea typeface="Helvetica Neue"/>
                <a:cs typeface="Helvetica Neue"/>
              </a:defRPr>
            </a:lvl2pPr>
            <a:lvl3pPr>
              <a:defRPr sz="1125" b="1">
                <a:solidFill>
                  <a:srgbClr val="FFDB24"/>
                </a:solidFill>
                <a:latin typeface="Helvetica Neue"/>
                <a:ea typeface="Helvetica Neue"/>
                <a:cs typeface="Helvetica Neue"/>
              </a:defRPr>
            </a:lvl3pPr>
            <a:lvl4pPr>
              <a:defRPr sz="1125" b="1">
                <a:solidFill>
                  <a:srgbClr val="FFDB24"/>
                </a:solidFill>
                <a:latin typeface="Helvetica Neue"/>
                <a:ea typeface="Helvetica Neue"/>
                <a:cs typeface="Helvetica Neue"/>
              </a:defRPr>
            </a:lvl4pPr>
            <a:lvl5pPr>
              <a:defRPr sz="1125" b="1">
                <a:solidFill>
                  <a:srgbClr val="FFDB24"/>
                </a:solidFill>
                <a:latin typeface="Helvetica Neue"/>
                <a:ea typeface="Helvetica Neue"/>
                <a:cs typeface="Helvetica Neue"/>
              </a:defRPr>
            </a:lvl5pPr>
            <a:lvl6pPr>
              <a:defRPr sz="1125" b="1">
                <a:solidFill>
                  <a:srgbClr val="FFDB24"/>
                </a:solidFill>
                <a:latin typeface="Helvetica Neue"/>
                <a:ea typeface="Helvetica Neue"/>
                <a:cs typeface="Helvetica Neue"/>
              </a:defRPr>
            </a:lvl6pPr>
            <a:lvl7pPr>
              <a:defRPr sz="1125" b="1">
                <a:solidFill>
                  <a:srgbClr val="FFDB24"/>
                </a:solidFill>
                <a:latin typeface="Helvetica Neue"/>
                <a:ea typeface="Helvetica Neue"/>
                <a:cs typeface="Helvetica Neue"/>
              </a:defRPr>
            </a:lvl7pPr>
            <a:lvl8pPr>
              <a:defRPr sz="1125" b="1">
                <a:solidFill>
                  <a:srgbClr val="FFDB24"/>
                </a:solidFill>
                <a:latin typeface="Helvetica Neue"/>
                <a:ea typeface="Helvetica Neue"/>
                <a:cs typeface="Helvetica Neue"/>
              </a:defRPr>
            </a:lvl8pPr>
            <a:lvl9pPr>
              <a:defRPr sz="1125" b="1">
                <a:solidFill>
                  <a:srgbClr val="FFDB24"/>
                </a:solidFill>
                <a:latin typeface="Helvetica Neue"/>
                <a:ea typeface="Helvetica Neue"/>
                <a:cs typeface="Helvetica Neue"/>
              </a:defRPr>
            </a:lvl9pPr>
          </a:lstStyle>
          <a:p xmlns:a="http://schemas.openxmlformats.org/drawingml/2006/main">
            <a:pPr>
              <a:defRPr sz="1125" b="1">
                <a:solidFill>
                  <a:srgbClr val="FFDB24"/>
                </a:solidFill>
                <a:latin typeface="Helvetica Neue"/>
                <a:ea typeface="Helvetica Neue"/>
                <a:cs typeface="Helvetica Neue"/>
              </a:defRPr>
            </a:pPr>
            <a:r>
              <a:rPr sz="1125" b="1">
                <a:solidFill>
                  <a:srgbClr val="FFDB24"/>
                </a:solidFill>
                <a:latin typeface="Helvetica Neue"/>
                <a:ea typeface="Helvetica Neue"/>
                <a:cs typeface="Helvetica Neue"/>
              </a:rPr>
              <a:t>PILOT DESIGN / VALIDATION</a:t>
            </a:r>
          </a:p>
        </p:txBody>
      </p:sp>
      <p:sp>
        <p:nvSpPr>
          <p:cNvPr id="2" name="">
            <a:extLst xmlns:a="http://schemas.openxmlformats.org/drawingml/2006/main">
              <a:ext uri="{FF2B5EF4-FFF2-40B4-BE49-F238E27FC236}">
                <a16:creationId xmlns:a16="http://schemas.microsoft.com/office/drawing/2014/main" id="{94D30DFC-F3D5-4DEA-97AD-1593B147AF46}"/>
              </a:ext>
            </a:extLst>
          </p:cNvPr>
          <p:cNvSpPr>
            <a:spLocks xmlns:a="http://schemas.openxmlformats.org/drawingml/2006/main" noGrp="1"/>
          </p:cNvSpPr>
          <p:nvPr/>
        </p:nvSpPr>
        <p:spPr>
          <a:xfrm xmlns:a="http://schemas.openxmlformats.org/drawingml/2006/main">
            <a:off x="609600" y="914400"/>
            <a:ext cx="109728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F4F3EB"/>
                </a:solidFill>
                <a:latin typeface="Helvetica Neue"/>
                <a:ea typeface="Helvetica Neue"/>
                <a:cs typeface="Helvetica Neue"/>
              </a:defRPr>
            </a:defPPr>
            <a:lvl1pPr>
              <a:defRPr sz="3900" b="0">
                <a:solidFill>
                  <a:srgbClr val="F4F3EB"/>
                </a:solidFill>
                <a:latin typeface="Helvetica Neue"/>
                <a:ea typeface="Helvetica Neue"/>
                <a:cs typeface="Helvetica Neue"/>
              </a:defRPr>
            </a:lvl1pPr>
            <a:lvl2pPr>
              <a:defRPr sz="3900" b="0">
                <a:solidFill>
                  <a:srgbClr val="F4F3EB"/>
                </a:solidFill>
                <a:latin typeface="Helvetica Neue"/>
                <a:ea typeface="Helvetica Neue"/>
                <a:cs typeface="Helvetica Neue"/>
              </a:defRPr>
            </a:lvl2pPr>
            <a:lvl3pPr>
              <a:defRPr sz="3900" b="0">
                <a:solidFill>
                  <a:srgbClr val="F4F3EB"/>
                </a:solidFill>
                <a:latin typeface="Helvetica Neue"/>
                <a:ea typeface="Helvetica Neue"/>
                <a:cs typeface="Helvetica Neue"/>
              </a:defRPr>
            </a:lvl3pPr>
            <a:lvl4pPr>
              <a:defRPr sz="3900" b="0">
                <a:solidFill>
                  <a:srgbClr val="F4F3EB"/>
                </a:solidFill>
                <a:latin typeface="Helvetica Neue"/>
                <a:ea typeface="Helvetica Neue"/>
                <a:cs typeface="Helvetica Neue"/>
              </a:defRPr>
            </a:lvl4pPr>
            <a:lvl5pPr>
              <a:defRPr sz="3900" b="0">
                <a:solidFill>
                  <a:srgbClr val="F4F3EB"/>
                </a:solidFill>
                <a:latin typeface="Helvetica Neue"/>
                <a:ea typeface="Helvetica Neue"/>
                <a:cs typeface="Helvetica Neue"/>
              </a:defRPr>
            </a:lvl5pPr>
            <a:lvl6pPr>
              <a:defRPr sz="3900" b="0">
                <a:solidFill>
                  <a:srgbClr val="F4F3EB"/>
                </a:solidFill>
                <a:latin typeface="Helvetica Neue"/>
                <a:ea typeface="Helvetica Neue"/>
                <a:cs typeface="Helvetica Neue"/>
              </a:defRPr>
            </a:lvl6pPr>
            <a:lvl7pPr>
              <a:defRPr sz="3900" b="0">
                <a:solidFill>
                  <a:srgbClr val="F4F3EB"/>
                </a:solidFill>
                <a:latin typeface="Helvetica Neue"/>
                <a:ea typeface="Helvetica Neue"/>
                <a:cs typeface="Helvetica Neue"/>
              </a:defRPr>
            </a:lvl7pPr>
            <a:lvl8pPr>
              <a:defRPr sz="3900" b="0">
                <a:solidFill>
                  <a:srgbClr val="F4F3EB"/>
                </a:solidFill>
                <a:latin typeface="Helvetica Neue"/>
                <a:ea typeface="Helvetica Neue"/>
                <a:cs typeface="Helvetica Neue"/>
              </a:defRPr>
            </a:lvl8pPr>
            <a:lvl9pPr>
              <a:defRPr sz="3900" b="0">
                <a:solidFill>
                  <a:srgbClr val="F4F3EB"/>
                </a:solidFill>
                <a:latin typeface="Helvetica Neue"/>
                <a:ea typeface="Helvetica Neue"/>
                <a:cs typeface="Helvetica Neue"/>
              </a:defRPr>
            </a:lvl9pPr>
          </a:lstStyle>
          <a:p xmlns:a="http://schemas.openxmlformats.org/drawingml/2006/main">
            <a:pPr>
              <a:defRPr sz="3900" b="0">
                <a:solidFill>
                  <a:srgbClr val="F4F3EB"/>
                </a:solidFill>
                <a:latin typeface="Helvetica Neue"/>
                <a:ea typeface="Helvetica Neue"/>
                <a:cs typeface="Helvetica Neue"/>
              </a:defRPr>
            </a:pPr>
            <a:r>
              <a:rPr sz="3900" b="0">
                <a:solidFill>
                  <a:srgbClr val="F4F3EB"/>
                </a:solidFill>
                <a:latin typeface="Helvetica Neue"/>
                <a:ea typeface="Helvetica Neue"/>
                <a:cs typeface="Helvetica Neue"/>
              </a:rPr>
              <a:t>A measured change must preserve the service</a:t>
            </a:r>
          </a:p>
        </p:txBody>
      </p:sp>
      <p:sp>
        <p:nvSpPr>
          <p:cNvPr id="3" name="">
            <a:extLst xmlns:a="http://schemas.openxmlformats.org/drawingml/2006/main">
              <a:ext uri="{FF2B5EF4-FFF2-40B4-BE49-F238E27FC236}">
                <a16:creationId xmlns:a16="http://schemas.microsoft.com/office/drawing/2014/main" id="{AE4B9B17-6403-410A-A665-F86EF4930EEC}"/>
              </a:ext>
            </a:extLst>
          </p:cNvPr>
          <p:cNvSpPr>
            <a:spLocks xmlns:a="http://schemas.openxmlformats.org/drawingml/2006/main" noGrp="1"/>
          </p:cNvSpPr>
          <p:nvPr/>
        </p:nvSpPr>
        <p:spPr>
          <a:xfrm xmlns:a="http://schemas.openxmlformats.org/drawingml/2006/main">
            <a:off x="609600" y="644842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BABDB0"/>
                </a:solidFill>
                <a:latin typeface="Helvetica Neue"/>
                <a:ea typeface="Helvetica Neue"/>
                <a:cs typeface="Helvetica Neue"/>
              </a:defRPr>
            </a:defPPr>
            <a:lvl1pPr>
              <a:defRPr sz="900" b="0">
                <a:solidFill>
                  <a:srgbClr val="BABDB0"/>
                </a:solidFill>
                <a:latin typeface="Helvetica Neue"/>
                <a:ea typeface="Helvetica Neue"/>
                <a:cs typeface="Helvetica Neue"/>
              </a:defRPr>
            </a:lvl1pPr>
            <a:lvl2pPr>
              <a:defRPr sz="900" b="0">
                <a:solidFill>
                  <a:srgbClr val="BABDB0"/>
                </a:solidFill>
                <a:latin typeface="Helvetica Neue"/>
                <a:ea typeface="Helvetica Neue"/>
                <a:cs typeface="Helvetica Neue"/>
              </a:defRPr>
            </a:lvl2pPr>
            <a:lvl3pPr>
              <a:defRPr sz="900" b="0">
                <a:solidFill>
                  <a:srgbClr val="BABDB0"/>
                </a:solidFill>
                <a:latin typeface="Helvetica Neue"/>
                <a:ea typeface="Helvetica Neue"/>
                <a:cs typeface="Helvetica Neue"/>
              </a:defRPr>
            </a:lvl3pPr>
            <a:lvl4pPr>
              <a:defRPr sz="900" b="0">
                <a:solidFill>
                  <a:srgbClr val="BABDB0"/>
                </a:solidFill>
                <a:latin typeface="Helvetica Neue"/>
                <a:ea typeface="Helvetica Neue"/>
                <a:cs typeface="Helvetica Neue"/>
              </a:defRPr>
            </a:lvl4pPr>
            <a:lvl5pPr>
              <a:defRPr sz="900" b="0">
                <a:solidFill>
                  <a:srgbClr val="BABDB0"/>
                </a:solidFill>
                <a:latin typeface="Helvetica Neue"/>
                <a:ea typeface="Helvetica Neue"/>
                <a:cs typeface="Helvetica Neue"/>
              </a:defRPr>
            </a:lvl5pPr>
            <a:lvl6pPr>
              <a:defRPr sz="900" b="0">
                <a:solidFill>
                  <a:srgbClr val="BABDB0"/>
                </a:solidFill>
                <a:latin typeface="Helvetica Neue"/>
                <a:ea typeface="Helvetica Neue"/>
                <a:cs typeface="Helvetica Neue"/>
              </a:defRPr>
            </a:lvl6pPr>
            <a:lvl7pPr>
              <a:defRPr sz="900" b="0">
                <a:solidFill>
                  <a:srgbClr val="BABDB0"/>
                </a:solidFill>
                <a:latin typeface="Helvetica Neue"/>
                <a:ea typeface="Helvetica Neue"/>
                <a:cs typeface="Helvetica Neue"/>
              </a:defRPr>
            </a:lvl7pPr>
            <a:lvl8pPr>
              <a:defRPr sz="900" b="0">
                <a:solidFill>
                  <a:srgbClr val="BABDB0"/>
                </a:solidFill>
                <a:latin typeface="Helvetica Neue"/>
                <a:ea typeface="Helvetica Neue"/>
                <a:cs typeface="Helvetica Neue"/>
              </a:defRPr>
            </a:lvl8pPr>
            <a:lvl9pPr>
              <a:defRPr sz="900" b="0">
                <a:solidFill>
                  <a:srgbClr val="BABDB0"/>
                </a:solidFill>
                <a:latin typeface="Helvetica Neue"/>
                <a:ea typeface="Helvetica Neue"/>
                <a:cs typeface="Helvetica Neue"/>
              </a:defRPr>
            </a:lvl9pPr>
          </a:lstStyle>
          <a:p xmlns:a="http://schemas.openxmlformats.org/drawingml/2006/main">
            <a:pPr>
              <a:defRPr sz="900" b="0">
                <a:solidFill>
                  <a:srgbClr val="BABDB0"/>
                </a:solidFill>
                <a:latin typeface="Helvetica Neue"/>
                <a:ea typeface="Helvetica Neue"/>
                <a:cs typeface="Helvetica Neue"/>
              </a:defRPr>
            </a:pPr>
            <a:r>
              <a:rPr sz="900" b="0">
                <a:solidFill>
                  <a:srgbClr val="BABDB0"/>
                </a:solidFill>
                <a:latin typeface="Helvetica Neue"/>
                <a:ea typeface="Helvetica Neue"/>
                <a:cs typeface="Helvetica Neue"/>
              </a:rPr>
              <a:t>E FOR ENERGY</a:t>
            </a:r>
          </a:p>
        </p:txBody>
      </p:sp>
      <p:sp>
        <p:nvSpPr>
          <p:cNvPr id="4" name="">
            <a:extLst xmlns:a="http://schemas.openxmlformats.org/drawingml/2006/main">
              <a:ext uri="{FF2B5EF4-FFF2-40B4-BE49-F238E27FC236}">
                <a16:creationId xmlns:a16="http://schemas.microsoft.com/office/drawing/2014/main" id="{E09EFB6D-23AE-475D-B4F7-9DB5E1A7BC1C}"/>
              </a:ext>
            </a:extLst>
          </p:cNvPr>
          <p:cNvSpPr>
            <a:spLocks xmlns:a="http://schemas.openxmlformats.org/drawingml/2006/main" noGrp="1"/>
          </p:cNvSpPr>
          <p:nvPr/>
        </p:nvSpPr>
        <p:spPr>
          <a:xfrm xmlns:a="http://schemas.openxmlformats.org/drawingml/2006/main">
            <a:off x="11049000" y="64198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BABDB0"/>
                </a:solidFill>
                <a:latin typeface="Helvetica Neue"/>
                <a:ea typeface="Helvetica Neue"/>
                <a:cs typeface="Helvetica Neue"/>
              </a:defRPr>
            </a:defPPr>
            <a:lvl1pPr>
              <a:defRPr sz="1200" b="0">
                <a:solidFill>
                  <a:srgbClr val="BABDB0"/>
                </a:solidFill>
                <a:latin typeface="Helvetica Neue"/>
                <a:ea typeface="Helvetica Neue"/>
                <a:cs typeface="Helvetica Neue"/>
              </a:defRPr>
            </a:lvl1pPr>
            <a:lvl2pPr>
              <a:defRPr sz="1200" b="0">
                <a:solidFill>
                  <a:srgbClr val="BABDB0"/>
                </a:solidFill>
                <a:latin typeface="Helvetica Neue"/>
                <a:ea typeface="Helvetica Neue"/>
                <a:cs typeface="Helvetica Neue"/>
              </a:defRPr>
            </a:lvl2pPr>
            <a:lvl3pPr>
              <a:defRPr sz="1200" b="0">
                <a:solidFill>
                  <a:srgbClr val="BABDB0"/>
                </a:solidFill>
                <a:latin typeface="Helvetica Neue"/>
                <a:ea typeface="Helvetica Neue"/>
                <a:cs typeface="Helvetica Neue"/>
              </a:defRPr>
            </a:lvl3pPr>
            <a:lvl4pPr>
              <a:defRPr sz="1200" b="0">
                <a:solidFill>
                  <a:srgbClr val="BABDB0"/>
                </a:solidFill>
                <a:latin typeface="Helvetica Neue"/>
                <a:ea typeface="Helvetica Neue"/>
                <a:cs typeface="Helvetica Neue"/>
              </a:defRPr>
            </a:lvl4pPr>
            <a:lvl5pPr>
              <a:defRPr sz="1200" b="0">
                <a:solidFill>
                  <a:srgbClr val="BABDB0"/>
                </a:solidFill>
                <a:latin typeface="Helvetica Neue"/>
                <a:ea typeface="Helvetica Neue"/>
                <a:cs typeface="Helvetica Neue"/>
              </a:defRPr>
            </a:lvl5pPr>
            <a:lvl6pPr>
              <a:defRPr sz="1200" b="0">
                <a:solidFill>
                  <a:srgbClr val="BABDB0"/>
                </a:solidFill>
                <a:latin typeface="Helvetica Neue"/>
                <a:ea typeface="Helvetica Neue"/>
                <a:cs typeface="Helvetica Neue"/>
              </a:defRPr>
            </a:lvl6pPr>
            <a:lvl7pPr>
              <a:defRPr sz="1200" b="0">
                <a:solidFill>
                  <a:srgbClr val="BABDB0"/>
                </a:solidFill>
                <a:latin typeface="Helvetica Neue"/>
                <a:ea typeface="Helvetica Neue"/>
                <a:cs typeface="Helvetica Neue"/>
              </a:defRPr>
            </a:lvl7pPr>
            <a:lvl8pPr>
              <a:defRPr sz="1200" b="0">
                <a:solidFill>
                  <a:srgbClr val="BABDB0"/>
                </a:solidFill>
                <a:latin typeface="Helvetica Neue"/>
                <a:ea typeface="Helvetica Neue"/>
                <a:cs typeface="Helvetica Neue"/>
              </a:defRPr>
            </a:lvl8pPr>
            <a:lvl9pPr>
              <a:defRPr sz="1200" b="0">
                <a:solidFill>
                  <a:srgbClr val="BABDB0"/>
                </a:solidFill>
                <a:latin typeface="Helvetica Neue"/>
                <a:ea typeface="Helvetica Neue"/>
                <a:cs typeface="Helvetica Neue"/>
              </a:defRPr>
            </a:lvl9pPr>
          </a:lstStyle>
          <a:p xmlns:a="http://schemas.openxmlformats.org/drawingml/2006/main">
            <a:pPr>
              <a:defRPr sz="1200" b="0">
                <a:solidFill>
                  <a:srgbClr val="BABDB0"/>
                </a:solidFill>
                <a:latin typeface="Helvetica Neue"/>
                <a:ea typeface="Helvetica Neue"/>
                <a:cs typeface="Helvetica Neue"/>
              </a:defRPr>
            </a:pPr>
            <a:r>
              <a:rPr sz="1200" b="0">
                <a:solidFill>
                  <a:srgbClr val="BABDB0"/>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CC3D2BBF-7ECF-4F36-8F24-B2F05D7FA741}"/>
              </a:ext>
            </a:extLst>
          </p:cNvPr>
          <p:cNvSpPr>
            <a:spLocks xmlns:a="http://schemas.openxmlformats.org/drawingml/2006/main" noGrp="1"/>
          </p:cNvSpPr>
          <p:nvPr/>
        </p:nvSpPr>
        <p:spPr>
          <a:xfrm xmlns:a="http://schemas.openxmlformats.org/drawingml/2006/main">
            <a:off x="609600" y="2495550"/>
            <a:ext cx="328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FFDB24"/>
                </a:solidFill>
                <a:latin typeface="Helvetica Neue"/>
                <a:ea typeface="Helvetica Neue"/>
                <a:cs typeface="Helvetica Neue"/>
              </a:defRPr>
            </a:defPPr>
            <a:lvl1pPr>
              <a:defRPr sz="2250" b="1">
                <a:solidFill>
                  <a:srgbClr val="FFDB24"/>
                </a:solidFill>
                <a:latin typeface="Helvetica Neue"/>
                <a:ea typeface="Helvetica Neue"/>
                <a:cs typeface="Helvetica Neue"/>
              </a:defRPr>
            </a:lvl1pPr>
            <a:lvl2pPr>
              <a:defRPr sz="2250" b="1">
                <a:solidFill>
                  <a:srgbClr val="FFDB24"/>
                </a:solidFill>
                <a:latin typeface="Helvetica Neue"/>
                <a:ea typeface="Helvetica Neue"/>
                <a:cs typeface="Helvetica Neue"/>
              </a:defRPr>
            </a:lvl2pPr>
            <a:lvl3pPr>
              <a:defRPr sz="2250" b="1">
                <a:solidFill>
                  <a:srgbClr val="FFDB24"/>
                </a:solidFill>
                <a:latin typeface="Helvetica Neue"/>
                <a:ea typeface="Helvetica Neue"/>
                <a:cs typeface="Helvetica Neue"/>
              </a:defRPr>
            </a:lvl3pPr>
            <a:lvl4pPr>
              <a:defRPr sz="2250" b="1">
                <a:solidFill>
                  <a:srgbClr val="FFDB24"/>
                </a:solidFill>
                <a:latin typeface="Helvetica Neue"/>
                <a:ea typeface="Helvetica Neue"/>
                <a:cs typeface="Helvetica Neue"/>
              </a:defRPr>
            </a:lvl4pPr>
            <a:lvl5pPr>
              <a:defRPr sz="2250" b="1">
                <a:solidFill>
                  <a:srgbClr val="FFDB24"/>
                </a:solidFill>
                <a:latin typeface="Helvetica Neue"/>
                <a:ea typeface="Helvetica Neue"/>
                <a:cs typeface="Helvetica Neue"/>
              </a:defRPr>
            </a:lvl5pPr>
            <a:lvl6pPr>
              <a:defRPr sz="2250" b="1">
                <a:solidFill>
                  <a:srgbClr val="FFDB24"/>
                </a:solidFill>
                <a:latin typeface="Helvetica Neue"/>
                <a:ea typeface="Helvetica Neue"/>
                <a:cs typeface="Helvetica Neue"/>
              </a:defRPr>
            </a:lvl6pPr>
            <a:lvl7pPr>
              <a:defRPr sz="2250" b="1">
                <a:solidFill>
                  <a:srgbClr val="FFDB24"/>
                </a:solidFill>
                <a:latin typeface="Helvetica Neue"/>
                <a:ea typeface="Helvetica Neue"/>
                <a:cs typeface="Helvetica Neue"/>
              </a:defRPr>
            </a:lvl7pPr>
            <a:lvl8pPr>
              <a:defRPr sz="2250" b="1">
                <a:solidFill>
                  <a:srgbClr val="FFDB24"/>
                </a:solidFill>
                <a:latin typeface="Helvetica Neue"/>
                <a:ea typeface="Helvetica Neue"/>
                <a:cs typeface="Helvetica Neue"/>
              </a:defRPr>
            </a:lvl8pPr>
            <a:lvl9pPr>
              <a:defRPr sz="2250" b="1">
                <a:solidFill>
                  <a:srgbClr val="FFDB24"/>
                </a:solidFill>
                <a:latin typeface="Helvetica Neue"/>
                <a:ea typeface="Helvetica Neue"/>
                <a:cs typeface="Helvetica Neue"/>
              </a:defRPr>
            </a:lvl9pPr>
          </a:lstStyle>
          <a:p xmlns:a="http://schemas.openxmlformats.org/drawingml/2006/main">
            <a:pPr>
              <a:defRPr sz="2250" b="1">
                <a:solidFill>
                  <a:srgbClr val="FFDB24"/>
                </a:solidFill>
                <a:latin typeface="Helvetica Neue"/>
                <a:ea typeface="Helvetica Neue"/>
                <a:cs typeface="Helvetica Neue"/>
              </a:defRPr>
            </a:pPr>
            <a:r>
              <a:rPr sz="2250" b="1">
                <a:solidFill>
                  <a:srgbClr val="FFDB24"/>
                </a:solidFill>
                <a:latin typeface="Helvetica Neue"/>
                <a:ea typeface="Helvetica Neue"/>
                <a:cs typeface="Helvetica Neue"/>
              </a:rPr>
              <a:t>01  Baseline</a:t>
            </a:r>
          </a:p>
        </p:txBody>
      </p:sp>
      <p:sp>
        <p:nvSpPr>
          <p:cNvPr id="6" name="">
            <a:extLst xmlns:a="http://schemas.openxmlformats.org/drawingml/2006/main">
              <a:ext uri="{FF2B5EF4-FFF2-40B4-BE49-F238E27FC236}">
                <a16:creationId xmlns:a16="http://schemas.microsoft.com/office/drawing/2014/main" id="{E182725D-D78A-41D2-A1DC-4E80D48F3832}"/>
              </a:ext>
            </a:extLst>
          </p:cNvPr>
          <p:cNvSpPr>
            <a:spLocks xmlns:a="http://schemas.openxmlformats.org/drawingml/2006/main" noGrp="1"/>
          </p:cNvSpPr>
          <p:nvPr/>
        </p:nvSpPr>
        <p:spPr>
          <a:xfrm xmlns:a="http://schemas.openxmlformats.org/drawingml/2006/main">
            <a:off x="609600" y="3067050"/>
            <a:ext cx="3333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F4F3EB"/>
                </a:solidFill>
                <a:latin typeface="Helvetica Neue"/>
                <a:ea typeface="Helvetica Neue"/>
                <a:cs typeface="Helvetica Neue"/>
              </a:defRPr>
            </a:defPPr>
            <a:lvl1pPr>
              <a:defRPr sz="1950" b="0">
                <a:solidFill>
                  <a:srgbClr val="F4F3EB"/>
                </a:solidFill>
                <a:latin typeface="Helvetica Neue"/>
                <a:ea typeface="Helvetica Neue"/>
                <a:cs typeface="Helvetica Neue"/>
              </a:defRPr>
            </a:lvl1pPr>
            <a:lvl2pPr>
              <a:defRPr sz="1950" b="0">
                <a:solidFill>
                  <a:srgbClr val="F4F3EB"/>
                </a:solidFill>
                <a:latin typeface="Helvetica Neue"/>
                <a:ea typeface="Helvetica Neue"/>
                <a:cs typeface="Helvetica Neue"/>
              </a:defRPr>
            </a:lvl2pPr>
            <a:lvl3pPr>
              <a:defRPr sz="1950" b="0">
                <a:solidFill>
                  <a:srgbClr val="F4F3EB"/>
                </a:solidFill>
                <a:latin typeface="Helvetica Neue"/>
                <a:ea typeface="Helvetica Neue"/>
                <a:cs typeface="Helvetica Neue"/>
              </a:defRPr>
            </a:lvl3pPr>
            <a:lvl4pPr>
              <a:defRPr sz="1950" b="0">
                <a:solidFill>
                  <a:srgbClr val="F4F3EB"/>
                </a:solidFill>
                <a:latin typeface="Helvetica Neue"/>
                <a:ea typeface="Helvetica Neue"/>
                <a:cs typeface="Helvetica Neue"/>
              </a:defRPr>
            </a:lvl4pPr>
            <a:lvl5pPr>
              <a:defRPr sz="1950" b="0">
                <a:solidFill>
                  <a:srgbClr val="F4F3EB"/>
                </a:solidFill>
                <a:latin typeface="Helvetica Neue"/>
                <a:ea typeface="Helvetica Neue"/>
                <a:cs typeface="Helvetica Neue"/>
              </a:defRPr>
            </a:lvl5pPr>
            <a:lvl6pPr>
              <a:defRPr sz="1950" b="0">
                <a:solidFill>
                  <a:srgbClr val="F4F3EB"/>
                </a:solidFill>
                <a:latin typeface="Helvetica Neue"/>
                <a:ea typeface="Helvetica Neue"/>
                <a:cs typeface="Helvetica Neue"/>
              </a:defRPr>
            </a:lvl6pPr>
            <a:lvl7pPr>
              <a:defRPr sz="1950" b="0">
                <a:solidFill>
                  <a:srgbClr val="F4F3EB"/>
                </a:solidFill>
                <a:latin typeface="Helvetica Neue"/>
                <a:ea typeface="Helvetica Neue"/>
                <a:cs typeface="Helvetica Neue"/>
              </a:defRPr>
            </a:lvl7pPr>
            <a:lvl8pPr>
              <a:defRPr sz="1950" b="0">
                <a:solidFill>
                  <a:srgbClr val="F4F3EB"/>
                </a:solidFill>
                <a:latin typeface="Helvetica Neue"/>
                <a:ea typeface="Helvetica Neue"/>
                <a:cs typeface="Helvetica Neue"/>
              </a:defRPr>
            </a:lvl8pPr>
            <a:lvl9pPr>
              <a:defRPr sz="1950" b="0">
                <a:solidFill>
                  <a:srgbClr val="F4F3EB"/>
                </a:solidFill>
                <a:latin typeface="Helvetica Neue"/>
                <a:ea typeface="Helvetica Neue"/>
                <a:cs typeface="Helvetica Neue"/>
              </a:defRPr>
            </a:lvl9pPr>
          </a:lstStyle>
          <a:p xmlns:a="http://schemas.openxmlformats.org/drawingml/2006/main">
            <a:pPr>
              <a:defRPr sz="1950" b="0">
                <a:solidFill>
                  <a:srgbClr val="F4F3EB"/>
                </a:solidFill>
                <a:latin typeface="Helvetica Neue"/>
                <a:ea typeface="Helvetica Neue"/>
                <a:cs typeface="Helvetica Neue"/>
              </a:defRPr>
            </a:pPr>
            <a:r>
              <a:rPr sz="1950" b="0">
                <a:solidFill>
                  <a:srgbClr val="F4F3EB"/>
                </a:solidFill>
                <a:latin typeface="Helvetica Neue"/>
                <a:ea typeface="Helvetica Neue"/>
                <a:cs typeface="Helvetica Neue"/>
              </a:rPr>
              <a:t>Capture representative requests, model and serving version, quality, latency, failures and whole-system energy.</a:t>
            </a:r>
          </a:p>
        </p:txBody>
      </p:sp>
      <p:sp>
        <p:nvSpPr>
          <p:cNvPr id="7" name="">
            <a:extLst xmlns:a="http://schemas.openxmlformats.org/drawingml/2006/main">
              <a:ext uri="{FF2B5EF4-FFF2-40B4-BE49-F238E27FC236}">
                <a16:creationId xmlns:a16="http://schemas.microsoft.com/office/drawing/2014/main" id="{9CB2CF25-9B47-478C-B9FE-A5A862160897}"/>
              </a:ext>
            </a:extLst>
          </p:cNvPr>
          <p:cNvSpPr>
            <a:spLocks xmlns:a="http://schemas.openxmlformats.org/drawingml/2006/main" noGrp="1"/>
          </p:cNvSpPr>
          <p:nvPr/>
        </p:nvSpPr>
        <p:spPr>
          <a:xfrm xmlns:a="http://schemas.openxmlformats.org/drawingml/2006/main">
            <a:off x="4324350" y="2495550"/>
            <a:ext cx="328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EE6758"/>
                </a:solidFill>
                <a:latin typeface="Helvetica Neue"/>
                <a:ea typeface="Helvetica Neue"/>
                <a:cs typeface="Helvetica Neue"/>
              </a:defRPr>
            </a:defPPr>
            <a:lvl1pPr>
              <a:defRPr sz="2250" b="1">
                <a:solidFill>
                  <a:srgbClr val="EE6758"/>
                </a:solidFill>
                <a:latin typeface="Helvetica Neue"/>
                <a:ea typeface="Helvetica Neue"/>
                <a:cs typeface="Helvetica Neue"/>
              </a:defRPr>
            </a:lvl1pPr>
            <a:lvl2pPr>
              <a:defRPr sz="2250" b="1">
                <a:solidFill>
                  <a:srgbClr val="EE6758"/>
                </a:solidFill>
                <a:latin typeface="Helvetica Neue"/>
                <a:ea typeface="Helvetica Neue"/>
                <a:cs typeface="Helvetica Neue"/>
              </a:defRPr>
            </a:lvl2pPr>
            <a:lvl3pPr>
              <a:defRPr sz="2250" b="1">
                <a:solidFill>
                  <a:srgbClr val="EE6758"/>
                </a:solidFill>
                <a:latin typeface="Helvetica Neue"/>
                <a:ea typeface="Helvetica Neue"/>
                <a:cs typeface="Helvetica Neue"/>
              </a:defRPr>
            </a:lvl3pPr>
            <a:lvl4pPr>
              <a:defRPr sz="2250" b="1">
                <a:solidFill>
                  <a:srgbClr val="EE6758"/>
                </a:solidFill>
                <a:latin typeface="Helvetica Neue"/>
                <a:ea typeface="Helvetica Neue"/>
                <a:cs typeface="Helvetica Neue"/>
              </a:defRPr>
            </a:lvl4pPr>
            <a:lvl5pPr>
              <a:defRPr sz="2250" b="1">
                <a:solidFill>
                  <a:srgbClr val="EE6758"/>
                </a:solidFill>
                <a:latin typeface="Helvetica Neue"/>
                <a:ea typeface="Helvetica Neue"/>
                <a:cs typeface="Helvetica Neue"/>
              </a:defRPr>
            </a:lvl5pPr>
            <a:lvl6pPr>
              <a:defRPr sz="2250" b="1">
                <a:solidFill>
                  <a:srgbClr val="EE6758"/>
                </a:solidFill>
                <a:latin typeface="Helvetica Neue"/>
                <a:ea typeface="Helvetica Neue"/>
                <a:cs typeface="Helvetica Neue"/>
              </a:defRPr>
            </a:lvl6pPr>
            <a:lvl7pPr>
              <a:defRPr sz="2250" b="1">
                <a:solidFill>
                  <a:srgbClr val="EE6758"/>
                </a:solidFill>
                <a:latin typeface="Helvetica Neue"/>
                <a:ea typeface="Helvetica Neue"/>
                <a:cs typeface="Helvetica Neue"/>
              </a:defRPr>
            </a:lvl7pPr>
            <a:lvl8pPr>
              <a:defRPr sz="2250" b="1">
                <a:solidFill>
                  <a:srgbClr val="EE6758"/>
                </a:solidFill>
                <a:latin typeface="Helvetica Neue"/>
                <a:ea typeface="Helvetica Neue"/>
                <a:cs typeface="Helvetica Neue"/>
              </a:defRPr>
            </a:lvl8pPr>
            <a:lvl9pPr>
              <a:defRPr sz="2250" b="1">
                <a:solidFill>
                  <a:srgbClr val="EE6758"/>
                </a:solidFill>
                <a:latin typeface="Helvetica Neue"/>
                <a:ea typeface="Helvetica Neue"/>
                <a:cs typeface="Helvetica Neue"/>
              </a:defRPr>
            </a:lvl9pPr>
          </a:lstStyle>
          <a:p xmlns:a="http://schemas.openxmlformats.org/drawingml/2006/main">
            <a:pPr>
              <a:defRPr sz="2250" b="1">
                <a:solidFill>
                  <a:srgbClr val="EE6758"/>
                </a:solidFill>
                <a:latin typeface="Helvetica Neue"/>
                <a:ea typeface="Helvetica Neue"/>
                <a:cs typeface="Helvetica Neue"/>
              </a:defRPr>
            </a:pPr>
            <a:r>
              <a:rPr sz="2250" b="1">
                <a:solidFill>
                  <a:srgbClr val="EE6758"/>
                </a:solidFill>
                <a:latin typeface="Helvetica Neue"/>
                <a:ea typeface="Helvetica Neue"/>
                <a:cs typeface="Helvetica Neue"/>
              </a:rPr>
              <a:t>02  Candidate</a:t>
            </a:r>
          </a:p>
        </p:txBody>
      </p:sp>
      <p:sp>
        <p:nvSpPr>
          <p:cNvPr id="8" name="">
            <a:extLst xmlns:a="http://schemas.openxmlformats.org/drawingml/2006/main">
              <a:ext uri="{FF2B5EF4-FFF2-40B4-BE49-F238E27FC236}">
                <a16:creationId xmlns:a16="http://schemas.microsoft.com/office/drawing/2014/main" id="{D7FF6751-32E0-4EE6-B8D9-DE439866F3ED}"/>
              </a:ext>
            </a:extLst>
          </p:cNvPr>
          <p:cNvSpPr>
            <a:spLocks xmlns:a="http://schemas.openxmlformats.org/drawingml/2006/main" noGrp="1"/>
          </p:cNvSpPr>
          <p:nvPr/>
        </p:nvSpPr>
        <p:spPr>
          <a:xfrm xmlns:a="http://schemas.openxmlformats.org/drawingml/2006/main">
            <a:off x="4324350" y="3067050"/>
            <a:ext cx="3333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F4F3EB"/>
                </a:solidFill>
                <a:latin typeface="Helvetica Neue"/>
                <a:ea typeface="Helvetica Neue"/>
                <a:cs typeface="Helvetica Neue"/>
              </a:defRPr>
            </a:defPPr>
            <a:lvl1pPr>
              <a:defRPr sz="1950" b="0">
                <a:solidFill>
                  <a:srgbClr val="F4F3EB"/>
                </a:solidFill>
                <a:latin typeface="Helvetica Neue"/>
                <a:ea typeface="Helvetica Neue"/>
                <a:cs typeface="Helvetica Neue"/>
              </a:defRPr>
            </a:lvl1pPr>
            <a:lvl2pPr>
              <a:defRPr sz="1950" b="0">
                <a:solidFill>
                  <a:srgbClr val="F4F3EB"/>
                </a:solidFill>
                <a:latin typeface="Helvetica Neue"/>
                <a:ea typeface="Helvetica Neue"/>
                <a:cs typeface="Helvetica Neue"/>
              </a:defRPr>
            </a:lvl2pPr>
            <a:lvl3pPr>
              <a:defRPr sz="1950" b="0">
                <a:solidFill>
                  <a:srgbClr val="F4F3EB"/>
                </a:solidFill>
                <a:latin typeface="Helvetica Neue"/>
                <a:ea typeface="Helvetica Neue"/>
                <a:cs typeface="Helvetica Neue"/>
              </a:defRPr>
            </a:lvl3pPr>
            <a:lvl4pPr>
              <a:defRPr sz="1950" b="0">
                <a:solidFill>
                  <a:srgbClr val="F4F3EB"/>
                </a:solidFill>
                <a:latin typeface="Helvetica Neue"/>
                <a:ea typeface="Helvetica Neue"/>
                <a:cs typeface="Helvetica Neue"/>
              </a:defRPr>
            </a:lvl4pPr>
            <a:lvl5pPr>
              <a:defRPr sz="1950" b="0">
                <a:solidFill>
                  <a:srgbClr val="F4F3EB"/>
                </a:solidFill>
                <a:latin typeface="Helvetica Neue"/>
                <a:ea typeface="Helvetica Neue"/>
                <a:cs typeface="Helvetica Neue"/>
              </a:defRPr>
            </a:lvl5pPr>
            <a:lvl6pPr>
              <a:defRPr sz="1950" b="0">
                <a:solidFill>
                  <a:srgbClr val="F4F3EB"/>
                </a:solidFill>
                <a:latin typeface="Helvetica Neue"/>
                <a:ea typeface="Helvetica Neue"/>
                <a:cs typeface="Helvetica Neue"/>
              </a:defRPr>
            </a:lvl6pPr>
            <a:lvl7pPr>
              <a:defRPr sz="1950" b="0">
                <a:solidFill>
                  <a:srgbClr val="F4F3EB"/>
                </a:solidFill>
                <a:latin typeface="Helvetica Neue"/>
                <a:ea typeface="Helvetica Neue"/>
                <a:cs typeface="Helvetica Neue"/>
              </a:defRPr>
            </a:lvl7pPr>
            <a:lvl8pPr>
              <a:defRPr sz="1950" b="0">
                <a:solidFill>
                  <a:srgbClr val="F4F3EB"/>
                </a:solidFill>
                <a:latin typeface="Helvetica Neue"/>
                <a:ea typeface="Helvetica Neue"/>
                <a:cs typeface="Helvetica Neue"/>
              </a:defRPr>
            </a:lvl8pPr>
            <a:lvl9pPr>
              <a:defRPr sz="1950" b="0">
                <a:solidFill>
                  <a:srgbClr val="F4F3EB"/>
                </a:solidFill>
                <a:latin typeface="Helvetica Neue"/>
                <a:ea typeface="Helvetica Neue"/>
                <a:cs typeface="Helvetica Neue"/>
              </a:defRPr>
            </a:lvl9pPr>
          </a:lstStyle>
          <a:p xmlns:a="http://schemas.openxmlformats.org/drawingml/2006/main">
            <a:pPr>
              <a:defRPr sz="1950" b="0">
                <a:solidFill>
                  <a:srgbClr val="F4F3EB"/>
                </a:solidFill>
                <a:latin typeface="Helvetica Neue"/>
                <a:ea typeface="Helvetica Neue"/>
                <a:cs typeface="Helvetica Neue"/>
              </a:defRPr>
            </a:pPr>
            <a:r>
              <a:rPr sz="1950" b="0">
                <a:solidFill>
                  <a:srgbClr val="F4F3EB"/>
                </a:solidFill>
                <a:latin typeface="Helvetica Neue"/>
                <a:ea typeface="Helvetica Neue"/>
                <a:cs typeface="Helvetica Neue"/>
              </a:rPr>
              <a:t>Change one configuration at a time. Keep the task mix and acceptance rules comparable.</a:t>
            </a:r>
          </a:p>
        </p:txBody>
      </p:sp>
      <p:sp>
        <p:nvSpPr>
          <p:cNvPr id="9" name="">
            <a:extLst xmlns:a="http://schemas.openxmlformats.org/drawingml/2006/main">
              <a:ext uri="{FF2B5EF4-FFF2-40B4-BE49-F238E27FC236}">
                <a16:creationId xmlns:a16="http://schemas.microsoft.com/office/drawing/2014/main" id="{64323F6D-DABF-4CDB-9C35-6573206856ED}"/>
              </a:ext>
            </a:extLst>
          </p:cNvPr>
          <p:cNvSpPr>
            <a:spLocks xmlns:a="http://schemas.openxmlformats.org/drawingml/2006/main" noGrp="1"/>
          </p:cNvSpPr>
          <p:nvPr/>
        </p:nvSpPr>
        <p:spPr>
          <a:xfrm xmlns:a="http://schemas.openxmlformats.org/drawingml/2006/main">
            <a:off x="8229600" y="2495550"/>
            <a:ext cx="328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FFDB24"/>
                </a:solidFill>
                <a:latin typeface="Helvetica Neue"/>
                <a:ea typeface="Helvetica Neue"/>
                <a:cs typeface="Helvetica Neue"/>
              </a:defRPr>
            </a:defPPr>
            <a:lvl1pPr>
              <a:defRPr sz="2250" b="1">
                <a:solidFill>
                  <a:srgbClr val="FFDB24"/>
                </a:solidFill>
                <a:latin typeface="Helvetica Neue"/>
                <a:ea typeface="Helvetica Neue"/>
                <a:cs typeface="Helvetica Neue"/>
              </a:defRPr>
            </a:lvl1pPr>
            <a:lvl2pPr>
              <a:defRPr sz="2250" b="1">
                <a:solidFill>
                  <a:srgbClr val="FFDB24"/>
                </a:solidFill>
                <a:latin typeface="Helvetica Neue"/>
                <a:ea typeface="Helvetica Neue"/>
                <a:cs typeface="Helvetica Neue"/>
              </a:defRPr>
            </a:lvl2pPr>
            <a:lvl3pPr>
              <a:defRPr sz="2250" b="1">
                <a:solidFill>
                  <a:srgbClr val="FFDB24"/>
                </a:solidFill>
                <a:latin typeface="Helvetica Neue"/>
                <a:ea typeface="Helvetica Neue"/>
                <a:cs typeface="Helvetica Neue"/>
              </a:defRPr>
            </a:lvl3pPr>
            <a:lvl4pPr>
              <a:defRPr sz="2250" b="1">
                <a:solidFill>
                  <a:srgbClr val="FFDB24"/>
                </a:solidFill>
                <a:latin typeface="Helvetica Neue"/>
                <a:ea typeface="Helvetica Neue"/>
                <a:cs typeface="Helvetica Neue"/>
              </a:defRPr>
            </a:lvl4pPr>
            <a:lvl5pPr>
              <a:defRPr sz="2250" b="1">
                <a:solidFill>
                  <a:srgbClr val="FFDB24"/>
                </a:solidFill>
                <a:latin typeface="Helvetica Neue"/>
                <a:ea typeface="Helvetica Neue"/>
                <a:cs typeface="Helvetica Neue"/>
              </a:defRPr>
            </a:lvl5pPr>
            <a:lvl6pPr>
              <a:defRPr sz="2250" b="1">
                <a:solidFill>
                  <a:srgbClr val="FFDB24"/>
                </a:solidFill>
                <a:latin typeface="Helvetica Neue"/>
                <a:ea typeface="Helvetica Neue"/>
                <a:cs typeface="Helvetica Neue"/>
              </a:defRPr>
            </a:lvl6pPr>
            <a:lvl7pPr>
              <a:defRPr sz="2250" b="1">
                <a:solidFill>
                  <a:srgbClr val="FFDB24"/>
                </a:solidFill>
                <a:latin typeface="Helvetica Neue"/>
                <a:ea typeface="Helvetica Neue"/>
                <a:cs typeface="Helvetica Neue"/>
              </a:defRPr>
            </a:lvl7pPr>
            <a:lvl8pPr>
              <a:defRPr sz="2250" b="1">
                <a:solidFill>
                  <a:srgbClr val="FFDB24"/>
                </a:solidFill>
                <a:latin typeface="Helvetica Neue"/>
                <a:ea typeface="Helvetica Neue"/>
                <a:cs typeface="Helvetica Neue"/>
              </a:defRPr>
            </a:lvl8pPr>
            <a:lvl9pPr>
              <a:defRPr sz="2250" b="1">
                <a:solidFill>
                  <a:srgbClr val="FFDB24"/>
                </a:solidFill>
                <a:latin typeface="Helvetica Neue"/>
                <a:ea typeface="Helvetica Neue"/>
                <a:cs typeface="Helvetica Neue"/>
              </a:defRPr>
            </a:lvl9pPr>
          </a:lstStyle>
          <a:p xmlns:a="http://schemas.openxmlformats.org/drawingml/2006/main">
            <a:pPr>
              <a:defRPr sz="2250" b="1">
                <a:solidFill>
                  <a:srgbClr val="FFDB24"/>
                </a:solidFill>
                <a:latin typeface="Helvetica Neue"/>
                <a:ea typeface="Helvetica Neue"/>
                <a:cs typeface="Helvetica Neue"/>
              </a:defRPr>
            </a:pPr>
            <a:r>
              <a:rPr sz="2250" b="1">
                <a:solidFill>
                  <a:srgbClr val="FFDB24"/>
                </a:solidFill>
                <a:latin typeface="Helvetica Neue"/>
                <a:ea typeface="Helvetica Neue"/>
                <a:cs typeface="Helvetica Neue"/>
              </a:rPr>
              <a:t>03  Decision</a:t>
            </a:r>
          </a:p>
        </p:txBody>
      </p:sp>
      <p:sp>
        <p:nvSpPr>
          <p:cNvPr id="10" name="">
            <a:extLst xmlns:a="http://schemas.openxmlformats.org/drawingml/2006/main">
              <a:ext uri="{FF2B5EF4-FFF2-40B4-BE49-F238E27FC236}">
                <a16:creationId xmlns:a16="http://schemas.microsoft.com/office/drawing/2014/main" id="{387E877E-A0DD-41BA-9AC3-0A980D15E17B}"/>
              </a:ext>
            </a:extLst>
          </p:cNvPr>
          <p:cNvSpPr>
            <a:spLocks xmlns:a="http://schemas.openxmlformats.org/drawingml/2006/main" noGrp="1"/>
          </p:cNvSpPr>
          <p:nvPr/>
        </p:nvSpPr>
        <p:spPr>
          <a:xfrm xmlns:a="http://schemas.openxmlformats.org/drawingml/2006/main">
            <a:off x="8229600" y="3067050"/>
            <a:ext cx="3333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F4F3EB"/>
                </a:solidFill>
                <a:latin typeface="Helvetica Neue"/>
                <a:ea typeface="Helvetica Neue"/>
                <a:cs typeface="Helvetica Neue"/>
              </a:defRPr>
            </a:defPPr>
            <a:lvl1pPr>
              <a:defRPr sz="1950" b="0">
                <a:solidFill>
                  <a:srgbClr val="F4F3EB"/>
                </a:solidFill>
                <a:latin typeface="Helvetica Neue"/>
                <a:ea typeface="Helvetica Neue"/>
                <a:cs typeface="Helvetica Neue"/>
              </a:defRPr>
            </a:lvl1pPr>
            <a:lvl2pPr>
              <a:defRPr sz="1950" b="0">
                <a:solidFill>
                  <a:srgbClr val="F4F3EB"/>
                </a:solidFill>
                <a:latin typeface="Helvetica Neue"/>
                <a:ea typeface="Helvetica Neue"/>
                <a:cs typeface="Helvetica Neue"/>
              </a:defRPr>
            </a:lvl2pPr>
            <a:lvl3pPr>
              <a:defRPr sz="1950" b="0">
                <a:solidFill>
                  <a:srgbClr val="F4F3EB"/>
                </a:solidFill>
                <a:latin typeface="Helvetica Neue"/>
                <a:ea typeface="Helvetica Neue"/>
                <a:cs typeface="Helvetica Neue"/>
              </a:defRPr>
            </a:lvl3pPr>
            <a:lvl4pPr>
              <a:defRPr sz="1950" b="0">
                <a:solidFill>
                  <a:srgbClr val="F4F3EB"/>
                </a:solidFill>
                <a:latin typeface="Helvetica Neue"/>
                <a:ea typeface="Helvetica Neue"/>
                <a:cs typeface="Helvetica Neue"/>
              </a:defRPr>
            </a:lvl4pPr>
            <a:lvl5pPr>
              <a:defRPr sz="1950" b="0">
                <a:solidFill>
                  <a:srgbClr val="F4F3EB"/>
                </a:solidFill>
                <a:latin typeface="Helvetica Neue"/>
                <a:ea typeface="Helvetica Neue"/>
                <a:cs typeface="Helvetica Neue"/>
              </a:defRPr>
            </a:lvl5pPr>
            <a:lvl6pPr>
              <a:defRPr sz="1950" b="0">
                <a:solidFill>
                  <a:srgbClr val="F4F3EB"/>
                </a:solidFill>
                <a:latin typeface="Helvetica Neue"/>
                <a:ea typeface="Helvetica Neue"/>
                <a:cs typeface="Helvetica Neue"/>
              </a:defRPr>
            </a:lvl6pPr>
            <a:lvl7pPr>
              <a:defRPr sz="1950" b="0">
                <a:solidFill>
                  <a:srgbClr val="F4F3EB"/>
                </a:solidFill>
                <a:latin typeface="Helvetica Neue"/>
                <a:ea typeface="Helvetica Neue"/>
                <a:cs typeface="Helvetica Neue"/>
              </a:defRPr>
            </a:lvl7pPr>
            <a:lvl8pPr>
              <a:defRPr sz="1950" b="0">
                <a:solidFill>
                  <a:srgbClr val="F4F3EB"/>
                </a:solidFill>
                <a:latin typeface="Helvetica Neue"/>
                <a:ea typeface="Helvetica Neue"/>
                <a:cs typeface="Helvetica Neue"/>
              </a:defRPr>
            </a:lvl8pPr>
            <a:lvl9pPr>
              <a:defRPr sz="1950" b="0">
                <a:solidFill>
                  <a:srgbClr val="F4F3EB"/>
                </a:solidFill>
                <a:latin typeface="Helvetica Neue"/>
                <a:ea typeface="Helvetica Neue"/>
                <a:cs typeface="Helvetica Neue"/>
              </a:defRPr>
            </a:lvl9pPr>
          </a:lstStyle>
          <a:p xmlns:a="http://schemas.openxmlformats.org/drawingml/2006/main">
            <a:pPr>
              <a:defRPr sz="1950" b="0">
                <a:solidFill>
                  <a:srgbClr val="F4F3EB"/>
                </a:solidFill>
                <a:latin typeface="Helvetica Neue"/>
                <a:ea typeface="Helvetica Neue"/>
                <a:cs typeface="Helvetica Neue"/>
              </a:defRPr>
            </a:pPr>
            <a:r>
              <a:rPr sz="1950" b="0">
                <a:solidFill>
                  <a:srgbClr val="F4F3EB"/>
                </a:solidFill>
                <a:latin typeface="Helvetica Neue"/>
                <a:ea typeface="Helvetica Neue"/>
                <a:cs typeface="Helvetica Neue"/>
              </a:rPr>
              <a:t>Repeat trials, quantify variation and report energy per accepted task with service impact.</a:t>
            </a:r>
          </a:p>
        </p:txBody>
      </p:sp>
      <p:sp>
        <p:nvSpPr>
          <p:cNvPr id="11" name="">
            <a:extLst xmlns:a="http://schemas.openxmlformats.org/drawingml/2006/main">
              <a:ext uri="{FF2B5EF4-FFF2-40B4-BE49-F238E27FC236}">
                <a16:creationId xmlns:a16="http://schemas.microsoft.com/office/drawing/2014/main" id="{F712356A-1E21-49D7-A4AD-8471B1587788}"/>
              </a:ext>
            </a:extLst>
          </p:cNvPr>
          <p:cNvSpPr>
            <a:spLocks xmlns:a="http://schemas.openxmlformats.org/drawingml/2006/main" noGrp="1"/>
          </p:cNvSpPr>
          <p:nvPr/>
        </p:nvSpPr>
        <p:spPr>
          <a:xfrm xmlns:a="http://schemas.openxmlformats.org/drawingml/2006/main">
            <a:off x="609600" y="5162550"/>
            <a:ext cx="10715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F4F3EB"/>
                </a:solidFill>
                <a:latin typeface="Helvetica Neue"/>
                <a:ea typeface="Helvetica Neue"/>
                <a:cs typeface="Helvetica Neue"/>
              </a:defRPr>
            </a:defPPr>
            <a:lvl1pPr>
              <a:defRPr sz="2025" b="1">
                <a:solidFill>
                  <a:srgbClr val="F4F3EB"/>
                </a:solidFill>
                <a:latin typeface="Helvetica Neue"/>
                <a:ea typeface="Helvetica Neue"/>
                <a:cs typeface="Helvetica Neue"/>
              </a:defRPr>
            </a:lvl1pPr>
            <a:lvl2pPr>
              <a:defRPr sz="2025" b="1">
                <a:solidFill>
                  <a:srgbClr val="F4F3EB"/>
                </a:solidFill>
                <a:latin typeface="Helvetica Neue"/>
                <a:ea typeface="Helvetica Neue"/>
                <a:cs typeface="Helvetica Neue"/>
              </a:defRPr>
            </a:lvl2pPr>
            <a:lvl3pPr>
              <a:defRPr sz="2025" b="1">
                <a:solidFill>
                  <a:srgbClr val="F4F3EB"/>
                </a:solidFill>
                <a:latin typeface="Helvetica Neue"/>
                <a:ea typeface="Helvetica Neue"/>
                <a:cs typeface="Helvetica Neue"/>
              </a:defRPr>
            </a:lvl3pPr>
            <a:lvl4pPr>
              <a:defRPr sz="2025" b="1">
                <a:solidFill>
                  <a:srgbClr val="F4F3EB"/>
                </a:solidFill>
                <a:latin typeface="Helvetica Neue"/>
                <a:ea typeface="Helvetica Neue"/>
                <a:cs typeface="Helvetica Neue"/>
              </a:defRPr>
            </a:lvl4pPr>
            <a:lvl5pPr>
              <a:defRPr sz="2025" b="1">
                <a:solidFill>
                  <a:srgbClr val="F4F3EB"/>
                </a:solidFill>
                <a:latin typeface="Helvetica Neue"/>
                <a:ea typeface="Helvetica Neue"/>
                <a:cs typeface="Helvetica Neue"/>
              </a:defRPr>
            </a:lvl5pPr>
            <a:lvl6pPr>
              <a:defRPr sz="2025" b="1">
                <a:solidFill>
                  <a:srgbClr val="F4F3EB"/>
                </a:solidFill>
                <a:latin typeface="Helvetica Neue"/>
                <a:ea typeface="Helvetica Neue"/>
                <a:cs typeface="Helvetica Neue"/>
              </a:defRPr>
            </a:lvl6pPr>
            <a:lvl7pPr>
              <a:defRPr sz="2025" b="1">
                <a:solidFill>
                  <a:srgbClr val="F4F3EB"/>
                </a:solidFill>
                <a:latin typeface="Helvetica Neue"/>
                <a:ea typeface="Helvetica Neue"/>
                <a:cs typeface="Helvetica Neue"/>
              </a:defRPr>
            </a:lvl7pPr>
            <a:lvl8pPr>
              <a:defRPr sz="2025" b="1">
                <a:solidFill>
                  <a:srgbClr val="F4F3EB"/>
                </a:solidFill>
                <a:latin typeface="Helvetica Neue"/>
                <a:ea typeface="Helvetica Neue"/>
                <a:cs typeface="Helvetica Neue"/>
              </a:defRPr>
            </a:lvl8pPr>
            <a:lvl9pPr>
              <a:defRPr sz="2025" b="1">
                <a:solidFill>
                  <a:srgbClr val="F4F3EB"/>
                </a:solidFill>
                <a:latin typeface="Helvetica Neue"/>
                <a:ea typeface="Helvetica Neue"/>
                <a:cs typeface="Helvetica Neue"/>
              </a:defRPr>
            </a:lvl9pPr>
          </a:lstStyle>
          <a:p xmlns:a="http://schemas.openxmlformats.org/drawingml/2006/main">
            <a:pPr>
              <a:defRPr sz="2025" b="1">
                <a:solidFill>
                  <a:srgbClr val="F4F3EB"/>
                </a:solidFill>
                <a:latin typeface="Helvetica Neue"/>
                <a:ea typeface="Helvetica Neue"/>
                <a:cs typeface="Helvetica Neue"/>
              </a:defRPr>
            </a:pPr>
            <a:r>
              <a:rPr sz="2025" b="1">
                <a:solidFill>
                  <a:srgbClr val="F4F3EB"/>
                </a:solidFill>
                <a:latin typeface="Helvetica Neue"/>
                <a:ea typeface="Helvetica Neue"/>
                <a:cs typeface="Helvetica Neue"/>
              </a:rPr>
              <a:t>Decision test: Does the evidence change a choice beyond today’s tools and process?</a:t>
            </a:r>
          </a:p>
        </p:txBody>
      </p:sp>
    </p:spTree>
    <p:extLst>
      <p:ext uri="{BB962C8B-B14F-4D97-AF65-F5344CB8AC3E}">
        <p14:creationId xmlns:p14="http://schemas.microsoft.com/office/powerpoint/2010/main" val="60912435"/>
      </p:ext>
    </p:extLst>
  </p:cSld>
</p:sld>
</file>

<file path=ppt/slides/slide8.xml><?xml version="1.0" encoding="utf-8"?>
<p:sld xmlns:p="http://schemas.openxmlformats.org/presentationml/2006/main">
  <p:cSld>
    <p:bg>
      <p:bgPr>
        <a:solidFill xmlns:a="http://schemas.openxmlformats.org/drawingml/2006/main">
          <a:srgbClr val="11121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9C9274B-4A00-4D8C-A596-3B5F62D3C3DC}"/>
              </a:ext>
            </a:extLst>
          </p:cNvPr>
          <p:cNvSpPr>
            <a:spLocks xmlns:a="http://schemas.openxmlformats.org/drawingml/2006/main" noGrp="1"/>
          </p:cNvSpPr>
          <p:nvPr/>
        </p:nvSpPr>
        <p:spPr>
          <a:xfrm xmlns:a="http://schemas.openxmlformats.org/drawingml/2006/main">
            <a:off x="609600" y="3429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FFDB24"/>
                </a:solidFill>
                <a:latin typeface="Helvetica Neue"/>
                <a:ea typeface="Helvetica Neue"/>
                <a:cs typeface="Helvetica Neue"/>
              </a:defRPr>
            </a:defPPr>
            <a:lvl1pPr>
              <a:defRPr sz="1125" b="1">
                <a:solidFill>
                  <a:srgbClr val="FFDB24"/>
                </a:solidFill>
                <a:latin typeface="Helvetica Neue"/>
                <a:ea typeface="Helvetica Neue"/>
                <a:cs typeface="Helvetica Neue"/>
              </a:defRPr>
            </a:lvl1pPr>
            <a:lvl2pPr>
              <a:defRPr sz="1125" b="1">
                <a:solidFill>
                  <a:srgbClr val="FFDB24"/>
                </a:solidFill>
                <a:latin typeface="Helvetica Neue"/>
                <a:ea typeface="Helvetica Neue"/>
                <a:cs typeface="Helvetica Neue"/>
              </a:defRPr>
            </a:lvl2pPr>
            <a:lvl3pPr>
              <a:defRPr sz="1125" b="1">
                <a:solidFill>
                  <a:srgbClr val="FFDB24"/>
                </a:solidFill>
                <a:latin typeface="Helvetica Neue"/>
                <a:ea typeface="Helvetica Neue"/>
                <a:cs typeface="Helvetica Neue"/>
              </a:defRPr>
            </a:lvl3pPr>
            <a:lvl4pPr>
              <a:defRPr sz="1125" b="1">
                <a:solidFill>
                  <a:srgbClr val="FFDB24"/>
                </a:solidFill>
                <a:latin typeface="Helvetica Neue"/>
                <a:ea typeface="Helvetica Neue"/>
                <a:cs typeface="Helvetica Neue"/>
              </a:defRPr>
            </a:lvl4pPr>
            <a:lvl5pPr>
              <a:defRPr sz="1125" b="1">
                <a:solidFill>
                  <a:srgbClr val="FFDB24"/>
                </a:solidFill>
                <a:latin typeface="Helvetica Neue"/>
                <a:ea typeface="Helvetica Neue"/>
                <a:cs typeface="Helvetica Neue"/>
              </a:defRPr>
            </a:lvl5pPr>
            <a:lvl6pPr>
              <a:defRPr sz="1125" b="1">
                <a:solidFill>
                  <a:srgbClr val="FFDB24"/>
                </a:solidFill>
                <a:latin typeface="Helvetica Neue"/>
                <a:ea typeface="Helvetica Neue"/>
                <a:cs typeface="Helvetica Neue"/>
              </a:defRPr>
            </a:lvl6pPr>
            <a:lvl7pPr>
              <a:defRPr sz="1125" b="1">
                <a:solidFill>
                  <a:srgbClr val="FFDB24"/>
                </a:solidFill>
                <a:latin typeface="Helvetica Neue"/>
                <a:ea typeface="Helvetica Neue"/>
                <a:cs typeface="Helvetica Neue"/>
              </a:defRPr>
            </a:lvl7pPr>
            <a:lvl8pPr>
              <a:defRPr sz="1125" b="1">
                <a:solidFill>
                  <a:srgbClr val="FFDB24"/>
                </a:solidFill>
                <a:latin typeface="Helvetica Neue"/>
                <a:ea typeface="Helvetica Neue"/>
                <a:cs typeface="Helvetica Neue"/>
              </a:defRPr>
            </a:lvl8pPr>
            <a:lvl9pPr>
              <a:defRPr sz="1125" b="1">
                <a:solidFill>
                  <a:srgbClr val="FFDB24"/>
                </a:solidFill>
                <a:latin typeface="Helvetica Neue"/>
                <a:ea typeface="Helvetica Neue"/>
                <a:cs typeface="Helvetica Neue"/>
              </a:defRPr>
            </a:lvl9pPr>
          </a:lstStyle>
          <a:p xmlns:a="http://schemas.openxmlformats.org/drawingml/2006/main">
            <a:pPr>
              <a:defRPr sz="1125" b="1">
                <a:solidFill>
                  <a:srgbClr val="FFDB24"/>
                </a:solidFill>
                <a:latin typeface="Helvetica Neue"/>
                <a:ea typeface="Helvetica Neue"/>
                <a:cs typeface="Helvetica Neue"/>
              </a:defRPr>
            </a:pPr>
            <a:r>
              <a:rPr sz="1125" b="1">
                <a:solidFill>
                  <a:srgbClr val="FFDB24"/>
                </a:solidFill>
                <a:latin typeface="Helvetica Neue"/>
                <a:ea typeface="Helvetica Neue"/>
                <a:cs typeface="Helvetica Neue"/>
              </a:rPr>
              <a:t>DEPLOYMENT DESIGN / TO VALIDATE</a:t>
            </a:r>
          </a:p>
        </p:txBody>
      </p:sp>
      <p:sp>
        <p:nvSpPr>
          <p:cNvPr id="2" name="">
            <a:extLst xmlns:a="http://schemas.openxmlformats.org/drawingml/2006/main">
              <a:ext uri="{FF2B5EF4-FFF2-40B4-BE49-F238E27FC236}">
                <a16:creationId xmlns:a16="http://schemas.microsoft.com/office/drawing/2014/main" id="{5687CD0B-3A7A-4E96-ABC4-FCEE7F36F41A}"/>
              </a:ext>
            </a:extLst>
          </p:cNvPr>
          <p:cNvSpPr>
            <a:spLocks xmlns:a="http://schemas.openxmlformats.org/drawingml/2006/main" noGrp="1"/>
          </p:cNvSpPr>
          <p:nvPr/>
        </p:nvSpPr>
        <p:spPr>
          <a:xfrm xmlns:a="http://schemas.openxmlformats.org/drawingml/2006/main">
            <a:off x="609600" y="914400"/>
            <a:ext cx="109728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F4F3EB"/>
                </a:solidFill>
                <a:latin typeface="Helvetica Neue"/>
                <a:ea typeface="Helvetica Neue"/>
                <a:cs typeface="Helvetica Neue"/>
              </a:defRPr>
            </a:defPPr>
            <a:lvl1pPr>
              <a:defRPr sz="3900" b="0">
                <a:solidFill>
                  <a:srgbClr val="F4F3EB"/>
                </a:solidFill>
                <a:latin typeface="Helvetica Neue"/>
                <a:ea typeface="Helvetica Neue"/>
                <a:cs typeface="Helvetica Neue"/>
              </a:defRPr>
            </a:lvl1pPr>
            <a:lvl2pPr>
              <a:defRPr sz="3900" b="0">
                <a:solidFill>
                  <a:srgbClr val="F4F3EB"/>
                </a:solidFill>
                <a:latin typeface="Helvetica Neue"/>
                <a:ea typeface="Helvetica Neue"/>
                <a:cs typeface="Helvetica Neue"/>
              </a:defRPr>
            </a:lvl2pPr>
            <a:lvl3pPr>
              <a:defRPr sz="3900" b="0">
                <a:solidFill>
                  <a:srgbClr val="F4F3EB"/>
                </a:solidFill>
                <a:latin typeface="Helvetica Neue"/>
                <a:ea typeface="Helvetica Neue"/>
                <a:cs typeface="Helvetica Neue"/>
              </a:defRPr>
            </a:lvl3pPr>
            <a:lvl4pPr>
              <a:defRPr sz="3900" b="0">
                <a:solidFill>
                  <a:srgbClr val="F4F3EB"/>
                </a:solidFill>
                <a:latin typeface="Helvetica Neue"/>
                <a:ea typeface="Helvetica Neue"/>
                <a:cs typeface="Helvetica Neue"/>
              </a:defRPr>
            </a:lvl4pPr>
            <a:lvl5pPr>
              <a:defRPr sz="3900" b="0">
                <a:solidFill>
                  <a:srgbClr val="F4F3EB"/>
                </a:solidFill>
                <a:latin typeface="Helvetica Neue"/>
                <a:ea typeface="Helvetica Neue"/>
                <a:cs typeface="Helvetica Neue"/>
              </a:defRPr>
            </a:lvl5pPr>
            <a:lvl6pPr>
              <a:defRPr sz="3900" b="0">
                <a:solidFill>
                  <a:srgbClr val="F4F3EB"/>
                </a:solidFill>
                <a:latin typeface="Helvetica Neue"/>
                <a:ea typeface="Helvetica Neue"/>
                <a:cs typeface="Helvetica Neue"/>
              </a:defRPr>
            </a:lvl6pPr>
            <a:lvl7pPr>
              <a:defRPr sz="3900" b="0">
                <a:solidFill>
                  <a:srgbClr val="F4F3EB"/>
                </a:solidFill>
                <a:latin typeface="Helvetica Neue"/>
                <a:ea typeface="Helvetica Neue"/>
                <a:cs typeface="Helvetica Neue"/>
              </a:defRPr>
            </a:lvl7pPr>
            <a:lvl8pPr>
              <a:defRPr sz="3900" b="0">
                <a:solidFill>
                  <a:srgbClr val="F4F3EB"/>
                </a:solidFill>
                <a:latin typeface="Helvetica Neue"/>
                <a:ea typeface="Helvetica Neue"/>
                <a:cs typeface="Helvetica Neue"/>
              </a:defRPr>
            </a:lvl8pPr>
            <a:lvl9pPr>
              <a:defRPr sz="3900" b="0">
                <a:solidFill>
                  <a:srgbClr val="F4F3EB"/>
                </a:solidFill>
                <a:latin typeface="Helvetica Neue"/>
                <a:ea typeface="Helvetica Neue"/>
                <a:cs typeface="Helvetica Neue"/>
              </a:defRPr>
            </a:lvl9pPr>
          </a:lstStyle>
          <a:p xmlns:a="http://schemas.openxmlformats.org/drawingml/2006/main">
            <a:pPr>
              <a:defRPr sz="3900" b="0">
                <a:solidFill>
                  <a:srgbClr val="F4F3EB"/>
                </a:solidFill>
                <a:latin typeface="Helvetica Neue"/>
                <a:ea typeface="Helvetica Neue"/>
                <a:cs typeface="Helvetica Neue"/>
              </a:defRPr>
            </a:pPr>
            <a:r>
              <a:rPr sz="3900" b="0">
                <a:solidFill>
                  <a:srgbClr val="F4F3EB"/>
                </a:solidFill>
                <a:latin typeface="Helvetica Neue"/>
                <a:ea typeface="Helvetica Neue"/>
                <a:cs typeface="Helvetica Neue"/>
              </a:rPr>
              <a:t>Local deployment needs explicit boundaries</a:t>
            </a:r>
          </a:p>
        </p:txBody>
      </p:sp>
      <p:sp>
        <p:nvSpPr>
          <p:cNvPr id="3" name="">
            <a:extLst xmlns:a="http://schemas.openxmlformats.org/drawingml/2006/main">
              <a:ext uri="{FF2B5EF4-FFF2-40B4-BE49-F238E27FC236}">
                <a16:creationId xmlns:a16="http://schemas.microsoft.com/office/drawing/2014/main" id="{2E3B8482-33F6-4D4F-8C14-E05FCCAE5BBB}"/>
              </a:ext>
            </a:extLst>
          </p:cNvPr>
          <p:cNvSpPr>
            <a:spLocks xmlns:a="http://schemas.openxmlformats.org/drawingml/2006/main" noGrp="1"/>
          </p:cNvSpPr>
          <p:nvPr/>
        </p:nvSpPr>
        <p:spPr>
          <a:xfrm xmlns:a="http://schemas.openxmlformats.org/drawingml/2006/main">
            <a:off x="609600" y="644842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BABDB0"/>
                </a:solidFill>
                <a:latin typeface="Helvetica Neue"/>
                <a:ea typeface="Helvetica Neue"/>
                <a:cs typeface="Helvetica Neue"/>
              </a:defRPr>
            </a:defPPr>
            <a:lvl1pPr>
              <a:defRPr sz="900" b="0">
                <a:solidFill>
                  <a:srgbClr val="BABDB0"/>
                </a:solidFill>
                <a:latin typeface="Helvetica Neue"/>
                <a:ea typeface="Helvetica Neue"/>
                <a:cs typeface="Helvetica Neue"/>
              </a:defRPr>
            </a:lvl1pPr>
            <a:lvl2pPr>
              <a:defRPr sz="900" b="0">
                <a:solidFill>
                  <a:srgbClr val="BABDB0"/>
                </a:solidFill>
                <a:latin typeface="Helvetica Neue"/>
                <a:ea typeface="Helvetica Neue"/>
                <a:cs typeface="Helvetica Neue"/>
              </a:defRPr>
            </a:lvl2pPr>
            <a:lvl3pPr>
              <a:defRPr sz="900" b="0">
                <a:solidFill>
                  <a:srgbClr val="BABDB0"/>
                </a:solidFill>
                <a:latin typeface="Helvetica Neue"/>
                <a:ea typeface="Helvetica Neue"/>
                <a:cs typeface="Helvetica Neue"/>
              </a:defRPr>
            </a:lvl3pPr>
            <a:lvl4pPr>
              <a:defRPr sz="900" b="0">
                <a:solidFill>
                  <a:srgbClr val="BABDB0"/>
                </a:solidFill>
                <a:latin typeface="Helvetica Neue"/>
                <a:ea typeface="Helvetica Neue"/>
                <a:cs typeface="Helvetica Neue"/>
              </a:defRPr>
            </a:lvl4pPr>
            <a:lvl5pPr>
              <a:defRPr sz="900" b="0">
                <a:solidFill>
                  <a:srgbClr val="BABDB0"/>
                </a:solidFill>
                <a:latin typeface="Helvetica Neue"/>
                <a:ea typeface="Helvetica Neue"/>
                <a:cs typeface="Helvetica Neue"/>
              </a:defRPr>
            </a:lvl5pPr>
            <a:lvl6pPr>
              <a:defRPr sz="900" b="0">
                <a:solidFill>
                  <a:srgbClr val="BABDB0"/>
                </a:solidFill>
                <a:latin typeface="Helvetica Neue"/>
                <a:ea typeface="Helvetica Neue"/>
                <a:cs typeface="Helvetica Neue"/>
              </a:defRPr>
            </a:lvl6pPr>
            <a:lvl7pPr>
              <a:defRPr sz="900" b="0">
                <a:solidFill>
                  <a:srgbClr val="BABDB0"/>
                </a:solidFill>
                <a:latin typeface="Helvetica Neue"/>
                <a:ea typeface="Helvetica Neue"/>
                <a:cs typeface="Helvetica Neue"/>
              </a:defRPr>
            </a:lvl7pPr>
            <a:lvl8pPr>
              <a:defRPr sz="900" b="0">
                <a:solidFill>
                  <a:srgbClr val="BABDB0"/>
                </a:solidFill>
                <a:latin typeface="Helvetica Neue"/>
                <a:ea typeface="Helvetica Neue"/>
                <a:cs typeface="Helvetica Neue"/>
              </a:defRPr>
            </a:lvl8pPr>
            <a:lvl9pPr>
              <a:defRPr sz="900" b="0">
                <a:solidFill>
                  <a:srgbClr val="BABDB0"/>
                </a:solidFill>
                <a:latin typeface="Helvetica Neue"/>
                <a:ea typeface="Helvetica Neue"/>
                <a:cs typeface="Helvetica Neue"/>
              </a:defRPr>
            </a:lvl9pPr>
          </a:lstStyle>
          <a:p xmlns:a="http://schemas.openxmlformats.org/drawingml/2006/main">
            <a:pPr>
              <a:defRPr sz="900" b="0">
                <a:solidFill>
                  <a:srgbClr val="BABDB0"/>
                </a:solidFill>
                <a:latin typeface="Helvetica Neue"/>
                <a:ea typeface="Helvetica Neue"/>
                <a:cs typeface="Helvetica Neue"/>
              </a:defRPr>
            </a:pPr>
            <a:r>
              <a:rPr sz="900" b="0">
                <a:solidFill>
                  <a:srgbClr val="BABDB0"/>
                </a:solidFill>
                <a:latin typeface="Helvetica Neue"/>
                <a:ea typeface="Helvetica Neue"/>
                <a:cs typeface="Helvetica Neue"/>
              </a:rPr>
              <a:t>E FOR ENERGY</a:t>
            </a:r>
          </a:p>
        </p:txBody>
      </p:sp>
      <p:sp>
        <p:nvSpPr>
          <p:cNvPr id="4" name="">
            <a:extLst xmlns:a="http://schemas.openxmlformats.org/drawingml/2006/main">
              <a:ext uri="{FF2B5EF4-FFF2-40B4-BE49-F238E27FC236}">
                <a16:creationId xmlns:a16="http://schemas.microsoft.com/office/drawing/2014/main" id="{53E08E69-6F69-407B-8D75-7A1B0EEC99FC}"/>
              </a:ext>
            </a:extLst>
          </p:cNvPr>
          <p:cNvSpPr>
            <a:spLocks xmlns:a="http://schemas.openxmlformats.org/drawingml/2006/main" noGrp="1"/>
          </p:cNvSpPr>
          <p:nvPr/>
        </p:nvSpPr>
        <p:spPr>
          <a:xfrm xmlns:a="http://schemas.openxmlformats.org/drawingml/2006/main">
            <a:off x="11049000" y="64198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BABDB0"/>
                </a:solidFill>
                <a:latin typeface="Helvetica Neue"/>
                <a:ea typeface="Helvetica Neue"/>
                <a:cs typeface="Helvetica Neue"/>
              </a:defRPr>
            </a:defPPr>
            <a:lvl1pPr>
              <a:defRPr sz="1200" b="0">
                <a:solidFill>
                  <a:srgbClr val="BABDB0"/>
                </a:solidFill>
                <a:latin typeface="Helvetica Neue"/>
                <a:ea typeface="Helvetica Neue"/>
                <a:cs typeface="Helvetica Neue"/>
              </a:defRPr>
            </a:lvl1pPr>
            <a:lvl2pPr>
              <a:defRPr sz="1200" b="0">
                <a:solidFill>
                  <a:srgbClr val="BABDB0"/>
                </a:solidFill>
                <a:latin typeface="Helvetica Neue"/>
                <a:ea typeface="Helvetica Neue"/>
                <a:cs typeface="Helvetica Neue"/>
              </a:defRPr>
            </a:lvl2pPr>
            <a:lvl3pPr>
              <a:defRPr sz="1200" b="0">
                <a:solidFill>
                  <a:srgbClr val="BABDB0"/>
                </a:solidFill>
                <a:latin typeface="Helvetica Neue"/>
                <a:ea typeface="Helvetica Neue"/>
                <a:cs typeface="Helvetica Neue"/>
              </a:defRPr>
            </a:lvl3pPr>
            <a:lvl4pPr>
              <a:defRPr sz="1200" b="0">
                <a:solidFill>
                  <a:srgbClr val="BABDB0"/>
                </a:solidFill>
                <a:latin typeface="Helvetica Neue"/>
                <a:ea typeface="Helvetica Neue"/>
                <a:cs typeface="Helvetica Neue"/>
              </a:defRPr>
            </a:lvl4pPr>
            <a:lvl5pPr>
              <a:defRPr sz="1200" b="0">
                <a:solidFill>
                  <a:srgbClr val="BABDB0"/>
                </a:solidFill>
                <a:latin typeface="Helvetica Neue"/>
                <a:ea typeface="Helvetica Neue"/>
                <a:cs typeface="Helvetica Neue"/>
              </a:defRPr>
            </a:lvl5pPr>
            <a:lvl6pPr>
              <a:defRPr sz="1200" b="0">
                <a:solidFill>
                  <a:srgbClr val="BABDB0"/>
                </a:solidFill>
                <a:latin typeface="Helvetica Neue"/>
                <a:ea typeface="Helvetica Neue"/>
                <a:cs typeface="Helvetica Neue"/>
              </a:defRPr>
            </a:lvl6pPr>
            <a:lvl7pPr>
              <a:defRPr sz="1200" b="0">
                <a:solidFill>
                  <a:srgbClr val="BABDB0"/>
                </a:solidFill>
                <a:latin typeface="Helvetica Neue"/>
                <a:ea typeface="Helvetica Neue"/>
                <a:cs typeface="Helvetica Neue"/>
              </a:defRPr>
            </a:lvl7pPr>
            <a:lvl8pPr>
              <a:defRPr sz="1200" b="0">
                <a:solidFill>
                  <a:srgbClr val="BABDB0"/>
                </a:solidFill>
                <a:latin typeface="Helvetica Neue"/>
                <a:ea typeface="Helvetica Neue"/>
                <a:cs typeface="Helvetica Neue"/>
              </a:defRPr>
            </a:lvl8pPr>
            <a:lvl9pPr>
              <a:defRPr sz="1200" b="0">
                <a:solidFill>
                  <a:srgbClr val="BABDB0"/>
                </a:solidFill>
                <a:latin typeface="Helvetica Neue"/>
                <a:ea typeface="Helvetica Neue"/>
                <a:cs typeface="Helvetica Neue"/>
              </a:defRPr>
            </a:lvl9pPr>
          </a:lstStyle>
          <a:p xmlns:a="http://schemas.openxmlformats.org/drawingml/2006/main">
            <a:pPr>
              <a:defRPr sz="1200" b="0">
                <a:solidFill>
                  <a:srgbClr val="BABDB0"/>
                </a:solidFill>
                <a:latin typeface="Helvetica Neue"/>
                <a:ea typeface="Helvetica Neue"/>
                <a:cs typeface="Helvetica Neue"/>
              </a:defRPr>
            </a:pPr>
            <a:r>
              <a:rPr sz="1200" b="0">
                <a:solidFill>
                  <a:srgbClr val="BABDB0"/>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7820EA4F-400E-414F-A230-BC8D6404AD0A}"/>
              </a:ext>
            </a:extLst>
          </p:cNvPr>
          <p:cNvSpPr>
            <a:spLocks xmlns:a="http://schemas.openxmlformats.org/drawingml/2006/main" noGrp="1"/>
          </p:cNvSpPr>
          <p:nvPr/>
        </p:nvSpPr>
        <p:spPr>
          <a:xfrm xmlns:a="http://schemas.openxmlformats.org/drawingml/2006/main">
            <a:off x="609600" y="2486025"/>
            <a:ext cx="5000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FFDB24"/>
                </a:solidFill>
                <a:latin typeface="Helvetica Neue"/>
                <a:ea typeface="Helvetica Neue"/>
                <a:cs typeface="Helvetica Neue"/>
              </a:defRPr>
            </a:defPPr>
            <a:lvl1pPr>
              <a:defRPr sz="2550" b="1">
                <a:solidFill>
                  <a:srgbClr val="FFDB24"/>
                </a:solidFill>
                <a:latin typeface="Helvetica Neue"/>
                <a:ea typeface="Helvetica Neue"/>
                <a:cs typeface="Helvetica Neue"/>
              </a:defRPr>
            </a:lvl1pPr>
            <a:lvl2pPr>
              <a:defRPr sz="2550" b="1">
                <a:solidFill>
                  <a:srgbClr val="FFDB24"/>
                </a:solidFill>
                <a:latin typeface="Helvetica Neue"/>
                <a:ea typeface="Helvetica Neue"/>
                <a:cs typeface="Helvetica Neue"/>
              </a:defRPr>
            </a:lvl2pPr>
            <a:lvl3pPr>
              <a:defRPr sz="2550" b="1">
                <a:solidFill>
                  <a:srgbClr val="FFDB24"/>
                </a:solidFill>
                <a:latin typeface="Helvetica Neue"/>
                <a:ea typeface="Helvetica Neue"/>
                <a:cs typeface="Helvetica Neue"/>
              </a:defRPr>
            </a:lvl3pPr>
            <a:lvl4pPr>
              <a:defRPr sz="2550" b="1">
                <a:solidFill>
                  <a:srgbClr val="FFDB24"/>
                </a:solidFill>
                <a:latin typeface="Helvetica Neue"/>
                <a:ea typeface="Helvetica Neue"/>
                <a:cs typeface="Helvetica Neue"/>
              </a:defRPr>
            </a:lvl4pPr>
            <a:lvl5pPr>
              <a:defRPr sz="2550" b="1">
                <a:solidFill>
                  <a:srgbClr val="FFDB24"/>
                </a:solidFill>
                <a:latin typeface="Helvetica Neue"/>
                <a:ea typeface="Helvetica Neue"/>
                <a:cs typeface="Helvetica Neue"/>
              </a:defRPr>
            </a:lvl5pPr>
            <a:lvl6pPr>
              <a:defRPr sz="2550" b="1">
                <a:solidFill>
                  <a:srgbClr val="FFDB24"/>
                </a:solidFill>
                <a:latin typeface="Helvetica Neue"/>
                <a:ea typeface="Helvetica Neue"/>
                <a:cs typeface="Helvetica Neue"/>
              </a:defRPr>
            </a:lvl6pPr>
            <a:lvl7pPr>
              <a:defRPr sz="2550" b="1">
                <a:solidFill>
                  <a:srgbClr val="FFDB24"/>
                </a:solidFill>
                <a:latin typeface="Helvetica Neue"/>
                <a:ea typeface="Helvetica Neue"/>
                <a:cs typeface="Helvetica Neue"/>
              </a:defRPr>
            </a:lvl7pPr>
            <a:lvl8pPr>
              <a:defRPr sz="2550" b="1">
                <a:solidFill>
                  <a:srgbClr val="FFDB24"/>
                </a:solidFill>
                <a:latin typeface="Helvetica Neue"/>
                <a:ea typeface="Helvetica Neue"/>
                <a:cs typeface="Helvetica Neue"/>
              </a:defRPr>
            </a:lvl8pPr>
            <a:lvl9pPr>
              <a:defRPr sz="2550" b="1">
                <a:solidFill>
                  <a:srgbClr val="FFDB24"/>
                </a:solidFill>
                <a:latin typeface="Helvetica Neue"/>
                <a:ea typeface="Helvetica Neue"/>
                <a:cs typeface="Helvetica Neue"/>
              </a:defRPr>
            </a:lvl9pPr>
          </a:lstStyle>
          <a:p xmlns:a="http://schemas.openxmlformats.org/drawingml/2006/main">
            <a:pPr>
              <a:defRPr sz="2550" b="1">
                <a:solidFill>
                  <a:srgbClr val="FFDB24"/>
                </a:solidFill>
                <a:latin typeface="Helvetica Neue"/>
                <a:ea typeface="Helvetica Neue"/>
                <a:cs typeface="Helvetica Neue"/>
              </a:defRPr>
            </a:pPr>
            <a:r>
              <a:rPr sz="2550" b="1">
                <a:solidFill>
                  <a:srgbClr val="FFDB24"/>
                </a:solidFill>
                <a:latin typeface="Helvetica Neue"/>
                <a:ea typeface="Helvetica Neue"/>
                <a:cs typeface="Helvetica Neue"/>
              </a:rPr>
              <a:t>Observe first</a:t>
            </a:r>
          </a:p>
        </p:txBody>
      </p:sp>
      <p:sp>
        <p:nvSpPr>
          <p:cNvPr id="6" name="">
            <a:extLst xmlns:a="http://schemas.openxmlformats.org/drawingml/2006/main">
              <a:ext uri="{FF2B5EF4-FFF2-40B4-BE49-F238E27FC236}">
                <a16:creationId xmlns:a16="http://schemas.microsoft.com/office/drawing/2014/main" id="{DBBB9714-90AC-4C62-B4A1-ED0882A64BD5}"/>
              </a:ext>
            </a:extLst>
          </p:cNvPr>
          <p:cNvSpPr>
            <a:spLocks xmlns:a="http://schemas.openxmlformats.org/drawingml/2006/main" noGrp="1"/>
          </p:cNvSpPr>
          <p:nvPr/>
        </p:nvSpPr>
        <p:spPr>
          <a:xfrm xmlns:a="http://schemas.openxmlformats.org/drawingml/2006/main">
            <a:off x="609600" y="3238500"/>
            <a:ext cx="4953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4F3EB"/>
                </a:solidFill>
                <a:latin typeface="Helvetica Neue"/>
                <a:ea typeface="Helvetica Neue"/>
                <a:cs typeface="Helvetica Neue"/>
              </a:defRPr>
            </a:defPPr>
            <a:lvl1pPr>
              <a:defRPr sz="2100" b="0">
                <a:solidFill>
                  <a:srgbClr val="F4F3EB"/>
                </a:solidFill>
                <a:latin typeface="Helvetica Neue"/>
                <a:ea typeface="Helvetica Neue"/>
                <a:cs typeface="Helvetica Neue"/>
              </a:defRPr>
            </a:lvl1pPr>
            <a:lvl2pPr>
              <a:defRPr sz="2100" b="0">
                <a:solidFill>
                  <a:srgbClr val="F4F3EB"/>
                </a:solidFill>
                <a:latin typeface="Helvetica Neue"/>
                <a:ea typeface="Helvetica Neue"/>
                <a:cs typeface="Helvetica Neue"/>
              </a:defRPr>
            </a:lvl2pPr>
            <a:lvl3pPr>
              <a:defRPr sz="2100" b="0">
                <a:solidFill>
                  <a:srgbClr val="F4F3EB"/>
                </a:solidFill>
                <a:latin typeface="Helvetica Neue"/>
                <a:ea typeface="Helvetica Neue"/>
                <a:cs typeface="Helvetica Neue"/>
              </a:defRPr>
            </a:lvl3pPr>
            <a:lvl4pPr>
              <a:defRPr sz="2100" b="0">
                <a:solidFill>
                  <a:srgbClr val="F4F3EB"/>
                </a:solidFill>
                <a:latin typeface="Helvetica Neue"/>
                <a:ea typeface="Helvetica Neue"/>
                <a:cs typeface="Helvetica Neue"/>
              </a:defRPr>
            </a:lvl4pPr>
            <a:lvl5pPr>
              <a:defRPr sz="2100" b="0">
                <a:solidFill>
                  <a:srgbClr val="F4F3EB"/>
                </a:solidFill>
                <a:latin typeface="Helvetica Neue"/>
                <a:ea typeface="Helvetica Neue"/>
                <a:cs typeface="Helvetica Neue"/>
              </a:defRPr>
            </a:lvl5pPr>
            <a:lvl6pPr>
              <a:defRPr sz="2100" b="0">
                <a:solidFill>
                  <a:srgbClr val="F4F3EB"/>
                </a:solidFill>
                <a:latin typeface="Helvetica Neue"/>
                <a:ea typeface="Helvetica Neue"/>
                <a:cs typeface="Helvetica Neue"/>
              </a:defRPr>
            </a:lvl6pPr>
            <a:lvl7pPr>
              <a:defRPr sz="2100" b="0">
                <a:solidFill>
                  <a:srgbClr val="F4F3EB"/>
                </a:solidFill>
                <a:latin typeface="Helvetica Neue"/>
                <a:ea typeface="Helvetica Neue"/>
                <a:cs typeface="Helvetica Neue"/>
              </a:defRPr>
            </a:lvl7pPr>
            <a:lvl8pPr>
              <a:defRPr sz="2100" b="0">
                <a:solidFill>
                  <a:srgbClr val="F4F3EB"/>
                </a:solidFill>
                <a:latin typeface="Helvetica Neue"/>
                <a:ea typeface="Helvetica Neue"/>
                <a:cs typeface="Helvetica Neue"/>
              </a:defRPr>
            </a:lvl8pPr>
            <a:lvl9pPr>
              <a:defRPr sz="2100" b="0">
                <a:solidFill>
                  <a:srgbClr val="F4F3EB"/>
                </a:solidFill>
                <a:latin typeface="Helvetica Neue"/>
                <a:ea typeface="Helvetica Neue"/>
                <a:cs typeface="Helvetica Neue"/>
              </a:defRPr>
            </a:lvl9pPr>
          </a:lstStyle>
          <a:p xmlns:a="http://schemas.openxmlformats.org/drawingml/2006/main">
            <a:pPr>
              <a:defRPr sz="2100" b="0">
                <a:solidFill>
                  <a:srgbClr val="F4F3EB"/>
                </a:solidFill>
                <a:latin typeface="Helvetica Neue"/>
                <a:ea typeface="Helvetica Neue"/>
                <a:cs typeface="Helvetica Neue"/>
              </a:defRPr>
            </a:pPr>
            <a:r>
              <a:rPr sz="2100" b="0">
                <a:solidFill>
                  <a:srgbClr val="F4F3EB"/>
                </a:solidFill>
                <a:latin typeface="Helvetica Neue"/>
                <a:ea typeface="Helvetica Neue"/>
                <a:cs typeface="Helvetica Neue"/>
              </a:rPr>
              <a:t>Use approved energy readings, GPU metrics and request metadata. Keep the collector and report store inside the customer perimeter.</a:t>
            </a:r>
          </a:p>
        </p:txBody>
      </p:sp>
      <p:sp>
        <p:nvSpPr>
          <p:cNvPr id="7" name="">
            <a:extLst xmlns:a="http://schemas.openxmlformats.org/drawingml/2006/main">
              <a:ext uri="{FF2B5EF4-FFF2-40B4-BE49-F238E27FC236}">
                <a16:creationId xmlns:a16="http://schemas.microsoft.com/office/drawing/2014/main" id="{4C78C711-D4BF-47BE-83BE-6D9C83DDADAB}"/>
              </a:ext>
            </a:extLst>
          </p:cNvPr>
          <p:cNvSpPr>
            <a:spLocks xmlns:a="http://schemas.openxmlformats.org/drawingml/2006/main" noGrp="1"/>
          </p:cNvSpPr>
          <p:nvPr/>
        </p:nvSpPr>
        <p:spPr>
          <a:xfrm xmlns:a="http://schemas.openxmlformats.org/drawingml/2006/main">
            <a:off x="609600" y="495300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BABDB0"/>
                </a:solidFill>
                <a:latin typeface="Helvetica Neue"/>
                <a:ea typeface="Helvetica Neue"/>
                <a:cs typeface="Helvetica Neue"/>
              </a:defRPr>
            </a:defPPr>
            <a:lvl1pPr>
              <a:defRPr sz="1725" b="0">
                <a:solidFill>
                  <a:srgbClr val="BABDB0"/>
                </a:solidFill>
                <a:latin typeface="Helvetica Neue"/>
                <a:ea typeface="Helvetica Neue"/>
                <a:cs typeface="Helvetica Neue"/>
              </a:defRPr>
            </a:lvl1pPr>
            <a:lvl2pPr>
              <a:defRPr sz="1725" b="0">
                <a:solidFill>
                  <a:srgbClr val="BABDB0"/>
                </a:solidFill>
                <a:latin typeface="Helvetica Neue"/>
                <a:ea typeface="Helvetica Neue"/>
                <a:cs typeface="Helvetica Neue"/>
              </a:defRPr>
            </a:lvl2pPr>
            <a:lvl3pPr>
              <a:defRPr sz="1725" b="0">
                <a:solidFill>
                  <a:srgbClr val="BABDB0"/>
                </a:solidFill>
                <a:latin typeface="Helvetica Neue"/>
                <a:ea typeface="Helvetica Neue"/>
                <a:cs typeface="Helvetica Neue"/>
              </a:defRPr>
            </a:lvl3pPr>
            <a:lvl4pPr>
              <a:defRPr sz="1725" b="0">
                <a:solidFill>
                  <a:srgbClr val="BABDB0"/>
                </a:solidFill>
                <a:latin typeface="Helvetica Neue"/>
                <a:ea typeface="Helvetica Neue"/>
                <a:cs typeface="Helvetica Neue"/>
              </a:defRPr>
            </a:lvl4pPr>
            <a:lvl5pPr>
              <a:defRPr sz="1725" b="0">
                <a:solidFill>
                  <a:srgbClr val="BABDB0"/>
                </a:solidFill>
                <a:latin typeface="Helvetica Neue"/>
                <a:ea typeface="Helvetica Neue"/>
                <a:cs typeface="Helvetica Neue"/>
              </a:defRPr>
            </a:lvl5pPr>
            <a:lvl6pPr>
              <a:defRPr sz="1725" b="0">
                <a:solidFill>
                  <a:srgbClr val="BABDB0"/>
                </a:solidFill>
                <a:latin typeface="Helvetica Neue"/>
                <a:ea typeface="Helvetica Neue"/>
                <a:cs typeface="Helvetica Neue"/>
              </a:defRPr>
            </a:lvl6pPr>
            <a:lvl7pPr>
              <a:defRPr sz="1725" b="0">
                <a:solidFill>
                  <a:srgbClr val="BABDB0"/>
                </a:solidFill>
                <a:latin typeface="Helvetica Neue"/>
                <a:ea typeface="Helvetica Neue"/>
                <a:cs typeface="Helvetica Neue"/>
              </a:defRPr>
            </a:lvl7pPr>
            <a:lvl8pPr>
              <a:defRPr sz="1725" b="0">
                <a:solidFill>
                  <a:srgbClr val="BABDB0"/>
                </a:solidFill>
                <a:latin typeface="Helvetica Neue"/>
                <a:ea typeface="Helvetica Neue"/>
                <a:cs typeface="Helvetica Neue"/>
              </a:defRPr>
            </a:lvl8pPr>
            <a:lvl9pPr>
              <a:defRPr sz="1725" b="0">
                <a:solidFill>
                  <a:srgbClr val="BABDB0"/>
                </a:solidFill>
                <a:latin typeface="Helvetica Neue"/>
                <a:ea typeface="Helvetica Neue"/>
                <a:cs typeface="Helvetica Neue"/>
              </a:defRPr>
            </a:lvl9pPr>
          </a:lstStyle>
          <a:p xmlns:a="http://schemas.openxmlformats.org/drawingml/2006/main">
            <a:pPr>
              <a:defRPr sz="1725" b="0">
                <a:solidFill>
                  <a:srgbClr val="BABDB0"/>
                </a:solidFill>
                <a:latin typeface="Helvetica Neue"/>
                <a:ea typeface="Helvetica Neue"/>
                <a:cs typeface="Helvetica Neue"/>
              </a:defRPr>
            </a:pPr>
            <a:r>
              <a:rPr sz="1725" b="0">
                <a:solidFill>
                  <a:srgbClr val="BABDB0"/>
                </a:solidFill>
                <a:latin typeface="Helvetica Neue"/>
                <a:ea typeface="Helvetica Neue"/>
                <a:cs typeface="Helvetica Neue"/>
              </a:rPr>
              <a:t>Proposed default: counts, timing and task IDs.</a:t>
            </a:r>
          </a:p>
          <a:p xmlns:a="http://schemas.openxmlformats.org/drawingml/2006/main">
            <a:pPr>
              <a:defRPr sz="1725" b="0">
                <a:solidFill>
                  <a:srgbClr val="BABDB0"/>
                </a:solidFill>
                <a:latin typeface="Helvetica Neue"/>
                <a:ea typeface="Helvetica Neue"/>
                <a:cs typeface="Helvetica Neue"/>
              </a:defRPr>
            </a:pPr>
            <a:r>
              <a:rPr sz="1725" b="0">
                <a:solidFill>
                  <a:srgbClr val="BABDB0"/>
                </a:solidFill>
                <a:latin typeface="Helvetica Neue"/>
                <a:ea typeface="Helvetica Neue"/>
                <a:cs typeface="Helvetica Neue"/>
              </a:rPr>
              <a:t>Exclude prompt and response text.</a:t>
            </a:r>
          </a:p>
        </p:txBody>
      </p:sp>
      <p:sp>
        <p:nvSpPr>
          <p:cNvPr id="8" name="">
            <a:extLst xmlns:a="http://schemas.openxmlformats.org/drawingml/2006/main">
              <a:ext uri="{FF2B5EF4-FFF2-40B4-BE49-F238E27FC236}">
                <a16:creationId xmlns:a16="http://schemas.microsoft.com/office/drawing/2014/main" id="{098D31D6-88DA-43E5-B2FE-522174FA4151}"/>
              </a:ext>
            </a:extLst>
          </p:cNvPr>
          <p:cNvSpPr>
            <a:spLocks xmlns:a="http://schemas.openxmlformats.org/drawingml/2006/main" noGrp="1"/>
          </p:cNvSpPr>
          <p:nvPr/>
        </p:nvSpPr>
        <p:spPr>
          <a:xfrm xmlns:a="http://schemas.openxmlformats.org/drawingml/2006/main">
            <a:off x="6419850" y="2486025"/>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EE6758"/>
                </a:solidFill>
                <a:latin typeface="Helvetica Neue"/>
                <a:ea typeface="Helvetica Neue"/>
                <a:cs typeface="Helvetica Neue"/>
              </a:defRPr>
            </a:defPPr>
            <a:lvl1pPr>
              <a:defRPr sz="2550" b="1">
                <a:solidFill>
                  <a:srgbClr val="EE6758"/>
                </a:solidFill>
                <a:latin typeface="Helvetica Neue"/>
                <a:ea typeface="Helvetica Neue"/>
                <a:cs typeface="Helvetica Neue"/>
              </a:defRPr>
            </a:lvl1pPr>
            <a:lvl2pPr>
              <a:defRPr sz="2550" b="1">
                <a:solidFill>
                  <a:srgbClr val="EE6758"/>
                </a:solidFill>
                <a:latin typeface="Helvetica Neue"/>
                <a:ea typeface="Helvetica Neue"/>
                <a:cs typeface="Helvetica Neue"/>
              </a:defRPr>
            </a:lvl2pPr>
            <a:lvl3pPr>
              <a:defRPr sz="2550" b="1">
                <a:solidFill>
                  <a:srgbClr val="EE6758"/>
                </a:solidFill>
                <a:latin typeface="Helvetica Neue"/>
                <a:ea typeface="Helvetica Neue"/>
                <a:cs typeface="Helvetica Neue"/>
              </a:defRPr>
            </a:lvl3pPr>
            <a:lvl4pPr>
              <a:defRPr sz="2550" b="1">
                <a:solidFill>
                  <a:srgbClr val="EE6758"/>
                </a:solidFill>
                <a:latin typeface="Helvetica Neue"/>
                <a:ea typeface="Helvetica Neue"/>
                <a:cs typeface="Helvetica Neue"/>
              </a:defRPr>
            </a:lvl4pPr>
            <a:lvl5pPr>
              <a:defRPr sz="2550" b="1">
                <a:solidFill>
                  <a:srgbClr val="EE6758"/>
                </a:solidFill>
                <a:latin typeface="Helvetica Neue"/>
                <a:ea typeface="Helvetica Neue"/>
                <a:cs typeface="Helvetica Neue"/>
              </a:defRPr>
            </a:lvl5pPr>
            <a:lvl6pPr>
              <a:defRPr sz="2550" b="1">
                <a:solidFill>
                  <a:srgbClr val="EE6758"/>
                </a:solidFill>
                <a:latin typeface="Helvetica Neue"/>
                <a:ea typeface="Helvetica Neue"/>
                <a:cs typeface="Helvetica Neue"/>
              </a:defRPr>
            </a:lvl6pPr>
            <a:lvl7pPr>
              <a:defRPr sz="2550" b="1">
                <a:solidFill>
                  <a:srgbClr val="EE6758"/>
                </a:solidFill>
                <a:latin typeface="Helvetica Neue"/>
                <a:ea typeface="Helvetica Neue"/>
                <a:cs typeface="Helvetica Neue"/>
              </a:defRPr>
            </a:lvl7pPr>
            <a:lvl8pPr>
              <a:defRPr sz="2550" b="1">
                <a:solidFill>
                  <a:srgbClr val="EE6758"/>
                </a:solidFill>
                <a:latin typeface="Helvetica Neue"/>
                <a:ea typeface="Helvetica Neue"/>
                <a:cs typeface="Helvetica Neue"/>
              </a:defRPr>
            </a:lvl8pPr>
            <a:lvl9pPr>
              <a:defRPr sz="2550" b="1">
                <a:solidFill>
                  <a:srgbClr val="EE6758"/>
                </a:solidFill>
                <a:latin typeface="Helvetica Neue"/>
                <a:ea typeface="Helvetica Neue"/>
                <a:cs typeface="Helvetica Neue"/>
              </a:defRPr>
            </a:lvl9pPr>
          </a:lstStyle>
          <a:p xmlns:a="http://schemas.openxmlformats.org/drawingml/2006/main">
            <a:pPr>
              <a:defRPr sz="2550" b="1">
                <a:solidFill>
                  <a:srgbClr val="EE6758"/>
                </a:solidFill>
                <a:latin typeface="Helvetica Neue"/>
                <a:ea typeface="Helvetica Neue"/>
                <a:cs typeface="Helvetica Neue"/>
              </a:defRPr>
            </a:pPr>
            <a:r>
              <a:rPr sz="2550" b="1">
                <a:solidFill>
                  <a:srgbClr val="EE6758"/>
                </a:solidFill>
                <a:latin typeface="Helvetica Neue"/>
                <a:ea typeface="Helvetica Neue"/>
                <a:cs typeface="Helvetica Neue"/>
              </a:rPr>
              <a:t>Customer-controlled operation</a:t>
            </a:r>
          </a:p>
        </p:txBody>
      </p:sp>
      <p:sp>
        <p:nvSpPr>
          <p:cNvPr id="9" name="">
            <a:extLst xmlns:a="http://schemas.openxmlformats.org/drawingml/2006/main">
              <a:ext uri="{FF2B5EF4-FFF2-40B4-BE49-F238E27FC236}">
                <a16:creationId xmlns:a16="http://schemas.microsoft.com/office/drawing/2014/main" id="{9501F7A5-924F-4604-A543-0EC6A9AB5067}"/>
              </a:ext>
            </a:extLst>
          </p:cNvPr>
          <p:cNvSpPr>
            <a:spLocks xmlns:a="http://schemas.openxmlformats.org/drawingml/2006/main" noGrp="1"/>
          </p:cNvSpPr>
          <p:nvPr/>
        </p:nvSpPr>
        <p:spPr>
          <a:xfrm xmlns:a="http://schemas.openxmlformats.org/drawingml/2006/main">
            <a:off x="6419850" y="3238500"/>
            <a:ext cx="4953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4F3EB"/>
                </a:solidFill>
                <a:latin typeface="Helvetica Neue"/>
                <a:ea typeface="Helvetica Neue"/>
                <a:cs typeface="Helvetica Neue"/>
              </a:defRPr>
            </a:defPPr>
            <a:lvl1pPr>
              <a:defRPr sz="2100" b="0">
                <a:solidFill>
                  <a:srgbClr val="F4F3EB"/>
                </a:solidFill>
                <a:latin typeface="Helvetica Neue"/>
                <a:ea typeface="Helvetica Neue"/>
                <a:cs typeface="Helvetica Neue"/>
              </a:defRPr>
            </a:lvl1pPr>
            <a:lvl2pPr>
              <a:defRPr sz="2100" b="0">
                <a:solidFill>
                  <a:srgbClr val="F4F3EB"/>
                </a:solidFill>
                <a:latin typeface="Helvetica Neue"/>
                <a:ea typeface="Helvetica Neue"/>
                <a:cs typeface="Helvetica Neue"/>
              </a:defRPr>
            </a:lvl2pPr>
            <a:lvl3pPr>
              <a:defRPr sz="2100" b="0">
                <a:solidFill>
                  <a:srgbClr val="F4F3EB"/>
                </a:solidFill>
                <a:latin typeface="Helvetica Neue"/>
                <a:ea typeface="Helvetica Neue"/>
                <a:cs typeface="Helvetica Neue"/>
              </a:defRPr>
            </a:lvl3pPr>
            <a:lvl4pPr>
              <a:defRPr sz="2100" b="0">
                <a:solidFill>
                  <a:srgbClr val="F4F3EB"/>
                </a:solidFill>
                <a:latin typeface="Helvetica Neue"/>
                <a:ea typeface="Helvetica Neue"/>
                <a:cs typeface="Helvetica Neue"/>
              </a:defRPr>
            </a:lvl4pPr>
            <a:lvl5pPr>
              <a:defRPr sz="2100" b="0">
                <a:solidFill>
                  <a:srgbClr val="F4F3EB"/>
                </a:solidFill>
                <a:latin typeface="Helvetica Neue"/>
                <a:ea typeface="Helvetica Neue"/>
                <a:cs typeface="Helvetica Neue"/>
              </a:defRPr>
            </a:lvl5pPr>
            <a:lvl6pPr>
              <a:defRPr sz="2100" b="0">
                <a:solidFill>
                  <a:srgbClr val="F4F3EB"/>
                </a:solidFill>
                <a:latin typeface="Helvetica Neue"/>
                <a:ea typeface="Helvetica Neue"/>
                <a:cs typeface="Helvetica Neue"/>
              </a:defRPr>
            </a:lvl6pPr>
            <a:lvl7pPr>
              <a:defRPr sz="2100" b="0">
                <a:solidFill>
                  <a:srgbClr val="F4F3EB"/>
                </a:solidFill>
                <a:latin typeface="Helvetica Neue"/>
                <a:ea typeface="Helvetica Neue"/>
                <a:cs typeface="Helvetica Neue"/>
              </a:defRPr>
            </a:lvl7pPr>
            <a:lvl8pPr>
              <a:defRPr sz="2100" b="0">
                <a:solidFill>
                  <a:srgbClr val="F4F3EB"/>
                </a:solidFill>
                <a:latin typeface="Helvetica Neue"/>
                <a:ea typeface="Helvetica Neue"/>
                <a:cs typeface="Helvetica Neue"/>
              </a:defRPr>
            </a:lvl8pPr>
            <a:lvl9pPr>
              <a:defRPr sz="2100" b="0">
                <a:solidFill>
                  <a:srgbClr val="F4F3EB"/>
                </a:solidFill>
                <a:latin typeface="Helvetica Neue"/>
                <a:ea typeface="Helvetica Neue"/>
                <a:cs typeface="Helvetica Neue"/>
              </a:defRPr>
            </a:lvl9pPr>
          </a:lstStyle>
          <a:p xmlns:a="http://schemas.openxmlformats.org/drawingml/2006/main">
            <a:pPr>
              <a:defRPr sz="2100" b="0">
                <a:solidFill>
                  <a:srgbClr val="F4F3EB"/>
                </a:solidFill>
                <a:latin typeface="Helvetica Neue"/>
                <a:ea typeface="Helvetica Neue"/>
                <a:cs typeface="Helvetica Neue"/>
              </a:defRPr>
            </a:pPr>
            <a:r>
              <a:rPr sz="2100" b="0">
                <a:solidFill>
                  <a:srgbClr val="F4F3EB"/>
                </a:solidFill>
                <a:latin typeface="Helvetica Neue"/>
                <a:ea typeface="Helvetica Neue"/>
                <a:cs typeface="Helvetica Neue"/>
              </a:rPr>
              <a:t>Document permissions and measure overhead. Require approval for configuration changes and provide a rollback procedure.</a:t>
            </a:r>
          </a:p>
        </p:txBody>
      </p:sp>
      <p:sp>
        <p:nvSpPr>
          <p:cNvPr id="10" name="">
            <a:extLst xmlns:a="http://schemas.openxmlformats.org/drawingml/2006/main">
              <a:ext uri="{FF2B5EF4-FFF2-40B4-BE49-F238E27FC236}">
                <a16:creationId xmlns:a16="http://schemas.microsoft.com/office/drawing/2014/main" id="{8208F146-1EC4-45EB-8DDB-E6886BE5D4A5}"/>
              </a:ext>
            </a:extLst>
          </p:cNvPr>
          <p:cNvSpPr>
            <a:spLocks xmlns:a="http://schemas.openxmlformats.org/drawingml/2006/main" noGrp="1"/>
          </p:cNvSpPr>
          <p:nvPr/>
        </p:nvSpPr>
        <p:spPr>
          <a:xfrm xmlns:a="http://schemas.openxmlformats.org/drawingml/2006/main">
            <a:off x="6419850" y="495300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BABDB0"/>
                </a:solidFill>
                <a:latin typeface="Helvetica Neue"/>
                <a:ea typeface="Helvetica Neue"/>
                <a:cs typeface="Helvetica Neue"/>
              </a:defRPr>
            </a:defPPr>
            <a:lvl1pPr>
              <a:defRPr sz="1725" b="0">
                <a:solidFill>
                  <a:srgbClr val="BABDB0"/>
                </a:solidFill>
                <a:latin typeface="Helvetica Neue"/>
                <a:ea typeface="Helvetica Neue"/>
                <a:cs typeface="Helvetica Neue"/>
              </a:defRPr>
            </a:lvl1pPr>
            <a:lvl2pPr>
              <a:defRPr sz="1725" b="0">
                <a:solidFill>
                  <a:srgbClr val="BABDB0"/>
                </a:solidFill>
                <a:latin typeface="Helvetica Neue"/>
                <a:ea typeface="Helvetica Neue"/>
                <a:cs typeface="Helvetica Neue"/>
              </a:defRPr>
            </a:lvl2pPr>
            <a:lvl3pPr>
              <a:defRPr sz="1725" b="0">
                <a:solidFill>
                  <a:srgbClr val="BABDB0"/>
                </a:solidFill>
                <a:latin typeface="Helvetica Neue"/>
                <a:ea typeface="Helvetica Neue"/>
                <a:cs typeface="Helvetica Neue"/>
              </a:defRPr>
            </a:lvl3pPr>
            <a:lvl4pPr>
              <a:defRPr sz="1725" b="0">
                <a:solidFill>
                  <a:srgbClr val="BABDB0"/>
                </a:solidFill>
                <a:latin typeface="Helvetica Neue"/>
                <a:ea typeface="Helvetica Neue"/>
                <a:cs typeface="Helvetica Neue"/>
              </a:defRPr>
            </a:lvl4pPr>
            <a:lvl5pPr>
              <a:defRPr sz="1725" b="0">
                <a:solidFill>
                  <a:srgbClr val="BABDB0"/>
                </a:solidFill>
                <a:latin typeface="Helvetica Neue"/>
                <a:ea typeface="Helvetica Neue"/>
                <a:cs typeface="Helvetica Neue"/>
              </a:defRPr>
            </a:lvl5pPr>
            <a:lvl6pPr>
              <a:defRPr sz="1725" b="0">
                <a:solidFill>
                  <a:srgbClr val="BABDB0"/>
                </a:solidFill>
                <a:latin typeface="Helvetica Neue"/>
                <a:ea typeface="Helvetica Neue"/>
                <a:cs typeface="Helvetica Neue"/>
              </a:defRPr>
            </a:lvl6pPr>
            <a:lvl7pPr>
              <a:defRPr sz="1725" b="0">
                <a:solidFill>
                  <a:srgbClr val="BABDB0"/>
                </a:solidFill>
                <a:latin typeface="Helvetica Neue"/>
                <a:ea typeface="Helvetica Neue"/>
                <a:cs typeface="Helvetica Neue"/>
              </a:defRPr>
            </a:lvl7pPr>
            <a:lvl8pPr>
              <a:defRPr sz="1725" b="0">
                <a:solidFill>
                  <a:srgbClr val="BABDB0"/>
                </a:solidFill>
                <a:latin typeface="Helvetica Neue"/>
                <a:ea typeface="Helvetica Neue"/>
                <a:cs typeface="Helvetica Neue"/>
              </a:defRPr>
            </a:lvl8pPr>
            <a:lvl9pPr>
              <a:defRPr sz="1725" b="0">
                <a:solidFill>
                  <a:srgbClr val="BABDB0"/>
                </a:solidFill>
                <a:latin typeface="Helvetica Neue"/>
                <a:ea typeface="Helvetica Neue"/>
                <a:cs typeface="Helvetica Neue"/>
              </a:defRPr>
            </a:lvl9pPr>
          </a:lstStyle>
          <a:p xmlns:a="http://schemas.openxmlformats.org/drawingml/2006/main">
            <a:pPr>
              <a:defRPr sz="1725" b="0">
                <a:solidFill>
                  <a:srgbClr val="BABDB0"/>
                </a:solidFill>
                <a:latin typeface="Helvetica Neue"/>
                <a:ea typeface="Helvetica Neue"/>
                <a:cs typeface="Helvetica Neue"/>
              </a:defRPr>
            </a:pPr>
            <a:r>
              <a:rPr sz="1725" b="0">
                <a:solidFill>
                  <a:srgbClr val="BABDB0"/>
                </a:solidFill>
                <a:latin typeface="Helvetica Neue"/>
                <a:ea typeface="Helvetica Neue"/>
                <a:cs typeface="Helvetica Neue"/>
              </a:rPr>
              <a:t>Offline updates, access controls and audit logs</a:t>
            </a:r>
          </a:p>
          <a:p xmlns:a="http://schemas.openxmlformats.org/drawingml/2006/main">
            <a:pPr>
              <a:defRPr sz="1725" b="0">
                <a:solidFill>
                  <a:srgbClr val="BABDB0"/>
                </a:solidFill>
                <a:latin typeface="Helvetica Neue"/>
                <a:ea typeface="Helvetica Neue"/>
                <a:cs typeface="Helvetica Neue"/>
              </a:defRPr>
            </a:pPr>
            <a:r>
              <a:rPr sz="1725" b="0">
                <a:solidFill>
                  <a:srgbClr val="BABDB0"/>
                </a:solidFill>
                <a:latin typeface="Helvetica Neue"/>
                <a:ea typeface="Helvetica Neue"/>
                <a:cs typeface="Helvetica Neue"/>
              </a:rPr>
              <a:t>are requirements to verify before deployment.</a:t>
            </a:r>
          </a:p>
        </p:txBody>
      </p:sp>
    </p:spTree>
    <p:extLst>
      <p:ext uri="{BB962C8B-B14F-4D97-AF65-F5344CB8AC3E}">
        <p14:creationId xmlns:p14="http://schemas.microsoft.com/office/powerpoint/2010/main" val="2132907743"/>
      </p:ext>
    </p:extLst>
  </p:cSld>
</p:sld>
</file>

<file path=ppt/slides/slide9.xml><?xml version="1.0" encoding="utf-8"?>
<p:sld xmlns:p="http://schemas.openxmlformats.org/presentationml/2006/main">
  <p:cSld>
    <p:bg>
      <p:bgPr>
        <a:solidFill xmlns:a="http://schemas.openxmlformats.org/drawingml/2006/main">
          <a:srgbClr val="11121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CA92C9B-050F-4F18-8430-CFC09F42A7E6}"/>
              </a:ext>
            </a:extLst>
          </p:cNvPr>
          <p:cNvSpPr>
            <a:spLocks xmlns:a="http://schemas.openxmlformats.org/drawingml/2006/main" noGrp="1"/>
          </p:cNvSpPr>
          <p:nvPr/>
        </p:nvSpPr>
        <p:spPr>
          <a:xfrm xmlns:a="http://schemas.openxmlformats.org/drawingml/2006/main">
            <a:off x="609600" y="3429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FFDB24"/>
                </a:solidFill>
                <a:latin typeface="Helvetica Neue"/>
                <a:ea typeface="Helvetica Neue"/>
                <a:cs typeface="Helvetica Neue"/>
              </a:defRPr>
            </a:defPPr>
            <a:lvl1pPr>
              <a:defRPr sz="1125" b="1">
                <a:solidFill>
                  <a:srgbClr val="FFDB24"/>
                </a:solidFill>
                <a:latin typeface="Helvetica Neue"/>
                <a:ea typeface="Helvetica Neue"/>
                <a:cs typeface="Helvetica Neue"/>
              </a:defRPr>
            </a:lvl1pPr>
            <a:lvl2pPr>
              <a:defRPr sz="1125" b="1">
                <a:solidFill>
                  <a:srgbClr val="FFDB24"/>
                </a:solidFill>
                <a:latin typeface="Helvetica Neue"/>
                <a:ea typeface="Helvetica Neue"/>
                <a:cs typeface="Helvetica Neue"/>
              </a:defRPr>
            </a:lvl2pPr>
            <a:lvl3pPr>
              <a:defRPr sz="1125" b="1">
                <a:solidFill>
                  <a:srgbClr val="FFDB24"/>
                </a:solidFill>
                <a:latin typeface="Helvetica Neue"/>
                <a:ea typeface="Helvetica Neue"/>
                <a:cs typeface="Helvetica Neue"/>
              </a:defRPr>
            </a:lvl3pPr>
            <a:lvl4pPr>
              <a:defRPr sz="1125" b="1">
                <a:solidFill>
                  <a:srgbClr val="FFDB24"/>
                </a:solidFill>
                <a:latin typeface="Helvetica Neue"/>
                <a:ea typeface="Helvetica Neue"/>
                <a:cs typeface="Helvetica Neue"/>
              </a:defRPr>
            </a:lvl4pPr>
            <a:lvl5pPr>
              <a:defRPr sz="1125" b="1">
                <a:solidFill>
                  <a:srgbClr val="FFDB24"/>
                </a:solidFill>
                <a:latin typeface="Helvetica Neue"/>
                <a:ea typeface="Helvetica Neue"/>
                <a:cs typeface="Helvetica Neue"/>
              </a:defRPr>
            </a:lvl5pPr>
            <a:lvl6pPr>
              <a:defRPr sz="1125" b="1">
                <a:solidFill>
                  <a:srgbClr val="FFDB24"/>
                </a:solidFill>
                <a:latin typeface="Helvetica Neue"/>
                <a:ea typeface="Helvetica Neue"/>
                <a:cs typeface="Helvetica Neue"/>
              </a:defRPr>
            </a:lvl6pPr>
            <a:lvl7pPr>
              <a:defRPr sz="1125" b="1">
                <a:solidFill>
                  <a:srgbClr val="FFDB24"/>
                </a:solidFill>
                <a:latin typeface="Helvetica Neue"/>
                <a:ea typeface="Helvetica Neue"/>
                <a:cs typeface="Helvetica Neue"/>
              </a:defRPr>
            </a:lvl7pPr>
            <a:lvl8pPr>
              <a:defRPr sz="1125" b="1">
                <a:solidFill>
                  <a:srgbClr val="FFDB24"/>
                </a:solidFill>
                <a:latin typeface="Helvetica Neue"/>
                <a:ea typeface="Helvetica Neue"/>
                <a:cs typeface="Helvetica Neue"/>
              </a:defRPr>
            </a:lvl8pPr>
            <a:lvl9pPr>
              <a:defRPr sz="1125" b="1">
                <a:solidFill>
                  <a:srgbClr val="FFDB24"/>
                </a:solidFill>
                <a:latin typeface="Helvetica Neue"/>
                <a:ea typeface="Helvetica Neue"/>
                <a:cs typeface="Helvetica Neue"/>
              </a:defRPr>
            </a:lvl9pPr>
          </a:lstStyle>
          <a:p xmlns:a="http://schemas.openxmlformats.org/drawingml/2006/main">
            <a:pPr>
              <a:defRPr sz="1125" b="1">
                <a:solidFill>
                  <a:srgbClr val="FFDB24"/>
                </a:solidFill>
                <a:latin typeface="Helvetica Neue"/>
                <a:ea typeface="Helvetica Neue"/>
                <a:cs typeface="Helvetica Neue"/>
              </a:defRPr>
            </a:pPr>
            <a:r>
              <a:rPr sz="1125" b="1">
                <a:solidFill>
                  <a:srgbClr val="FFDB24"/>
                </a:solidFill>
                <a:latin typeface="Helvetica Neue"/>
                <a:ea typeface="Helvetica Neue"/>
                <a:cs typeface="Helvetica Neue"/>
              </a:rPr>
              <a:t>BUYER ECONOMICS / OWNED VERSUS RESERVED CAPACITY</a:t>
            </a:r>
          </a:p>
        </p:txBody>
      </p:sp>
      <p:sp>
        <p:nvSpPr>
          <p:cNvPr id="2" name="">
            <a:extLst xmlns:a="http://schemas.openxmlformats.org/drawingml/2006/main">
              <a:ext uri="{FF2B5EF4-FFF2-40B4-BE49-F238E27FC236}">
                <a16:creationId xmlns:a16="http://schemas.microsoft.com/office/drawing/2014/main" id="{ABDEF6A3-CA8E-49B9-B646-4DC6505949DD}"/>
              </a:ext>
            </a:extLst>
          </p:cNvPr>
          <p:cNvSpPr>
            <a:spLocks xmlns:a="http://schemas.openxmlformats.org/drawingml/2006/main" noGrp="1"/>
          </p:cNvSpPr>
          <p:nvPr/>
        </p:nvSpPr>
        <p:spPr>
          <a:xfrm xmlns:a="http://schemas.openxmlformats.org/drawingml/2006/main">
            <a:off x="609600" y="914400"/>
            <a:ext cx="109728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F4F3EB"/>
                </a:solidFill>
                <a:latin typeface="Helvetica Neue"/>
                <a:ea typeface="Helvetica Neue"/>
                <a:cs typeface="Helvetica Neue"/>
              </a:defRPr>
            </a:defPPr>
            <a:lvl1pPr>
              <a:defRPr sz="3900" b="0">
                <a:solidFill>
                  <a:srgbClr val="F4F3EB"/>
                </a:solidFill>
                <a:latin typeface="Helvetica Neue"/>
                <a:ea typeface="Helvetica Neue"/>
                <a:cs typeface="Helvetica Neue"/>
              </a:defRPr>
            </a:lvl1pPr>
            <a:lvl2pPr>
              <a:defRPr sz="3900" b="0">
                <a:solidFill>
                  <a:srgbClr val="F4F3EB"/>
                </a:solidFill>
                <a:latin typeface="Helvetica Neue"/>
                <a:ea typeface="Helvetica Neue"/>
                <a:cs typeface="Helvetica Neue"/>
              </a:defRPr>
            </a:lvl2pPr>
            <a:lvl3pPr>
              <a:defRPr sz="3900" b="0">
                <a:solidFill>
                  <a:srgbClr val="F4F3EB"/>
                </a:solidFill>
                <a:latin typeface="Helvetica Neue"/>
                <a:ea typeface="Helvetica Neue"/>
                <a:cs typeface="Helvetica Neue"/>
              </a:defRPr>
            </a:lvl3pPr>
            <a:lvl4pPr>
              <a:defRPr sz="3900" b="0">
                <a:solidFill>
                  <a:srgbClr val="F4F3EB"/>
                </a:solidFill>
                <a:latin typeface="Helvetica Neue"/>
                <a:ea typeface="Helvetica Neue"/>
                <a:cs typeface="Helvetica Neue"/>
              </a:defRPr>
            </a:lvl4pPr>
            <a:lvl5pPr>
              <a:defRPr sz="3900" b="0">
                <a:solidFill>
                  <a:srgbClr val="F4F3EB"/>
                </a:solidFill>
                <a:latin typeface="Helvetica Neue"/>
                <a:ea typeface="Helvetica Neue"/>
                <a:cs typeface="Helvetica Neue"/>
              </a:defRPr>
            </a:lvl5pPr>
            <a:lvl6pPr>
              <a:defRPr sz="3900" b="0">
                <a:solidFill>
                  <a:srgbClr val="F4F3EB"/>
                </a:solidFill>
                <a:latin typeface="Helvetica Neue"/>
                <a:ea typeface="Helvetica Neue"/>
                <a:cs typeface="Helvetica Neue"/>
              </a:defRPr>
            </a:lvl6pPr>
            <a:lvl7pPr>
              <a:defRPr sz="3900" b="0">
                <a:solidFill>
                  <a:srgbClr val="F4F3EB"/>
                </a:solidFill>
                <a:latin typeface="Helvetica Neue"/>
                <a:ea typeface="Helvetica Neue"/>
                <a:cs typeface="Helvetica Neue"/>
              </a:defRPr>
            </a:lvl7pPr>
            <a:lvl8pPr>
              <a:defRPr sz="3900" b="0">
                <a:solidFill>
                  <a:srgbClr val="F4F3EB"/>
                </a:solidFill>
                <a:latin typeface="Helvetica Neue"/>
                <a:ea typeface="Helvetica Neue"/>
                <a:cs typeface="Helvetica Neue"/>
              </a:defRPr>
            </a:lvl8pPr>
            <a:lvl9pPr>
              <a:defRPr sz="3900" b="0">
                <a:solidFill>
                  <a:srgbClr val="F4F3EB"/>
                </a:solidFill>
                <a:latin typeface="Helvetica Neue"/>
                <a:ea typeface="Helvetica Neue"/>
                <a:cs typeface="Helvetica Neue"/>
              </a:defRPr>
            </a:lvl9pPr>
          </a:lstStyle>
          <a:p xmlns:a="http://schemas.openxmlformats.org/drawingml/2006/main">
            <a:pPr>
              <a:defRPr sz="3900" b="0">
                <a:solidFill>
                  <a:srgbClr val="F4F3EB"/>
                </a:solidFill>
                <a:latin typeface="Helvetica Neue"/>
                <a:ea typeface="Helvetica Neue"/>
                <a:cs typeface="Helvetica Neue"/>
              </a:defRPr>
            </a:pPr>
            <a:r>
              <a:rPr sz="3900" b="0">
                <a:solidFill>
                  <a:srgbClr val="F4F3EB"/>
                </a:solidFill>
                <a:latin typeface="Helvetica Neue"/>
                <a:ea typeface="Helvetica Neue"/>
                <a:cs typeface="Helvetica Neue"/>
              </a:rPr>
              <a:t>An energy win can create savings or headroom</a:t>
            </a:r>
          </a:p>
        </p:txBody>
      </p:sp>
      <p:sp>
        <p:nvSpPr>
          <p:cNvPr id="3" name="">
            <a:extLst xmlns:a="http://schemas.openxmlformats.org/drawingml/2006/main">
              <a:ext uri="{FF2B5EF4-FFF2-40B4-BE49-F238E27FC236}">
                <a16:creationId xmlns:a16="http://schemas.microsoft.com/office/drawing/2014/main" id="{21226E1A-3A03-4381-A74F-78DAFEA93FBB}"/>
              </a:ext>
            </a:extLst>
          </p:cNvPr>
          <p:cNvSpPr>
            <a:spLocks xmlns:a="http://schemas.openxmlformats.org/drawingml/2006/main" noGrp="1"/>
          </p:cNvSpPr>
          <p:nvPr/>
        </p:nvSpPr>
        <p:spPr>
          <a:xfrm xmlns:a="http://schemas.openxmlformats.org/drawingml/2006/main">
            <a:off x="609600" y="644842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BABDB0"/>
                </a:solidFill>
                <a:latin typeface="Helvetica Neue"/>
                <a:ea typeface="Helvetica Neue"/>
                <a:cs typeface="Helvetica Neue"/>
              </a:defRPr>
            </a:defPPr>
            <a:lvl1pPr>
              <a:defRPr sz="900" b="0">
                <a:solidFill>
                  <a:srgbClr val="BABDB0"/>
                </a:solidFill>
                <a:latin typeface="Helvetica Neue"/>
                <a:ea typeface="Helvetica Neue"/>
                <a:cs typeface="Helvetica Neue"/>
              </a:defRPr>
            </a:lvl1pPr>
            <a:lvl2pPr>
              <a:defRPr sz="900" b="0">
                <a:solidFill>
                  <a:srgbClr val="BABDB0"/>
                </a:solidFill>
                <a:latin typeface="Helvetica Neue"/>
                <a:ea typeface="Helvetica Neue"/>
                <a:cs typeface="Helvetica Neue"/>
              </a:defRPr>
            </a:lvl2pPr>
            <a:lvl3pPr>
              <a:defRPr sz="900" b="0">
                <a:solidFill>
                  <a:srgbClr val="BABDB0"/>
                </a:solidFill>
                <a:latin typeface="Helvetica Neue"/>
                <a:ea typeface="Helvetica Neue"/>
                <a:cs typeface="Helvetica Neue"/>
              </a:defRPr>
            </a:lvl3pPr>
            <a:lvl4pPr>
              <a:defRPr sz="900" b="0">
                <a:solidFill>
                  <a:srgbClr val="BABDB0"/>
                </a:solidFill>
                <a:latin typeface="Helvetica Neue"/>
                <a:ea typeface="Helvetica Neue"/>
                <a:cs typeface="Helvetica Neue"/>
              </a:defRPr>
            </a:lvl4pPr>
            <a:lvl5pPr>
              <a:defRPr sz="900" b="0">
                <a:solidFill>
                  <a:srgbClr val="BABDB0"/>
                </a:solidFill>
                <a:latin typeface="Helvetica Neue"/>
                <a:ea typeface="Helvetica Neue"/>
                <a:cs typeface="Helvetica Neue"/>
              </a:defRPr>
            </a:lvl5pPr>
            <a:lvl6pPr>
              <a:defRPr sz="900" b="0">
                <a:solidFill>
                  <a:srgbClr val="BABDB0"/>
                </a:solidFill>
                <a:latin typeface="Helvetica Neue"/>
                <a:ea typeface="Helvetica Neue"/>
                <a:cs typeface="Helvetica Neue"/>
              </a:defRPr>
            </a:lvl6pPr>
            <a:lvl7pPr>
              <a:defRPr sz="900" b="0">
                <a:solidFill>
                  <a:srgbClr val="BABDB0"/>
                </a:solidFill>
                <a:latin typeface="Helvetica Neue"/>
                <a:ea typeface="Helvetica Neue"/>
                <a:cs typeface="Helvetica Neue"/>
              </a:defRPr>
            </a:lvl7pPr>
            <a:lvl8pPr>
              <a:defRPr sz="900" b="0">
                <a:solidFill>
                  <a:srgbClr val="BABDB0"/>
                </a:solidFill>
                <a:latin typeface="Helvetica Neue"/>
                <a:ea typeface="Helvetica Neue"/>
                <a:cs typeface="Helvetica Neue"/>
              </a:defRPr>
            </a:lvl8pPr>
            <a:lvl9pPr>
              <a:defRPr sz="900" b="0">
                <a:solidFill>
                  <a:srgbClr val="BABDB0"/>
                </a:solidFill>
                <a:latin typeface="Helvetica Neue"/>
                <a:ea typeface="Helvetica Neue"/>
                <a:cs typeface="Helvetica Neue"/>
              </a:defRPr>
            </a:lvl9pPr>
          </a:lstStyle>
          <a:p xmlns:a="http://schemas.openxmlformats.org/drawingml/2006/main">
            <a:pPr>
              <a:defRPr sz="900" b="0">
                <a:solidFill>
                  <a:srgbClr val="BABDB0"/>
                </a:solidFill>
                <a:latin typeface="Helvetica Neue"/>
                <a:ea typeface="Helvetica Neue"/>
                <a:cs typeface="Helvetica Neue"/>
              </a:defRPr>
            </a:pPr>
            <a:r>
              <a:rPr sz="900" b="0">
                <a:solidFill>
                  <a:srgbClr val="BABDB0"/>
                </a:solidFill>
                <a:latin typeface="Helvetica Neue"/>
                <a:ea typeface="Helvetica Neue"/>
                <a:cs typeface="Helvetica Neue"/>
              </a:rPr>
              <a:t>E FOR ENERGY</a:t>
            </a:r>
          </a:p>
        </p:txBody>
      </p:sp>
      <p:sp>
        <p:nvSpPr>
          <p:cNvPr id="4" name="">
            <a:extLst xmlns:a="http://schemas.openxmlformats.org/drawingml/2006/main">
              <a:ext uri="{FF2B5EF4-FFF2-40B4-BE49-F238E27FC236}">
                <a16:creationId xmlns:a16="http://schemas.microsoft.com/office/drawing/2014/main" id="{DA5E51DE-B0E0-4B41-84BB-BB33A7B965D3}"/>
              </a:ext>
            </a:extLst>
          </p:cNvPr>
          <p:cNvSpPr>
            <a:spLocks xmlns:a="http://schemas.openxmlformats.org/drawingml/2006/main" noGrp="1"/>
          </p:cNvSpPr>
          <p:nvPr/>
        </p:nvSpPr>
        <p:spPr>
          <a:xfrm xmlns:a="http://schemas.openxmlformats.org/drawingml/2006/main">
            <a:off x="11049000" y="64198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BABDB0"/>
                </a:solidFill>
                <a:latin typeface="Helvetica Neue"/>
                <a:ea typeface="Helvetica Neue"/>
                <a:cs typeface="Helvetica Neue"/>
              </a:defRPr>
            </a:defPPr>
            <a:lvl1pPr>
              <a:defRPr sz="1200" b="0">
                <a:solidFill>
                  <a:srgbClr val="BABDB0"/>
                </a:solidFill>
                <a:latin typeface="Helvetica Neue"/>
                <a:ea typeface="Helvetica Neue"/>
                <a:cs typeface="Helvetica Neue"/>
              </a:defRPr>
            </a:lvl1pPr>
            <a:lvl2pPr>
              <a:defRPr sz="1200" b="0">
                <a:solidFill>
                  <a:srgbClr val="BABDB0"/>
                </a:solidFill>
                <a:latin typeface="Helvetica Neue"/>
                <a:ea typeface="Helvetica Neue"/>
                <a:cs typeface="Helvetica Neue"/>
              </a:defRPr>
            </a:lvl2pPr>
            <a:lvl3pPr>
              <a:defRPr sz="1200" b="0">
                <a:solidFill>
                  <a:srgbClr val="BABDB0"/>
                </a:solidFill>
                <a:latin typeface="Helvetica Neue"/>
                <a:ea typeface="Helvetica Neue"/>
                <a:cs typeface="Helvetica Neue"/>
              </a:defRPr>
            </a:lvl3pPr>
            <a:lvl4pPr>
              <a:defRPr sz="1200" b="0">
                <a:solidFill>
                  <a:srgbClr val="BABDB0"/>
                </a:solidFill>
                <a:latin typeface="Helvetica Neue"/>
                <a:ea typeface="Helvetica Neue"/>
                <a:cs typeface="Helvetica Neue"/>
              </a:defRPr>
            </a:lvl4pPr>
            <a:lvl5pPr>
              <a:defRPr sz="1200" b="0">
                <a:solidFill>
                  <a:srgbClr val="BABDB0"/>
                </a:solidFill>
                <a:latin typeface="Helvetica Neue"/>
                <a:ea typeface="Helvetica Neue"/>
                <a:cs typeface="Helvetica Neue"/>
              </a:defRPr>
            </a:lvl5pPr>
            <a:lvl6pPr>
              <a:defRPr sz="1200" b="0">
                <a:solidFill>
                  <a:srgbClr val="BABDB0"/>
                </a:solidFill>
                <a:latin typeface="Helvetica Neue"/>
                <a:ea typeface="Helvetica Neue"/>
                <a:cs typeface="Helvetica Neue"/>
              </a:defRPr>
            </a:lvl6pPr>
            <a:lvl7pPr>
              <a:defRPr sz="1200" b="0">
                <a:solidFill>
                  <a:srgbClr val="BABDB0"/>
                </a:solidFill>
                <a:latin typeface="Helvetica Neue"/>
                <a:ea typeface="Helvetica Neue"/>
                <a:cs typeface="Helvetica Neue"/>
              </a:defRPr>
            </a:lvl7pPr>
            <a:lvl8pPr>
              <a:defRPr sz="1200" b="0">
                <a:solidFill>
                  <a:srgbClr val="BABDB0"/>
                </a:solidFill>
                <a:latin typeface="Helvetica Neue"/>
                <a:ea typeface="Helvetica Neue"/>
                <a:cs typeface="Helvetica Neue"/>
              </a:defRPr>
            </a:lvl8pPr>
            <a:lvl9pPr>
              <a:defRPr sz="1200" b="0">
                <a:solidFill>
                  <a:srgbClr val="BABDB0"/>
                </a:solidFill>
                <a:latin typeface="Helvetica Neue"/>
                <a:ea typeface="Helvetica Neue"/>
                <a:cs typeface="Helvetica Neue"/>
              </a:defRPr>
            </a:lvl9pPr>
          </a:lstStyle>
          <a:p xmlns:a="http://schemas.openxmlformats.org/drawingml/2006/main">
            <a:pPr>
              <a:defRPr sz="1200" b="0">
                <a:solidFill>
                  <a:srgbClr val="BABDB0"/>
                </a:solidFill>
                <a:latin typeface="Helvetica Neue"/>
                <a:ea typeface="Helvetica Neue"/>
                <a:cs typeface="Helvetica Neue"/>
              </a:defRPr>
            </a:pPr>
            <a:r>
              <a:rPr sz="1200" b="0">
                <a:solidFill>
                  <a:srgbClr val="BABDB0"/>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F28AEDCE-14D7-49C6-938E-D8975D9B58DA}"/>
              </a:ext>
            </a:extLst>
          </p:cNvPr>
          <p:cNvSpPr>
            <a:spLocks xmlns:a="http://schemas.openxmlformats.org/drawingml/2006/main" noGrp="1"/>
          </p:cNvSpPr>
          <p:nvPr/>
        </p:nvSpPr>
        <p:spPr>
          <a:xfrm xmlns:a="http://schemas.openxmlformats.org/drawingml/2006/main">
            <a:off x="609600" y="2486025"/>
            <a:ext cx="5000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FFDB24"/>
                </a:solidFill>
                <a:latin typeface="Helvetica Neue"/>
                <a:ea typeface="Helvetica Neue"/>
                <a:cs typeface="Helvetica Neue"/>
              </a:defRPr>
            </a:defPPr>
            <a:lvl1pPr>
              <a:defRPr sz="2400" b="1">
                <a:solidFill>
                  <a:srgbClr val="FFDB24"/>
                </a:solidFill>
                <a:latin typeface="Helvetica Neue"/>
                <a:ea typeface="Helvetica Neue"/>
                <a:cs typeface="Helvetica Neue"/>
              </a:defRPr>
            </a:lvl1pPr>
            <a:lvl2pPr>
              <a:defRPr sz="2400" b="1">
                <a:solidFill>
                  <a:srgbClr val="FFDB24"/>
                </a:solidFill>
                <a:latin typeface="Helvetica Neue"/>
                <a:ea typeface="Helvetica Neue"/>
                <a:cs typeface="Helvetica Neue"/>
              </a:defRPr>
            </a:lvl2pPr>
            <a:lvl3pPr>
              <a:defRPr sz="2400" b="1">
                <a:solidFill>
                  <a:srgbClr val="FFDB24"/>
                </a:solidFill>
                <a:latin typeface="Helvetica Neue"/>
                <a:ea typeface="Helvetica Neue"/>
                <a:cs typeface="Helvetica Neue"/>
              </a:defRPr>
            </a:lvl3pPr>
            <a:lvl4pPr>
              <a:defRPr sz="2400" b="1">
                <a:solidFill>
                  <a:srgbClr val="FFDB24"/>
                </a:solidFill>
                <a:latin typeface="Helvetica Neue"/>
                <a:ea typeface="Helvetica Neue"/>
                <a:cs typeface="Helvetica Neue"/>
              </a:defRPr>
            </a:lvl4pPr>
            <a:lvl5pPr>
              <a:defRPr sz="2400" b="1">
                <a:solidFill>
                  <a:srgbClr val="FFDB24"/>
                </a:solidFill>
                <a:latin typeface="Helvetica Neue"/>
                <a:ea typeface="Helvetica Neue"/>
                <a:cs typeface="Helvetica Neue"/>
              </a:defRPr>
            </a:lvl5pPr>
            <a:lvl6pPr>
              <a:defRPr sz="2400" b="1">
                <a:solidFill>
                  <a:srgbClr val="FFDB24"/>
                </a:solidFill>
                <a:latin typeface="Helvetica Neue"/>
                <a:ea typeface="Helvetica Neue"/>
                <a:cs typeface="Helvetica Neue"/>
              </a:defRPr>
            </a:lvl6pPr>
            <a:lvl7pPr>
              <a:defRPr sz="2400" b="1">
                <a:solidFill>
                  <a:srgbClr val="FFDB24"/>
                </a:solidFill>
                <a:latin typeface="Helvetica Neue"/>
                <a:ea typeface="Helvetica Neue"/>
                <a:cs typeface="Helvetica Neue"/>
              </a:defRPr>
            </a:lvl7pPr>
            <a:lvl8pPr>
              <a:defRPr sz="2400" b="1">
                <a:solidFill>
                  <a:srgbClr val="FFDB24"/>
                </a:solidFill>
                <a:latin typeface="Helvetica Neue"/>
                <a:ea typeface="Helvetica Neue"/>
                <a:cs typeface="Helvetica Neue"/>
              </a:defRPr>
            </a:lvl8pPr>
            <a:lvl9pPr>
              <a:defRPr sz="2400" b="1">
                <a:solidFill>
                  <a:srgbClr val="FFDB24"/>
                </a:solidFill>
                <a:latin typeface="Helvetica Neue"/>
                <a:ea typeface="Helvetica Neue"/>
                <a:cs typeface="Helvetica Neue"/>
              </a:defRPr>
            </a:lvl9pPr>
          </a:lstStyle>
          <a:p xmlns:a="http://schemas.openxmlformats.org/drawingml/2006/main">
            <a:pPr>
              <a:defRPr sz="2400" b="1">
                <a:solidFill>
                  <a:srgbClr val="FFDB24"/>
                </a:solidFill>
                <a:latin typeface="Helvetica Neue"/>
                <a:ea typeface="Helvetica Neue"/>
                <a:cs typeface="Helvetica Neue"/>
              </a:defRPr>
            </a:pPr>
            <a:r>
              <a:rPr sz="2400" b="1">
                <a:solidFill>
                  <a:srgbClr val="FFDB24"/>
                </a:solidFill>
                <a:latin typeface="Helvetica Neue"/>
                <a:ea typeface="Helvetica Neue"/>
                <a:cs typeface="Helvetica Neue"/>
              </a:rPr>
              <a:t>Owned infrastructure</a:t>
            </a:r>
          </a:p>
        </p:txBody>
      </p:sp>
      <p:sp>
        <p:nvSpPr>
          <p:cNvPr id="6" name="">
            <a:extLst xmlns:a="http://schemas.openxmlformats.org/drawingml/2006/main">
              <a:ext uri="{FF2B5EF4-FFF2-40B4-BE49-F238E27FC236}">
                <a16:creationId xmlns:a16="http://schemas.microsoft.com/office/drawing/2014/main" id="{B2E74AEF-FD98-454D-B2AF-6717CC9F7D05}"/>
              </a:ext>
            </a:extLst>
          </p:cNvPr>
          <p:cNvSpPr>
            <a:spLocks xmlns:a="http://schemas.openxmlformats.org/drawingml/2006/main" noGrp="1"/>
          </p:cNvSpPr>
          <p:nvPr/>
        </p:nvSpPr>
        <p:spPr>
          <a:xfrm xmlns:a="http://schemas.openxmlformats.org/drawingml/2006/main">
            <a:off x="609600" y="3067050"/>
            <a:ext cx="4953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4F3EB"/>
                </a:solidFill>
                <a:latin typeface="Helvetica Neue"/>
                <a:ea typeface="Helvetica Neue"/>
                <a:cs typeface="Helvetica Neue"/>
              </a:defRPr>
            </a:defPPr>
            <a:lvl1pPr>
              <a:defRPr sz="2100" b="0">
                <a:solidFill>
                  <a:srgbClr val="F4F3EB"/>
                </a:solidFill>
                <a:latin typeface="Helvetica Neue"/>
                <a:ea typeface="Helvetica Neue"/>
                <a:cs typeface="Helvetica Neue"/>
              </a:defRPr>
            </a:lvl1pPr>
            <a:lvl2pPr>
              <a:defRPr sz="2100" b="0">
                <a:solidFill>
                  <a:srgbClr val="F4F3EB"/>
                </a:solidFill>
                <a:latin typeface="Helvetica Neue"/>
                <a:ea typeface="Helvetica Neue"/>
                <a:cs typeface="Helvetica Neue"/>
              </a:defRPr>
            </a:lvl2pPr>
            <a:lvl3pPr>
              <a:defRPr sz="2100" b="0">
                <a:solidFill>
                  <a:srgbClr val="F4F3EB"/>
                </a:solidFill>
                <a:latin typeface="Helvetica Neue"/>
                <a:ea typeface="Helvetica Neue"/>
                <a:cs typeface="Helvetica Neue"/>
              </a:defRPr>
            </a:lvl3pPr>
            <a:lvl4pPr>
              <a:defRPr sz="2100" b="0">
                <a:solidFill>
                  <a:srgbClr val="F4F3EB"/>
                </a:solidFill>
                <a:latin typeface="Helvetica Neue"/>
                <a:ea typeface="Helvetica Neue"/>
                <a:cs typeface="Helvetica Neue"/>
              </a:defRPr>
            </a:lvl4pPr>
            <a:lvl5pPr>
              <a:defRPr sz="2100" b="0">
                <a:solidFill>
                  <a:srgbClr val="F4F3EB"/>
                </a:solidFill>
                <a:latin typeface="Helvetica Neue"/>
                <a:ea typeface="Helvetica Neue"/>
                <a:cs typeface="Helvetica Neue"/>
              </a:defRPr>
            </a:lvl5pPr>
            <a:lvl6pPr>
              <a:defRPr sz="2100" b="0">
                <a:solidFill>
                  <a:srgbClr val="F4F3EB"/>
                </a:solidFill>
                <a:latin typeface="Helvetica Neue"/>
                <a:ea typeface="Helvetica Neue"/>
                <a:cs typeface="Helvetica Neue"/>
              </a:defRPr>
            </a:lvl6pPr>
            <a:lvl7pPr>
              <a:defRPr sz="2100" b="0">
                <a:solidFill>
                  <a:srgbClr val="F4F3EB"/>
                </a:solidFill>
                <a:latin typeface="Helvetica Neue"/>
                <a:ea typeface="Helvetica Neue"/>
                <a:cs typeface="Helvetica Neue"/>
              </a:defRPr>
            </a:lvl7pPr>
            <a:lvl8pPr>
              <a:defRPr sz="2100" b="0">
                <a:solidFill>
                  <a:srgbClr val="F4F3EB"/>
                </a:solidFill>
                <a:latin typeface="Helvetica Neue"/>
                <a:ea typeface="Helvetica Neue"/>
                <a:cs typeface="Helvetica Neue"/>
              </a:defRPr>
            </a:lvl8pPr>
            <a:lvl9pPr>
              <a:defRPr sz="2100" b="0">
                <a:solidFill>
                  <a:srgbClr val="F4F3EB"/>
                </a:solidFill>
                <a:latin typeface="Helvetica Neue"/>
                <a:ea typeface="Helvetica Neue"/>
                <a:cs typeface="Helvetica Neue"/>
              </a:defRPr>
            </a:lvl9pPr>
          </a:lstStyle>
          <a:p xmlns:a="http://schemas.openxmlformats.org/drawingml/2006/main">
            <a:pPr>
              <a:defRPr sz="2100" b="0">
                <a:solidFill>
                  <a:srgbClr val="F4F3EB"/>
                </a:solidFill>
                <a:latin typeface="Helvetica Neue"/>
                <a:ea typeface="Helvetica Neue"/>
                <a:cs typeface="Helvetica Neue"/>
              </a:defRPr>
            </a:pPr>
            <a:r>
              <a:rPr sz="2100" b="0">
                <a:solidFill>
                  <a:srgbClr val="F4F3EB"/>
                </a:solidFill>
                <a:latin typeface="Helvetica Neue"/>
                <a:ea typeface="Helvetica Neue"/>
                <a:cs typeface="Helvetica Neue"/>
              </a:rPr>
              <a:t>Electricity savings use the measured reduction, agreed tariff and same useful output.</a:t>
            </a:r>
          </a:p>
        </p:txBody>
      </p:sp>
      <p:sp>
        <p:nvSpPr>
          <p:cNvPr id="7" name="">
            <a:extLst xmlns:a="http://schemas.openxmlformats.org/drawingml/2006/main">
              <a:ext uri="{FF2B5EF4-FFF2-40B4-BE49-F238E27FC236}">
                <a16:creationId xmlns:a16="http://schemas.microsoft.com/office/drawing/2014/main" id="{F01FA068-CEF0-42CB-BC00-D105F196B413}"/>
              </a:ext>
            </a:extLst>
          </p:cNvPr>
          <p:cNvSpPr>
            <a:spLocks xmlns:a="http://schemas.openxmlformats.org/drawingml/2006/main" noGrp="1"/>
          </p:cNvSpPr>
          <p:nvPr/>
        </p:nvSpPr>
        <p:spPr>
          <a:xfrm xmlns:a="http://schemas.openxmlformats.org/drawingml/2006/main">
            <a:off x="609600" y="4305300"/>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ABDB0"/>
                </a:solidFill>
                <a:latin typeface="Helvetica Neue"/>
                <a:ea typeface="Helvetica Neue"/>
                <a:cs typeface="Helvetica Neue"/>
              </a:defRPr>
            </a:defPPr>
            <a:lvl1pPr>
              <a:defRPr sz="1875" b="0">
                <a:solidFill>
                  <a:srgbClr val="BABDB0"/>
                </a:solidFill>
                <a:latin typeface="Helvetica Neue"/>
                <a:ea typeface="Helvetica Neue"/>
                <a:cs typeface="Helvetica Neue"/>
              </a:defRPr>
            </a:lvl1pPr>
            <a:lvl2pPr>
              <a:defRPr sz="1875" b="0">
                <a:solidFill>
                  <a:srgbClr val="BABDB0"/>
                </a:solidFill>
                <a:latin typeface="Helvetica Neue"/>
                <a:ea typeface="Helvetica Neue"/>
                <a:cs typeface="Helvetica Neue"/>
              </a:defRPr>
            </a:lvl2pPr>
            <a:lvl3pPr>
              <a:defRPr sz="1875" b="0">
                <a:solidFill>
                  <a:srgbClr val="BABDB0"/>
                </a:solidFill>
                <a:latin typeface="Helvetica Neue"/>
                <a:ea typeface="Helvetica Neue"/>
                <a:cs typeface="Helvetica Neue"/>
              </a:defRPr>
            </a:lvl3pPr>
            <a:lvl4pPr>
              <a:defRPr sz="1875" b="0">
                <a:solidFill>
                  <a:srgbClr val="BABDB0"/>
                </a:solidFill>
                <a:latin typeface="Helvetica Neue"/>
                <a:ea typeface="Helvetica Neue"/>
                <a:cs typeface="Helvetica Neue"/>
              </a:defRPr>
            </a:lvl4pPr>
            <a:lvl5pPr>
              <a:defRPr sz="1875" b="0">
                <a:solidFill>
                  <a:srgbClr val="BABDB0"/>
                </a:solidFill>
                <a:latin typeface="Helvetica Neue"/>
                <a:ea typeface="Helvetica Neue"/>
                <a:cs typeface="Helvetica Neue"/>
              </a:defRPr>
            </a:lvl5pPr>
            <a:lvl6pPr>
              <a:defRPr sz="1875" b="0">
                <a:solidFill>
                  <a:srgbClr val="BABDB0"/>
                </a:solidFill>
                <a:latin typeface="Helvetica Neue"/>
                <a:ea typeface="Helvetica Neue"/>
                <a:cs typeface="Helvetica Neue"/>
              </a:defRPr>
            </a:lvl6pPr>
            <a:lvl7pPr>
              <a:defRPr sz="1875" b="0">
                <a:solidFill>
                  <a:srgbClr val="BABDB0"/>
                </a:solidFill>
                <a:latin typeface="Helvetica Neue"/>
                <a:ea typeface="Helvetica Neue"/>
                <a:cs typeface="Helvetica Neue"/>
              </a:defRPr>
            </a:lvl7pPr>
            <a:lvl8pPr>
              <a:defRPr sz="1875" b="0">
                <a:solidFill>
                  <a:srgbClr val="BABDB0"/>
                </a:solidFill>
                <a:latin typeface="Helvetica Neue"/>
                <a:ea typeface="Helvetica Neue"/>
                <a:cs typeface="Helvetica Neue"/>
              </a:defRPr>
            </a:lvl8pPr>
            <a:lvl9pPr>
              <a:defRPr sz="1875" b="0">
                <a:solidFill>
                  <a:srgbClr val="BABDB0"/>
                </a:solidFill>
                <a:latin typeface="Helvetica Neue"/>
                <a:ea typeface="Helvetica Neue"/>
                <a:cs typeface="Helvetica Neue"/>
              </a:defRPr>
            </a:lvl9pPr>
          </a:lstStyle>
          <a:p xmlns:a="http://schemas.openxmlformats.org/drawingml/2006/main">
            <a:pPr>
              <a:defRPr sz="1875" b="0">
                <a:solidFill>
                  <a:srgbClr val="BABDB0"/>
                </a:solidFill>
                <a:latin typeface="Helvetica Neue"/>
                <a:ea typeface="Helvetica Neue"/>
                <a:cs typeface="Helvetica Neue"/>
              </a:defRPr>
            </a:pPr>
            <a:r>
              <a:rPr sz="1875" b="0">
                <a:solidFill>
                  <a:srgbClr val="BABDB0"/>
                </a:solidFill>
                <a:latin typeface="Helvetica Neue"/>
                <a:ea typeface="Helvetica Neue"/>
                <a:cs typeface="Helvetica Neue"/>
              </a:rPr>
              <a:t>Headroom can support added work only if memory, load, facility and service tests permit.</a:t>
            </a:r>
          </a:p>
        </p:txBody>
      </p:sp>
      <p:sp>
        <p:nvSpPr>
          <p:cNvPr id="8" name="">
            <a:extLst xmlns:a="http://schemas.openxmlformats.org/drawingml/2006/main">
              <a:ext uri="{FF2B5EF4-FFF2-40B4-BE49-F238E27FC236}">
                <a16:creationId xmlns:a16="http://schemas.microsoft.com/office/drawing/2014/main" id="{7520105F-F406-45D3-AC50-1E153527F8BD}"/>
              </a:ext>
            </a:extLst>
          </p:cNvPr>
          <p:cNvSpPr>
            <a:spLocks xmlns:a="http://schemas.openxmlformats.org/drawingml/2006/main" noGrp="1"/>
          </p:cNvSpPr>
          <p:nvPr/>
        </p:nvSpPr>
        <p:spPr>
          <a:xfrm xmlns:a="http://schemas.openxmlformats.org/drawingml/2006/main">
            <a:off x="6419850" y="2486025"/>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EE6758"/>
                </a:solidFill>
                <a:latin typeface="Helvetica Neue"/>
                <a:ea typeface="Helvetica Neue"/>
                <a:cs typeface="Helvetica Neue"/>
              </a:defRPr>
            </a:defPPr>
            <a:lvl1pPr>
              <a:defRPr sz="2400" b="1">
                <a:solidFill>
                  <a:srgbClr val="EE6758"/>
                </a:solidFill>
                <a:latin typeface="Helvetica Neue"/>
                <a:ea typeface="Helvetica Neue"/>
                <a:cs typeface="Helvetica Neue"/>
              </a:defRPr>
            </a:lvl1pPr>
            <a:lvl2pPr>
              <a:defRPr sz="2400" b="1">
                <a:solidFill>
                  <a:srgbClr val="EE6758"/>
                </a:solidFill>
                <a:latin typeface="Helvetica Neue"/>
                <a:ea typeface="Helvetica Neue"/>
                <a:cs typeface="Helvetica Neue"/>
              </a:defRPr>
            </a:lvl2pPr>
            <a:lvl3pPr>
              <a:defRPr sz="2400" b="1">
                <a:solidFill>
                  <a:srgbClr val="EE6758"/>
                </a:solidFill>
                <a:latin typeface="Helvetica Neue"/>
                <a:ea typeface="Helvetica Neue"/>
                <a:cs typeface="Helvetica Neue"/>
              </a:defRPr>
            </a:lvl3pPr>
            <a:lvl4pPr>
              <a:defRPr sz="2400" b="1">
                <a:solidFill>
                  <a:srgbClr val="EE6758"/>
                </a:solidFill>
                <a:latin typeface="Helvetica Neue"/>
                <a:ea typeface="Helvetica Neue"/>
                <a:cs typeface="Helvetica Neue"/>
              </a:defRPr>
            </a:lvl4pPr>
            <a:lvl5pPr>
              <a:defRPr sz="2400" b="1">
                <a:solidFill>
                  <a:srgbClr val="EE6758"/>
                </a:solidFill>
                <a:latin typeface="Helvetica Neue"/>
                <a:ea typeface="Helvetica Neue"/>
                <a:cs typeface="Helvetica Neue"/>
              </a:defRPr>
            </a:lvl5pPr>
            <a:lvl6pPr>
              <a:defRPr sz="2400" b="1">
                <a:solidFill>
                  <a:srgbClr val="EE6758"/>
                </a:solidFill>
                <a:latin typeface="Helvetica Neue"/>
                <a:ea typeface="Helvetica Neue"/>
                <a:cs typeface="Helvetica Neue"/>
              </a:defRPr>
            </a:lvl6pPr>
            <a:lvl7pPr>
              <a:defRPr sz="2400" b="1">
                <a:solidFill>
                  <a:srgbClr val="EE6758"/>
                </a:solidFill>
                <a:latin typeface="Helvetica Neue"/>
                <a:ea typeface="Helvetica Neue"/>
                <a:cs typeface="Helvetica Neue"/>
              </a:defRPr>
            </a:lvl7pPr>
            <a:lvl8pPr>
              <a:defRPr sz="2400" b="1">
                <a:solidFill>
                  <a:srgbClr val="EE6758"/>
                </a:solidFill>
                <a:latin typeface="Helvetica Neue"/>
                <a:ea typeface="Helvetica Neue"/>
                <a:cs typeface="Helvetica Neue"/>
              </a:defRPr>
            </a:lvl8pPr>
            <a:lvl9pPr>
              <a:defRPr sz="2400" b="1">
                <a:solidFill>
                  <a:srgbClr val="EE6758"/>
                </a:solidFill>
                <a:latin typeface="Helvetica Neue"/>
                <a:ea typeface="Helvetica Neue"/>
                <a:cs typeface="Helvetica Neue"/>
              </a:defRPr>
            </a:lvl9pPr>
          </a:lstStyle>
          <a:p xmlns:a="http://schemas.openxmlformats.org/drawingml/2006/main">
            <a:pPr>
              <a:defRPr sz="2400" b="1">
                <a:solidFill>
                  <a:srgbClr val="EE6758"/>
                </a:solidFill>
                <a:latin typeface="Helvetica Neue"/>
                <a:ea typeface="Helvetica Neue"/>
                <a:cs typeface="Helvetica Neue"/>
              </a:defRPr>
            </a:pPr>
            <a:r>
              <a:rPr sz="2400" b="1">
                <a:solidFill>
                  <a:srgbClr val="EE6758"/>
                </a:solidFill>
                <a:latin typeface="Helvetica Neue"/>
                <a:ea typeface="Helvetica Neue"/>
                <a:cs typeface="Helvetica Neue"/>
              </a:rPr>
              <a:t>Reserved or rented capacity</a:t>
            </a:r>
          </a:p>
        </p:txBody>
      </p:sp>
      <p:sp>
        <p:nvSpPr>
          <p:cNvPr id="9" name="">
            <a:extLst xmlns:a="http://schemas.openxmlformats.org/drawingml/2006/main">
              <a:ext uri="{FF2B5EF4-FFF2-40B4-BE49-F238E27FC236}">
                <a16:creationId xmlns:a16="http://schemas.microsoft.com/office/drawing/2014/main" id="{52A9FCDC-B6B7-4174-A6B3-1091C41B6D45}"/>
              </a:ext>
            </a:extLst>
          </p:cNvPr>
          <p:cNvSpPr>
            <a:spLocks xmlns:a="http://schemas.openxmlformats.org/drawingml/2006/main" noGrp="1"/>
          </p:cNvSpPr>
          <p:nvPr/>
        </p:nvSpPr>
        <p:spPr>
          <a:xfrm xmlns:a="http://schemas.openxmlformats.org/drawingml/2006/main">
            <a:off x="6419850" y="3067050"/>
            <a:ext cx="4953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4F3EB"/>
                </a:solidFill>
                <a:latin typeface="Helvetica Neue"/>
                <a:ea typeface="Helvetica Neue"/>
                <a:cs typeface="Helvetica Neue"/>
              </a:defRPr>
            </a:defPPr>
            <a:lvl1pPr>
              <a:defRPr sz="2100" b="0">
                <a:solidFill>
                  <a:srgbClr val="F4F3EB"/>
                </a:solidFill>
                <a:latin typeface="Helvetica Neue"/>
                <a:ea typeface="Helvetica Neue"/>
                <a:cs typeface="Helvetica Neue"/>
              </a:defRPr>
            </a:lvl1pPr>
            <a:lvl2pPr>
              <a:defRPr sz="2100" b="0">
                <a:solidFill>
                  <a:srgbClr val="F4F3EB"/>
                </a:solidFill>
                <a:latin typeface="Helvetica Neue"/>
                <a:ea typeface="Helvetica Neue"/>
                <a:cs typeface="Helvetica Neue"/>
              </a:defRPr>
            </a:lvl2pPr>
            <a:lvl3pPr>
              <a:defRPr sz="2100" b="0">
                <a:solidFill>
                  <a:srgbClr val="F4F3EB"/>
                </a:solidFill>
                <a:latin typeface="Helvetica Neue"/>
                <a:ea typeface="Helvetica Neue"/>
                <a:cs typeface="Helvetica Neue"/>
              </a:defRPr>
            </a:lvl3pPr>
            <a:lvl4pPr>
              <a:defRPr sz="2100" b="0">
                <a:solidFill>
                  <a:srgbClr val="F4F3EB"/>
                </a:solidFill>
                <a:latin typeface="Helvetica Neue"/>
                <a:ea typeface="Helvetica Neue"/>
                <a:cs typeface="Helvetica Neue"/>
              </a:defRPr>
            </a:lvl4pPr>
            <a:lvl5pPr>
              <a:defRPr sz="2100" b="0">
                <a:solidFill>
                  <a:srgbClr val="F4F3EB"/>
                </a:solidFill>
                <a:latin typeface="Helvetica Neue"/>
                <a:ea typeface="Helvetica Neue"/>
                <a:cs typeface="Helvetica Neue"/>
              </a:defRPr>
            </a:lvl5pPr>
            <a:lvl6pPr>
              <a:defRPr sz="2100" b="0">
                <a:solidFill>
                  <a:srgbClr val="F4F3EB"/>
                </a:solidFill>
                <a:latin typeface="Helvetica Neue"/>
                <a:ea typeface="Helvetica Neue"/>
                <a:cs typeface="Helvetica Neue"/>
              </a:defRPr>
            </a:lvl6pPr>
            <a:lvl7pPr>
              <a:defRPr sz="2100" b="0">
                <a:solidFill>
                  <a:srgbClr val="F4F3EB"/>
                </a:solidFill>
                <a:latin typeface="Helvetica Neue"/>
                <a:ea typeface="Helvetica Neue"/>
                <a:cs typeface="Helvetica Neue"/>
              </a:defRPr>
            </a:lvl7pPr>
            <a:lvl8pPr>
              <a:defRPr sz="2100" b="0">
                <a:solidFill>
                  <a:srgbClr val="F4F3EB"/>
                </a:solidFill>
                <a:latin typeface="Helvetica Neue"/>
                <a:ea typeface="Helvetica Neue"/>
                <a:cs typeface="Helvetica Neue"/>
              </a:defRPr>
            </a:lvl8pPr>
            <a:lvl9pPr>
              <a:defRPr sz="2100" b="0">
                <a:solidFill>
                  <a:srgbClr val="F4F3EB"/>
                </a:solidFill>
                <a:latin typeface="Helvetica Neue"/>
                <a:ea typeface="Helvetica Neue"/>
                <a:cs typeface="Helvetica Neue"/>
              </a:defRPr>
            </a:lvl9pPr>
          </a:lstStyle>
          <a:p xmlns:a="http://schemas.openxmlformats.org/drawingml/2006/main">
            <a:pPr>
              <a:defRPr sz="2100" b="0">
                <a:solidFill>
                  <a:srgbClr val="F4F3EB"/>
                </a:solidFill>
                <a:latin typeface="Helvetica Neue"/>
                <a:ea typeface="Helvetica Neue"/>
                <a:cs typeface="Helvetica Neue"/>
              </a:defRPr>
            </a:pPr>
            <a:r>
              <a:rPr sz="2100" b="0">
                <a:solidFill>
                  <a:srgbClr val="F4F3EB"/>
                </a:solidFill>
                <a:latin typeface="Helvetica Neue"/>
                <a:ea typeface="Helvetica Neue"/>
                <a:cs typeface="Helvetica Neue"/>
              </a:rPr>
              <a:t>Bills fall only when lower use changes billed consumption or a commercial commitment.</a:t>
            </a:r>
          </a:p>
        </p:txBody>
      </p:sp>
      <p:sp>
        <p:nvSpPr>
          <p:cNvPr id="10" name="">
            <a:extLst xmlns:a="http://schemas.openxmlformats.org/drawingml/2006/main">
              <a:ext uri="{FF2B5EF4-FFF2-40B4-BE49-F238E27FC236}">
                <a16:creationId xmlns:a16="http://schemas.microsoft.com/office/drawing/2014/main" id="{CAABBB6E-C2F9-4A1C-978E-5D1C85B1CF35}"/>
              </a:ext>
            </a:extLst>
          </p:cNvPr>
          <p:cNvSpPr>
            <a:spLocks xmlns:a="http://schemas.openxmlformats.org/drawingml/2006/main" noGrp="1"/>
          </p:cNvSpPr>
          <p:nvPr/>
        </p:nvSpPr>
        <p:spPr>
          <a:xfrm xmlns:a="http://schemas.openxmlformats.org/drawingml/2006/main">
            <a:off x="6419850" y="4305300"/>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ABDB0"/>
                </a:solidFill>
                <a:latin typeface="Helvetica Neue"/>
                <a:ea typeface="Helvetica Neue"/>
                <a:cs typeface="Helvetica Neue"/>
              </a:defRPr>
            </a:defPPr>
            <a:lvl1pPr>
              <a:defRPr sz="1875" b="0">
                <a:solidFill>
                  <a:srgbClr val="BABDB0"/>
                </a:solidFill>
                <a:latin typeface="Helvetica Neue"/>
                <a:ea typeface="Helvetica Neue"/>
                <a:cs typeface="Helvetica Neue"/>
              </a:defRPr>
            </a:lvl1pPr>
            <a:lvl2pPr>
              <a:defRPr sz="1875" b="0">
                <a:solidFill>
                  <a:srgbClr val="BABDB0"/>
                </a:solidFill>
                <a:latin typeface="Helvetica Neue"/>
                <a:ea typeface="Helvetica Neue"/>
                <a:cs typeface="Helvetica Neue"/>
              </a:defRPr>
            </a:lvl2pPr>
            <a:lvl3pPr>
              <a:defRPr sz="1875" b="0">
                <a:solidFill>
                  <a:srgbClr val="BABDB0"/>
                </a:solidFill>
                <a:latin typeface="Helvetica Neue"/>
                <a:ea typeface="Helvetica Neue"/>
                <a:cs typeface="Helvetica Neue"/>
              </a:defRPr>
            </a:lvl3pPr>
            <a:lvl4pPr>
              <a:defRPr sz="1875" b="0">
                <a:solidFill>
                  <a:srgbClr val="BABDB0"/>
                </a:solidFill>
                <a:latin typeface="Helvetica Neue"/>
                <a:ea typeface="Helvetica Neue"/>
                <a:cs typeface="Helvetica Neue"/>
              </a:defRPr>
            </a:lvl4pPr>
            <a:lvl5pPr>
              <a:defRPr sz="1875" b="0">
                <a:solidFill>
                  <a:srgbClr val="BABDB0"/>
                </a:solidFill>
                <a:latin typeface="Helvetica Neue"/>
                <a:ea typeface="Helvetica Neue"/>
                <a:cs typeface="Helvetica Neue"/>
              </a:defRPr>
            </a:lvl5pPr>
            <a:lvl6pPr>
              <a:defRPr sz="1875" b="0">
                <a:solidFill>
                  <a:srgbClr val="BABDB0"/>
                </a:solidFill>
                <a:latin typeface="Helvetica Neue"/>
                <a:ea typeface="Helvetica Neue"/>
                <a:cs typeface="Helvetica Neue"/>
              </a:defRPr>
            </a:lvl6pPr>
            <a:lvl7pPr>
              <a:defRPr sz="1875" b="0">
                <a:solidFill>
                  <a:srgbClr val="BABDB0"/>
                </a:solidFill>
                <a:latin typeface="Helvetica Neue"/>
                <a:ea typeface="Helvetica Neue"/>
                <a:cs typeface="Helvetica Neue"/>
              </a:defRPr>
            </a:lvl7pPr>
            <a:lvl8pPr>
              <a:defRPr sz="1875" b="0">
                <a:solidFill>
                  <a:srgbClr val="BABDB0"/>
                </a:solidFill>
                <a:latin typeface="Helvetica Neue"/>
                <a:ea typeface="Helvetica Neue"/>
                <a:cs typeface="Helvetica Neue"/>
              </a:defRPr>
            </a:lvl8pPr>
            <a:lvl9pPr>
              <a:defRPr sz="1875" b="0">
                <a:solidFill>
                  <a:srgbClr val="BABDB0"/>
                </a:solidFill>
                <a:latin typeface="Helvetica Neue"/>
                <a:ea typeface="Helvetica Neue"/>
                <a:cs typeface="Helvetica Neue"/>
              </a:defRPr>
            </a:lvl9pPr>
          </a:lstStyle>
          <a:p xmlns:a="http://schemas.openxmlformats.org/drawingml/2006/main">
            <a:pPr>
              <a:defRPr sz="1875" b="0">
                <a:solidFill>
                  <a:srgbClr val="BABDB0"/>
                </a:solidFill>
                <a:latin typeface="Helvetica Neue"/>
                <a:ea typeface="Helvetica Neue"/>
                <a:cs typeface="Helvetica Neue"/>
              </a:defRPr>
            </a:pPr>
            <a:r>
              <a:rPr sz="1875" b="0">
                <a:solidFill>
                  <a:srgbClr val="BABDB0"/>
                </a:solidFill>
                <a:latin typeface="Helvetica Neue"/>
                <a:ea typeface="Helvetica Neue"/>
                <a:cs typeface="Helvetica Neue"/>
              </a:rPr>
              <a:t>When actual use is below the minimum, further reductions may not reduce billed consumption.</a:t>
            </a:r>
          </a:p>
        </p:txBody>
      </p:sp>
      <p:sp>
        <p:nvSpPr>
          <p:cNvPr id="11" name="">
            <a:extLst xmlns:a="http://schemas.openxmlformats.org/drawingml/2006/main">
              <a:ext uri="{FF2B5EF4-FFF2-40B4-BE49-F238E27FC236}">
                <a16:creationId xmlns:a16="http://schemas.microsoft.com/office/drawing/2014/main" id="{273B9575-BD40-44E4-B95F-113C4CD49962}"/>
              </a:ext>
            </a:extLst>
          </p:cNvPr>
          <p:cNvSpPr>
            <a:spLocks xmlns:a="http://schemas.openxmlformats.org/drawingml/2006/main" noGrp="1"/>
          </p:cNvSpPr>
          <p:nvPr/>
        </p:nvSpPr>
        <p:spPr>
          <a:xfrm xmlns:a="http://schemas.openxmlformats.org/drawingml/2006/main">
            <a:off x="609600" y="5534025"/>
            <a:ext cx="10715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F4F3EB"/>
                </a:solidFill>
                <a:latin typeface="Helvetica Neue"/>
                <a:ea typeface="Helvetica Neue"/>
                <a:cs typeface="Helvetica Neue"/>
              </a:defRPr>
            </a:defPPr>
            <a:lvl1pPr>
              <a:defRPr sz="1950" b="1">
                <a:solidFill>
                  <a:srgbClr val="F4F3EB"/>
                </a:solidFill>
                <a:latin typeface="Helvetica Neue"/>
                <a:ea typeface="Helvetica Neue"/>
                <a:cs typeface="Helvetica Neue"/>
              </a:defRPr>
            </a:lvl1pPr>
            <a:lvl2pPr>
              <a:defRPr sz="1950" b="1">
                <a:solidFill>
                  <a:srgbClr val="F4F3EB"/>
                </a:solidFill>
                <a:latin typeface="Helvetica Neue"/>
                <a:ea typeface="Helvetica Neue"/>
                <a:cs typeface="Helvetica Neue"/>
              </a:defRPr>
            </a:lvl2pPr>
            <a:lvl3pPr>
              <a:defRPr sz="1950" b="1">
                <a:solidFill>
                  <a:srgbClr val="F4F3EB"/>
                </a:solidFill>
                <a:latin typeface="Helvetica Neue"/>
                <a:ea typeface="Helvetica Neue"/>
                <a:cs typeface="Helvetica Neue"/>
              </a:defRPr>
            </a:lvl3pPr>
            <a:lvl4pPr>
              <a:defRPr sz="1950" b="1">
                <a:solidFill>
                  <a:srgbClr val="F4F3EB"/>
                </a:solidFill>
                <a:latin typeface="Helvetica Neue"/>
                <a:ea typeface="Helvetica Neue"/>
                <a:cs typeface="Helvetica Neue"/>
              </a:defRPr>
            </a:lvl4pPr>
            <a:lvl5pPr>
              <a:defRPr sz="1950" b="1">
                <a:solidFill>
                  <a:srgbClr val="F4F3EB"/>
                </a:solidFill>
                <a:latin typeface="Helvetica Neue"/>
                <a:ea typeface="Helvetica Neue"/>
                <a:cs typeface="Helvetica Neue"/>
              </a:defRPr>
            </a:lvl5pPr>
            <a:lvl6pPr>
              <a:defRPr sz="1950" b="1">
                <a:solidFill>
                  <a:srgbClr val="F4F3EB"/>
                </a:solidFill>
                <a:latin typeface="Helvetica Neue"/>
                <a:ea typeface="Helvetica Neue"/>
                <a:cs typeface="Helvetica Neue"/>
              </a:defRPr>
            </a:lvl6pPr>
            <a:lvl7pPr>
              <a:defRPr sz="1950" b="1">
                <a:solidFill>
                  <a:srgbClr val="F4F3EB"/>
                </a:solidFill>
                <a:latin typeface="Helvetica Neue"/>
                <a:ea typeface="Helvetica Neue"/>
                <a:cs typeface="Helvetica Neue"/>
              </a:defRPr>
            </a:lvl7pPr>
            <a:lvl8pPr>
              <a:defRPr sz="1950" b="1">
                <a:solidFill>
                  <a:srgbClr val="F4F3EB"/>
                </a:solidFill>
                <a:latin typeface="Helvetica Neue"/>
                <a:ea typeface="Helvetica Neue"/>
                <a:cs typeface="Helvetica Neue"/>
              </a:defRPr>
            </a:lvl8pPr>
            <a:lvl9pPr>
              <a:defRPr sz="1950" b="1">
                <a:solidFill>
                  <a:srgbClr val="F4F3EB"/>
                </a:solidFill>
                <a:latin typeface="Helvetica Neue"/>
                <a:ea typeface="Helvetica Neue"/>
                <a:cs typeface="Helvetica Neue"/>
              </a:defRPr>
            </a:lvl9pPr>
          </a:lstStyle>
          <a:p xmlns:a="http://schemas.openxmlformats.org/drawingml/2006/main">
            <a:pPr>
              <a:defRPr sz="1950" b="1">
                <a:solidFill>
                  <a:srgbClr val="F4F3EB"/>
                </a:solidFill>
                <a:latin typeface="Helvetica Neue"/>
                <a:ea typeface="Helvetica Neue"/>
                <a:cs typeface="Helvetica Neue"/>
              </a:defRPr>
            </a:pPr>
            <a:r>
              <a:rPr sz="1950" b="1">
                <a:solidFill>
                  <a:srgbClr val="F4F3EB"/>
                </a:solidFill>
                <a:latin typeface="Helvetica Neue"/>
                <a:ea typeface="Helvetica Neue"/>
                <a:cs typeface="Helvetica Neue"/>
              </a:rPr>
              <a:t>Value energy savings and capacity separately; subtract fees and customer effort.</a:t>
            </a:r>
          </a:p>
        </p:txBody>
      </p:sp>
    </p:spTree>
    <p:extLst>
      <p:ext uri="{BB962C8B-B14F-4D97-AF65-F5344CB8AC3E}">
        <p14:creationId xmlns:p14="http://schemas.microsoft.com/office/powerpoint/2010/main" val="460362191"/>
      </p:ext>
    </p:extLst>
  </p:cSld>
</p:sld>
</file>

<file path=ppt/slides/slide10.xml><?xml version="1.0" encoding="utf-8"?>
<p:sld xmlns:p="http://schemas.openxmlformats.org/presentationml/2006/main">
  <p:cSld>
    <p:bg>
      <p:bgPr>
        <a:solidFill xmlns:a="http://schemas.openxmlformats.org/drawingml/2006/main">
          <a:srgbClr val="EEEEE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6178B97-F602-47B8-91D7-CB03DBEF9E9A}"/>
              </a:ext>
            </a:extLst>
          </p:cNvPr>
          <p:cNvSpPr>
            <a:spLocks xmlns:a="http://schemas.openxmlformats.org/drawingml/2006/main" noGrp="1"/>
          </p:cNvSpPr>
          <p:nvPr/>
        </p:nvSpPr>
        <p:spPr>
          <a:xfrm xmlns:a="http://schemas.openxmlformats.org/drawingml/2006/main">
            <a:off x="609600" y="3429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575E43"/>
                </a:solidFill>
                <a:latin typeface="Helvetica Neue"/>
                <a:ea typeface="Helvetica Neue"/>
                <a:cs typeface="Helvetica Neue"/>
              </a:defRPr>
            </a:defPPr>
            <a:lvl1pPr>
              <a:defRPr sz="1125" b="1">
                <a:solidFill>
                  <a:srgbClr val="575E43"/>
                </a:solidFill>
                <a:latin typeface="Helvetica Neue"/>
                <a:ea typeface="Helvetica Neue"/>
                <a:cs typeface="Helvetica Neue"/>
              </a:defRPr>
            </a:lvl1pPr>
            <a:lvl2pPr>
              <a:defRPr sz="1125" b="1">
                <a:solidFill>
                  <a:srgbClr val="575E43"/>
                </a:solidFill>
                <a:latin typeface="Helvetica Neue"/>
                <a:ea typeface="Helvetica Neue"/>
                <a:cs typeface="Helvetica Neue"/>
              </a:defRPr>
            </a:lvl2pPr>
            <a:lvl3pPr>
              <a:defRPr sz="1125" b="1">
                <a:solidFill>
                  <a:srgbClr val="575E43"/>
                </a:solidFill>
                <a:latin typeface="Helvetica Neue"/>
                <a:ea typeface="Helvetica Neue"/>
                <a:cs typeface="Helvetica Neue"/>
              </a:defRPr>
            </a:lvl3pPr>
            <a:lvl4pPr>
              <a:defRPr sz="1125" b="1">
                <a:solidFill>
                  <a:srgbClr val="575E43"/>
                </a:solidFill>
                <a:latin typeface="Helvetica Neue"/>
                <a:ea typeface="Helvetica Neue"/>
                <a:cs typeface="Helvetica Neue"/>
              </a:defRPr>
            </a:lvl4pPr>
            <a:lvl5pPr>
              <a:defRPr sz="1125" b="1">
                <a:solidFill>
                  <a:srgbClr val="575E43"/>
                </a:solidFill>
                <a:latin typeface="Helvetica Neue"/>
                <a:ea typeface="Helvetica Neue"/>
                <a:cs typeface="Helvetica Neue"/>
              </a:defRPr>
            </a:lvl5pPr>
            <a:lvl6pPr>
              <a:defRPr sz="1125" b="1">
                <a:solidFill>
                  <a:srgbClr val="575E43"/>
                </a:solidFill>
                <a:latin typeface="Helvetica Neue"/>
                <a:ea typeface="Helvetica Neue"/>
                <a:cs typeface="Helvetica Neue"/>
              </a:defRPr>
            </a:lvl6pPr>
            <a:lvl7pPr>
              <a:defRPr sz="1125" b="1">
                <a:solidFill>
                  <a:srgbClr val="575E43"/>
                </a:solidFill>
                <a:latin typeface="Helvetica Neue"/>
                <a:ea typeface="Helvetica Neue"/>
                <a:cs typeface="Helvetica Neue"/>
              </a:defRPr>
            </a:lvl7pPr>
            <a:lvl8pPr>
              <a:defRPr sz="1125" b="1">
                <a:solidFill>
                  <a:srgbClr val="575E43"/>
                </a:solidFill>
                <a:latin typeface="Helvetica Neue"/>
                <a:ea typeface="Helvetica Neue"/>
                <a:cs typeface="Helvetica Neue"/>
              </a:defRPr>
            </a:lvl8pPr>
            <a:lvl9pPr>
              <a:defRPr sz="1125" b="1">
                <a:solidFill>
                  <a:srgbClr val="575E43"/>
                </a:solidFill>
                <a:latin typeface="Helvetica Neue"/>
                <a:ea typeface="Helvetica Neue"/>
                <a:cs typeface="Helvetica Neue"/>
              </a:defRPr>
            </a:lvl9pPr>
          </a:lstStyle>
          <a:p xmlns:a="http://schemas.openxmlformats.org/drawingml/2006/main">
            <a:pPr>
              <a:defRPr sz="1125" b="1">
                <a:solidFill>
                  <a:srgbClr val="575E43"/>
                </a:solidFill>
                <a:latin typeface="Helvetica Neue"/>
                <a:ea typeface="Helvetica Neue"/>
                <a:cs typeface="Helvetica Neue"/>
              </a:defRPr>
            </a:pPr>
            <a:r>
              <a:rPr sz="1125" b="1">
                <a:solidFill>
                  <a:srgbClr val="575E43"/>
                </a:solidFill>
                <a:latin typeface="Helvetica Neue"/>
                <a:ea typeface="Helvetica Neue"/>
                <a:cs typeface="Helvetica Neue"/>
              </a:rPr>
              <a:t>ALTERNATIVES / EXISTING TOOLS</a:t>
            </a:r>
          </a:p>
        </p:txBody>
      </p:sp>
      <p:sp>
        <p:nvSpPr>
          <p:cNvPr id="2" name="">
            <a:extLst xmlns:a="http://schemas.openxmlformats.org/drawingml/2006/main">
              <a:ext uri="{FF2B5EF4-FFF2-40B4-BE49-F238E27FC236}">
                <a16:creationId xmlns:a16="http://schemas.microsoft.com/office/drawing/2014/main" id="{BF5923EF-495B-4747-A825-317BC87BE65D}"/>
              </a:ext>
            </a:extLst>
          </p:cNvPr>
          <p:cNvSpPr>
            <a:spLocks xmlns:a="http://schemas.openxmlformats.org/drawingml/2006/main" noGrp="1"/>
          </p:cNvSpPr>
          <p:nvPr/>
        </p:nvSpPr>
        <p:spPr>
          <a:xfrm xmlns:a="http://schemas.openxmlformats.org/drawingml/2006/main">
            <a:off x="609600" y="914400"/>
            <a:ext cx="109728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171A12"/>
                </a:solidFill>
                <a:latin typeface="Helvetica Neue"/>
                <a:ea typeface="Helvetica Neue"/>
                <a:cs typeface="Helvetica Neue"/>
              </a:defRPr>
            </a:defPPr>
            <a:lvl1pPr>
              <a:defRPr sz="3900" b="0">
                <a:solidFill>
                  <a:srgbClr val="171A12"/>
                </a:solidFill>
                <a:latin typeface="Helvetica Neue"/>
                <a:ea typeface="Helvetica Neue"/>
                <a:cs typeface="Helvetica Neue"/>
              </a:defRPr>
            </a:lvl1pPr>
            <a:lvl2pPr>
              <a:defRPr sz="3900" b="0">
                <a:solidFill>
                  <a:srgbClr val="171A12"/>
                </a:solidFill>
                <a:latin typeface="Helvetica Neue"/>
                <a:ea typeface="Helvetica Neue"/>
                <a:cs typeface="Helvetica Neue"/>
              </a:defRPr>
            </a:lvl2pPr>
            <a:lvl3pPr>
              <a:defRPr sz="3900" b="0">
                <a:solidFill>
                  <a:srgbClr val="171A12"/>
                </a:solidFill>
                <a:latin typeface="Helvetica Neue"/>
                <a:ea typeface="Helvetica Neue"/>
                <a:cs typeface="Helvetica Neue"/>
              </a:defRPr>
            </a:lvl3pPr>
            <a:lvl4pPr>
              <a:defRPr sz="3900" b="0">
                <a:solidFill>
                  <a:srgbClr val="171A12"/>
                </a:solidFill>
                <a:latin typeface="Helvetica Neue"/>
                <a:ea typeface="Helvetica Neue"/>
                <a:cs typeface="Helvetica Neue"/>
              </a:defRPr>
            </a:lvl4pPr>
            <a:lvl5pPr>
              <a:defRPr sz="3900" b="0">
                <a:solidFill>
                  <a:srgbClr val="171A12"/>
                </a:solidFill>
                <a:latin typeface="Helvetica Neue"/>
                <a:ea typeface="Helvetica Neue"/>
                <a:cs typeface="Helvetica Neue"/>
              </a:defRPr>
            </a:lvl5pPr>
            <a:lvl6pPr>
              <a:defRPr sz="3900" b="0">
                <a:solidFill>
                  <a:srgbClr val="171A12"/>
                </a:solidFill>
                <a:latin typeface="Helvetica Neue"/>
                <a:ea typeface="Helvetica Neue"/>
                <a:cs typeface="Helvetica Neue"/>
              </a:defRPr>
            </a:lvl6pPr>
            <a:lvl7pPr>
              <a:defRPr sz="3900" b="0">
                <a:solidFill>
                  <a:srgbClr val="171A12"/>
                </a:solidFill>
                <a:latin typeface="Helvetica Neue"/>
                <a:ea typeface="Helvetica Neue"/>
                <a:cs typeface="Helvetica Neue"/>
              </a:defRPr>
            </a:lvl7pPr>
            <a:lvl8pPr>
              <a:defRPr sz="3900" b="0">
                <a:solidFill>
                  <a:srgbClr val="171A12"/>
                </a:solidFill>
                <a:latin typeface="Helvetica Neue"/>
                <a:ea typeface="Helvetica Neue"/>
                <a:cs typeface="Helvetica Neue"/>
              </a:defRPr>
            </a:lvl8pPr>
            <a:lvl9pPr>
              <a:defRPr sz="3900" b="0">
                <a:solidFill>
                  <a:srgbClr val="171A12"/>
                </a:solidFill>
                <a:latin typeface="Helvetica Neue"/>
                <a:ea typeface="Helvetica Neue"/>
                <a:cs typeface="Helvetica Neue"/>
              </a:defRPr>
            </a:lvl9pPr>
          </a:lstStyle>
          <a:p xmlns:a="http://schemas.openxmlformats.org/drawingml/2006/main">
            <a:pPr>
              <a:defRPr sz="3900" b="0">
                <a:solidFill>
                  <a:srgbClr val="171A12"/>
                </a:solidFill>
                <a:latin typeface="Helvetica Neue"/>
                <a:ea typeface="Helvetica Neue"/>
                <a:cs typeface="Helvetica Neue"/>
              </a:defRPr>
            </a:pPr>
            <a:r>
              <a:rPr sz="3900" b="0">
                <a:solidFill>
                  <a:srgbClr val="171A12"/>
                </a:solidFill>
                <a:latin typeface="Helvetica Neue"/>
                <a:ea typeface="Helvetica Neue"/>
                <a:cs typeface="Helvetica Neue"/>
              </a:rPr>
              <a:t>Existing tools are inputs to the pilot</a:t>
            </a:r>
          </a:p>
        </p:txBody>
      </p:sp>
      <p:sp>
        <p:nvSpPr>
          <p:cNvPr id="3" name="">
            <a:extLst xmlns:a="http://schemas.openxmlformats.org/drawingml/2006/main">
              <a:ext uri="{FF2B5EF4-FFF2-40B4-BE49-F238E27FC236}">
                <a16:creationId xmlns:a16="http://schemas.microsoft.com/office/drawing/2014/main" id="{023CDD32-6DC0-4E62-B75C-50F43B0B560C}"/>
              </a:ext>
            </a:extLst>
          </p:cNvPr>
          <p:cNvSpPr>
            <a:spLocks xmlns:a="http://schemas.openxmlformats.org/drawingml/2006/main" noGrp="1"/>
          </p:cNvSpPr>
          <p:nvPr/>
        </p:nvSpPr>
        <p:spPr>
          <a:xfrm xmlns:a="http://schemas.openxmlformats.org/drawingml/2006/main">
            <a:off x="609600" y="644842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75E43"/>
                </a:solidFill>
                <a:latin typeface="Helvetica Neue"/>
                <a:ea typeface="Helvetica Neue"/>
                <a:cs typeface="Helvetica Neue"/>
              </a:defRPr>
            </a:defPPr>
            <a:lvl1pPr>
              <a:defRPr sz="900" b="0">
                <a:solidFill>
                  <a:srgbClr val="575E43"/>
                </a:solidFill>
                <a:latin typeface="Helvetica Neue"/>
                <a:ea typeface="Helvetica Neue"/>
                <a:cs typeface="Helvetica Neue"/>
              </a:defRPr>
            </a:lvl1pPr>
            <a:lvl2pPr>
              <a:defRPr sz="900" b="0">
                <a:solidFill>
                  <a:srgbClr val="575E43"/>
                </a:solidFill>
                <a:latin typeface="Helvetica Neue"/>
                <a:ea typeface="Helvetica Neue"/>
                <a:cs typeface="Helvetica Neue"/>
              </a:defRPr>
            </a:lvl2pPr>
            <a:lvl3pPr>
              <a:defRPr sz="900" b="0">
                <a:solidFill>
                  <a:srgbClr val="575E43"/>
                </a:solidFill>
                <a:latin typeface="Helvetica Neue"/>
                <a:ea typeface="Helvetica Neue"/>
                <a:cs typeface="Helvetica Neue"/>
              </a:defRPr>
            </a:lvl3pPr>
            <a:lvl4pPr>
              <a:defRPr sz="900" b="0">
                <a:solidFill>
                  <a:srgbClr val="575E43"/>
                </a:solidFill>
                <a:latin typeface="Helvetica Neue"/>
                <a:ea typeface="Helvetica Neue"/>
                <a:cs typeface="Helvetica Neue"/>
              </a:defRPr>
            </a:lvl4pPr>
            <a:lvl5pPr>
              <a:defRPr sz="900" b="0">
                <a:solidFill>
                  <a:srgbClr val="575E43"/>
                </a:solidFill>
                <a:latin typeface="Helvetica Neue"/>
                <a:ea typeface="Helvetica Neue"/>
                <a:cs typeface="Helvetica Neue"/>
              </a:defRPr>
            </a:lvl5pPr>
            <a:lvl6pPr>
              <a:defRPr sz="900" b="0">
                <a:solidFill>
                  <a:srgbClr val="575E43"/>
                </a:solidFill>
                <a:latin typeface="Helvetica Neue"/>
                <a:ea typeface="Helvetica Neue"/>
                <a:cs typeface="Helvetica Neue"/>
              </a:defRPr>
            </a:lvl6pPr>
            <a:lvl7pPr>
              <a:defRPr sz="900" b="0">
                <a:solidFill>
                  <a:srgbClr val="575E43"/>
                </a:solidFill>
                <a:latin typeface="Helvetica Neue"/>
                <a:ea typeface="Helvetica Neue"/>
                <a:cs typeface="Helvetica Neue"/>
              </a:defRPr>
            </a:lvl7pPr>
            <a:lvl8pPr>
              <a:defRPr sz="900" b="0">
                <a:solidFill>
                  <a:srgbClr val="575E43"/>
                </a:solidFill>
                <a:latin typeface="Helvetica Neue"/>
                <a:ea typeface="Helvetica Neue"/>
                <a:cs typeface="Helvetica Neue"/>
              </a:defRPr>
            </a:lvl8pPr>
            <a:lvl9pPr>
              <a:defRPr sz="900" b="0">
                <a:solidFill>
                  <a:srgbClr val="575E43"/>
                </a:solidFill>
                <a:latin typeface="Helvetica Neue"/>
                <a:ea typeface="Helvetica Neue"/>
                <a:cs typeface="Helvetica Neue"/>
              </a:defRPr>
            </a:lvl9pPr>
          </a:lstStyle>
          <a:p xmlns:a="http://schemas.openxmlformats.org/drawingml/2006/main">
            <a:pPr>
              <a:defRPr sz="900" b="0">
                <a:solidFill>
                  <a:srgbClr val="575E43"/>
                </a:solidFill>
                <a:latin typeface="Helvetica Neue"/>
                <a:ea typeface="Helvetica Neue"/>
                <a:cs typeface="Helvetica Neue"/>
              </a:defRPr>
            </a:pPr>
            <a:r>
              <a:rPr sz="900" b="0">
                <a:solidFill>
                  <a:srgbClr val="575E43"/>
                </a:solidFill>
                <a:latin typeface="Helvetica Neue"/>
                <a:ea typeface="Helvetica Neue"/>
                <a:cs typeface="Helvetica Neue"/>
              </a:rPr>
              <a:t>E FOR ENERGY</a:t>
            </a:r>
          </a:p>
        </p:txBody>
      </p:sp>
      <p:sp>
        <p:nvSpPr>
          <p:cNvPr id="4" name="">
            <a:extLst xmlns:a="http://schemas.openxmlformats.org/drawingml/2006/main">
              <a:ext uri="{FF2B5EF4-FFF2-40B4-BE49-F238E27FC236}">
                <a16:creationId xmlns:a16="http://schemas.microsoft.com/office/drawing/2014/main" id="{F40254FB-1EB9-4353-B04D-15602D99573D}"/>
              </a:ext>
            </a:extLst>
          </p:cNvPr>
          <p:cNvSpPr>
            <a:spLocks xmlns:a="http://schemas.openxmlformats.org/drawingml/2006/main" noGrp="1"/>
          </p:cNvSpPr>
          <p:nvPr/>
        </p:nvSpPr>
        <p:spPr>
          <a:xfrm xmlns:a="http://schemas.openxmlformats.org/drawingml/2006/main">
            <a:off x="11049000" y="64198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5E43"/>
                </a:solidFill>
                <a:latin typeface="Helvetica Neue"/>
                <a:ea typeface="Helvetica Neue"/>
                <a:cs typeface="Helvetica Neue"/>
              </a:defRPr>
            </a:defPPr>
            <a:lvl1pPr>
              <a:defRPr sz="1200" b="0">
                <a:solidFill>
                  <a:srgbClr val="575E43"/>
                </a:solidFill>
                <a:latin typeface="Helvetica Neue"/>
                <a:ea typeface="Helvetica Neue"/>
                <a:cs typeface="Helvetica Neue"/>
              </a:defRPr>
            </a:lvl1pPr>
            <a:lvl2pPr>
              <a:defRPr sz="1200" b="0">
                <a:solidFill>
                  <a:srgbClr val="575E43"/>
                </a:solidFill>
                <a:latin typeface="Helvetica Neue"/>
                <a:ea typeface="Helvetica Neue"/>
                <a:cs typeface="Helvetica Neue"/>
              </a:defRPr>
            </a:lvl2pPr>
            <a:lvl3pPr>
              <a:defRPr sz="1200" b="0">
                <a:solidFill>
                  <a:srgbClr val="575E43"/>
                </a:solidFill>
                <a:latin typeface="Helvetica Neue"/>
                <a:ea typeface="Helvetica Neue"/>
                <a:cs typeface="Helvetica Neue"/>
              </a:defRPr>
            </a:lvl3pPr>
            <a:lvl4pPr>
              <a:defRPr sz="1200" b="0">
                <a:solidFill>
                  <a:srgbClr val="575E43"/>
                </a:solidFill>
                <a:latin typeface="Helvetica Neue"/>
                <a:ea typeface="Helvetica Neue"/>
                <a:cs typeface="Helvetica Neue"/>
              </a:defRPr>
            </a:lvl4pPr>
            <a:lvl5pPr>
              <a:defRPr sz="1200" b="0">
                <a:solidFill>
                  <a:srgbClr val="575E43"/>
                </a:solidFill>
                <a:latin typeface="Helvetica Neue"/>
                <a:ea typeface="Helvetica Neue"/>
                <a:cs typeface="Helvetica Neue"/>
              </a:defRPr>
            </a:lvl5pPr>
            <a:lvl6pPr>
              <a:defRPr sz="1200" b="0">
                <a:solidFill>
                  <a:srgbClr val="575E43"/>
                </a:solidFill>
                <a:latin typeface="Helvetica Neue"/>
                <a:ea typeface="Helvetica Neue"/>
                <a:cs typeface="Helvetica Neue"/>
              </a:defRPr>
            </a:lvl6pPr>
            <a:lvl7pPr>
              <a:defRPr sz="1200" b="0">
                <a:solidFill>
                  <a:srgbClr val="575E43"/>
                </a:solidFill>
                <a:latin typeface="Helvetica Neue"/>
                <a:ea typeface="Helvetica Neue"/>
                <a:cs typeface="Helvetica Neue"/>
              </a:defRPr>
            </a:lvl7pPr>
            <a:lvl8pPr>
              <a:defRPr sz="1200" b="0">
                <a:solidFill>
                  <a:srgbClr val="575E43"/>
                </a:solidFill>
                <a:latin typeface="Helvetica Neue"/>
                <a:ea typeface="Helvetica Neue"/>
                <a:cs typeface="Helvetica Neue"/>
              </a:defRPr>
            </a:lvl8pPr>
            <a:lvl9pPr>
              <a:defRPr sz="1200" b="0">
                <a:solidFill>
                  <a:srgbClr val="575E43"/>
                </a:solidFill>
                <a:latin typeface="Helvetica Neue"/>
                <a:ea typeface="Helvetica Neue"/>
                <a:cs typeface="Helvetica Neue"/>
              </a:defRPr>
            </a:lvl9pPr>
          </a:lstStyle>
          <a:p xmlns:a="http://schemas.openxmlformats.org/drawingml/2006/main">
            <a:pPr>
              <a:defRPr sz="1200" b="0">
                <a:solidFill>
                  <a:srgbClr val="575E43"/>
                </a:solidFill>
                <a:latin typeface="Helvetica Neue"/>
                <a:ea typeface="Helvetica Neue"/>
                <a:cs typeface="Helvetica Neue"/>
              </a:defRPr>
            </a:pPr>
            <a:r>
              <a:rPr sz="1200" b="0">
                <a:solidFill>
                  <a:srgbClr val="575E43"/>
                </a:solidFill>
                <a:latin typeface="Helvetica Neue"/>
                <a:ea typeface="Helvetica Neue"/>
                <a:cs typeface="Helvetica Neue"/>
              </a:rPr>
              <a:t>10</a:t>
            </a:r>
          </a:p>
        </p:txBody>
      </p:sp>
      <p:graphicFrame>
        <p:nvGraphicFramePr>
          <p:cNvPr id="5" name="">
            <a:extLst xmlns:a="http://schemas.openxmlformats.org/drawingml/2006/main">
              <a:ext uri="{FF2B5EF4-FFF2-40B4-BE49-F238E27FC236}">
                <a16:creationId xmlns:a16="http://schemas.microsoft.com/office/drawing/2014/main" id="{1BE825D4-CA23-47D6-A849-5D285FB2E920}"/>
              </a:ext>
            </a:extLst>
          </p:cNvPr>
          <p:cNvGraphicFramePr/>
          <p:nvPr/>
        </p:nvGraphicFramePr>
        <p:xfrm>
          <a:off xmlns:a="http://schemas.openxmlformats.org/drawingml/2006/main" x="609600" y="2628900"/>
          <a:ext xmlns:a="http://schemas.openxmlformats.org/drawingml/2006/main" cx="10972800" cy="2362200"/>
        </p:xfrm>
        <a:graphic xmlns:a="http://schemas.openxmlformats.org/drawingml/2006/main">
          <a:graphicData uri="http://schemas.openxmlformats.org/drawingml/2006/table">
            <a:tbl>
              <a:tblPr/>
              <a:tblGrid>
                <a:gridCol w="2809875"/>
                <a:gridCol w="3857625"/>
                <a:gridCol w="4305300"/>
              </a:tblGrid>
              <a:tr h="590550">
                <a:tc>
                  <a:txBody>
                    <a:bodyPr/>
                    <a:lstStyle/>
                    <a:p>
                      <a:r>
                        <a:rPr sz="1500" b="1">
                          <a:solidFill>
                            <a:srgbClr val="F4F3EB"/>
                          </a:solidFill>
                          <a:latin typeface="Helvetica Neue"/>
                          <a:ea typeface="Helvetica Neue"/>
                          <a:cs typeface="Helvetica Neue"/>
                        </a:rPr>
                        <a:t>Tool or approach</a:t>
                      </a:r>
                    </a:p>
                  </a:txBody>
                  <a:tcPr marL="91440" marR="91440" marT="45720" marB="45720">
                    <a:lnL w="4763">
                      <a:solidFill>
                        <a:srgbClr val="C5C8B9"/>
                      </a:solidFill>
                      <a:prstDash val="solid"/>
                    </a:lnL>
                    <a:lnR w="4763">
                      <a:solidFill>
                        <a:srgbClr val="C5C8B9"/>
                      </a:solidFill>
                      <a:prstDash val="solid"/>
                    </a:lnR>
                    <a:lnT w="4763">
                      <a:solidFill>
                        <a:srgbClr val="C5C8B9"/>
                      </a:solidFill>
                      <a:prstDash val="solid"/>
                    </a:lnT>
                    <a:lnB w="4763">
                      <a:solidFill>
                        <a:srgbClr val="C5C8B9"/>
                      </a:solidFill>
                      <a:prstDash val="solid"/>
                    </a:lnB>
                    <a:solidFill>
                      <a:srgbClr val="24271D"/>
                    </a:solidFill>
                  </a:tcPr>
                </a:tc>
                <a:tc>
                  <a:txBody>
                    <a:bodyPr/>
                    <a:lstStyle/>
                    <a:p>
                      <a:r>
                        <a:rPr sz="1500" b="1">
                          <a:solidFill>
                            <a:srgbClr val="F4F3EB"/>
                          </a:solidFill>
                          <a:latin typeface="Helvetica Neue"/>
                          <a:ea typeface="Helvetica Neue"/>
                          <a:cs typeface="Helvetica Neue"/>
                        </a:rPr>
                        <a:t>Existing role</a:t>
                      </a:r>
                    </a:p>
                  </a:txBody>
                  <a:tcPr marL="91440" marR="91440" marT="45720" marB="45720">
                    <a:lnR w="4763">
                      <a:solidFill>
                        <a:srgbClr val="C5C8B9"/>
                      </a:solidFill>
                      <a:prstDash val="solid"/>
                    </a:lnR>
                    <a:lnT w="4763">
                      <a:solidFill>
                        <a:srgbClr val="C5C8B9"/>
                      </a:solidFill>
                      <a:prstDash val="solid"/>
                    </a:lnT>
                    <a:lnB w="4763">
                      <a:solidFill>
                        <a:srgbClr val="C5C8B9"/>
                      </a:solidFill>
                      <a:prstDash val="solid"/>
                    </a:lnB>
                    <a:solidFill>
                      <a:srgbClr val="24271D"/>
                    </a:solidFill>
                  </a:tcPr>
                </a:tc>
                <a:tc>
                  <a:txBody>
                    <a:bodyPr/>
                    <a:lstStyle/>
                    <a:p>
                      <a:r>
                        <a:rPr sz="1500" b="1">
                          <a:solidFill>
                            <a:srgbClr val="F4F3EB"/>
                          </a:solidFill>
                          <a:latin typeface="Helvetica Neue"/>
                          <a:ea typeface="Helvetica Neue"/>
                          <a:cs typeface="Helvetica Neue"/>
                        </a:rPr>
                        <a:t>What the pilot still tests</a:t>
                      </a:r>
                    </a:p>
                  </a:txBody>
                  <a:tcPr marL="91440" marR="91440" marT="45720" marB="45720">
                    <a:lnR w="4763">
                      <a:solidFill>
                        <a:srgbClr val="C5C8B9"/>
                      </a:solidFill>
                      <a:prstDash val="solid"/>
                    </a:lnR>
                    <a:lnT w="4763">
                      <a:solidFill>
                        <a:srgbClr val="C5C8B9"/>
                      </a:solidFill>
                      <a:prstDash val="solid"/>
                    </a:lnT>
                    <a:lnB w="4763">
                      <a:solidFill>
                        <a:srgbClr val="C5C8B9"/>
                      </a:solidFill>
                      <a:prstDash val="solid"/>
                    </a:lnB>
                    <a:solidFill>
                      <a:srgbClr val="24271D"/>
                    </a:solidFill>
                  </a:tcPr>
                </a:tc>
              </a:tr>
              <a:tr h="590550">
                <a:tc>
                  <a:txBody>
                    <a:bodyPr/>
                    <a:lstStyle/>
                    <a:p>
                      <a:r>
                        <a:rPr sz="1575" b="0">
                          <a:solidFill>
                            <a:srgbClr val="171A12"/>
                          </a:solidFill>
                          <a:latin typeface="Helvetica Neue"/>
                          <a:ea typeface="Helvetica Neue"/>
                          <a:cs typeface="Helvetica Neue"/>
                        </a:rPr>
                        <a:t>DCGM / serving telemetry</a:t>
                      </a:r>
                    </a:p>
                  </a:txBody>
                  <a:tcPr marL="91440" marR="91440" marT="45720" marB="45720">
                    <a:lnL w="4763">
                      <a:solidFill>
                        <a:srgbClr val="C5C8B9"/>
                      </a:solidFill>
                      <a:prstDash val="solid"/>
                    </a:lnL>
                    <a:lnR w="4763">
                      <a:solidFill>
                        <a:srgbClr val="C5C8B9"/>
                      </a:solidFill>
                      <a:prstDash val="solid"/>
                    </a:lnR>
                    <a:lnB w="4763">
                      <a:solidFill>
                        <a:srgbClr val="C5C8B9"/>
                      </a:solidFill>
                      <a:prstDash val="solid"/>
                    </a:lnB>
                    <a:solidFill>
                      <a:srgbClr val="EEEEE4"/>
                    </a:solidFill>
                  </a:tcPr>
                </a:tc>
                <a:tc>
                  <a:txBody>
                    <a:bodyPr/>
                    <a:lstStyle/>
                    <a:p>
                      <a:r>
                        <a:rPr sz="1575" b="0">
                          <a:solidFill>
                            <a:srgbClr val="171A12"/>
                          </a:solidFill>
                          <a:latin typeface="Helvetica Neue"/>
                          <a:ea typeface="Helvetica Neue"/>
                          <a:cs typeface="Helvetica Neue"/>
                        </a:rPr>
                        <a:t>GPU metrics and inference events</a:t>
                      </a:r>
                    </a:p>
                  </a:txBody>
                  <a:tcPr marL="91440" marR="91440" marT="45720" marB="45720">
                    <a:lnR w="4763">
                      <a:solidFill>
                        <a:srgbClr val="C5C8B9"/>
                      </a:solidFill>
                      <a:prstDash val="solid"/>
                    </a:lnR>
                    <a:lnB w="4763">
                      <a:solidFill>
                        <a:srgbClr val="C5C8B9"/>
                      </a:solidFill>
                      <a:prstDash val="solid"/>
                    </a:lnB>
                    <a:solidFill>
                      <a:srgbClr val="EEEEE4"/>
                    </a:solidFill>
                  </a:tcPr>
                </a:tc>
                <a:tc>
                  <a:txBody>
                    <a:bodyPr/>
                    <a:lstStyle/>
                    <a:p>
                      <a:r>
                        <a:rPr sz="1575" b="0">
                          <a:solidFill>
                            <a:srgbClr val="171A12"/>
                          </a:solidFill>
                          <a:latin typeface="Helvetica Neue"/>
                          <a:ea typeface="Helvetica Neue"/>
                          <a:cs typeface="Helvetica Neue"/>
                        </a:rPr>
                        <a:t>Link measurements to a customer workload and energy boundary</a:t>
                      </a:r>
                    </a:p>
                  </a:txBody>
                  <a:tcPr marL="91440" marR="91440" marT="45720" marB="45720">
                    <a:lnR w="4763">
                      <a:solidFill>
                        <a:srgbClr val="C5C8B9"/>
                      </a:solidFill>
                      <a:prstDash val="solid"/>
                    </a:lnR>
                    <a:lnB w="4763">
                      <a:solidFill>
                        <a:srgbClr val="C5C8B9"/>
                      </a:solidFill>
                      <a:prstDash val="solid"/>
                    </a:lnB>
                    <a:solidFill>
                      <a:srgbClr val="EEEEE4"/>
                    </a:solidFill>
                  </a:tcPr>
                </a:tc>
              </a:tr>
              <a:tr h="590550">
                <a:tc>
                  <a:txBody>
                    <a:bodyPr/>
                    <a:lstStyle/>
                    <a:p>
                      <a:r>
                        <a:rPr sz="1575" b="0">
                          <a:solidFill>
                            <a:srgbClr val="171A12"/>
                          </a:solidFill>
                          <a:latin typeface="Helvetica Neue"/>
                          <a:ea typeface="Helvetica Neue"/>
                          <a:cs typeface="Helvetica Neue"/>
                        </a:rPr>
                        <a:t>AIPerf / MLPerf</a:t>
                      </a:r>
                    </a:p>
                  </a:txBody>
                  <a:tcPr marL="91440" marR="91440" marT="45720" marB="45720">
                    <a:lnL w="4763">
                      <a:solidFill>
                        <a:srgbClr val="C5C8B9"/>
                      </a:solidFill>
                      <a:prstDash val="solid"/>
                    </a:lnL>
                    <a:lnR w="4763">
                      <a:solidFill>
                        <a:srgbClr val="C5C8B9"/>
                      </a:solidFill>
                      <a:prstDash val="solid"/>
                    </a:lnR>
                    <a:lnB w="4763">
                      <a:solidFill>
                        <a:srgbClr val="C5C8B9"/>
                      </a:solidFill>
                      <a:prstDash val="solid"/>
                    </a:lnB>
                    <a:solidFill>
                      <a:srgbClr val="EEEEE4"/>
                    </a:solidFill>
                  </a:tcPr>
                </a:tc>
                <a:tc>
                  <a:txBody>
                    <a:bodyPr/>
                    <a:lstStyle/>
                    <a:p>
                      <a:r>
                        <a:rPr sz="1575" b="0">
                          <a:solidFill>
                            <a:srgbClr val="171A12"/>
                          </a:solidFill>
                          <a:latin typeface="Helvetica Neue"/>
                          <a:ea typeface="Helvetica Neue"/>
                          <a:cs typeface="Helvetica Neue"/>
                        </a:rPr>
                        <a:t>Inference performance and benchmark methods</a:t>
                      </a:r>
                    </a:p>
                  </a:txBody>
                  <a:tcPr marL="91440" marR="91440" marT="45720" marB="45720">
                    <a:lnR w="4763">
                      <a:solidFill>
                        <a:srgbClr val="C5C8B9"/>
                      </a:solidFill>
                      <a:prstDash val="solid"/>
                    </a:lnR>
                    <a:lnB w="4763">
                      <a:solidFill>
                        <a:srgbClr val="C5C8B9"/>
                      </a:solidFill>
                      <a:prstDash val="solid"/>
                    </a:lnB>
                    <a:solidFill>
                      <a:srgbClr val="EEEEE4"/>
                    </a:solidFill>
                  </a:tcPr>
                </a:tc>
                <a:tc>
                  <a:txBody>
                    <a:bodyPr/>
                    <a:lstStyle/>
                    <a:p>
                      <a:r>
                        <a:rPr sz="1575" b="0">
                          <a:solidFill>
                            <a:srgbClr val="171A12"/>
                          </a:solidFill>
                          <a:latin typeface="Helvetica Neue"/>
                          <a:ea typeface="Helvetica Neue"/>
                          <a:cs typeface="Helvetica Neue"/>
                        </a:rPr>
                        <a:t>Representativeness for the buyer’s deployment</a:t>
                      </a:r>
                    </a:p>
                  </a:txBody>
                  <a:tcPr marL="91440" marR="91440" marT="45720" marB="45720">
                    <a:lnR w="4763">
                      <a:solidFill>
                        <a:srgbClr val="C5C8B9"/>
                      </a:solidFill>
                      <a:prstDash val="solid"/>
                    </a:lnR>
                    <a:lnB w="4763">
                      <a:solidFill>
                        <a:srgbClr val="C5C8B9"/>
                      </a:solidFill>
                      <a:prstDash val="solid"/>
                    </a:lnB>
                    <a:solidFill>
                      <a:srgbClr val="EEEEE4"/>
                    </a:solidFill>
                  </a:tcPr>
                </a:tc>
              </a:tr>
              <a:tr h="590550">
                <a:tc>
                  <a:txBody>
                    <a:bodyPr/>
                    <a:lstStyle/>
                    <a:p>
                      <a:r>
                        <a:rPr sz="1575" b="0">
                          <a:solidFill>
                            <a:srgbClr val="171A12"/>
                          </a:solidFill>
                          <a:latin typeface="Helvetica Neue"/>
                          <a:ea typeface="Helvetica Neue"/>
                          <a:cs typeface="Helvetica Neue"/>
                        </a:rPr>
                        <a:t>Zeus / internal engineering</a:t>
                      </a:r>
                    </a:p>
                  </a:txBody>
                  <a:tcPr marL="91440" marR="91440" marT="45720" marB="45720">
                    <a:lnL w="4763">
                      <a:solidFill>
                        <a:srgbClr val="C5C8B9"/>
                      </a:solidFill>
                      <a:prstDash val="solid"/>
                    </a:lnL>
                    <a:lnR w="4763">
                      <a:solidFill>
                        <a:srgbClr val="C5C8B9"/>
                      </a:solidFill>
                      <a:prstDash val="solid"/>
                    </a:lnR>
                    <a:lnB w="4763">
                      <a:solidFill>
                        <a:srgbClr val="C5C8B9"/>
                      </a:solidFill>
                      <a:prstDash val="solid"/>
                    </a:lnB>
                    <a:solidFill>
                      <a:srgbClr val="EEEEE4"/>
                    </a:solidFill>
                  </a:tcPr>
                </a:tc>
                <a:tc>
                  <a:txBody>
                    <a:bodyPr/>
                    <a:lstStyle/>
                    <a:p>
                      <a:r>
                        <a:rPr sz="1575" b="0">
                          <a:solidFill>
                            <a:srgbClr val="171A12"/>
                          </a:solidFill>
                          <a:latin typeface="Helvetica Neue"/>
                          <a:ea typeface="Helvetica Neue"/>
                          <a:cs typeface="Helvetica Neue"/>
                        </a:rPr>
                        <a:t>Energy measurement or configuration tuning</a:t>
                      </a:r>
                    </a:p>
                  </a:txBody>
                  <a:tcPr marL="91440" marR="91440" marT="45720" marB="45720">
                    <a:lnR w="4763">
                      <a:solidFill>
                        <a:srgbClr val="C5C8B9"/>
                      </a:solidFill>
                      <a:prstDash val="solid"/>
                    </a:lnR>
                    <a:lnB w="4763">
                      <a:solidFill>
                        <a:srgbClr val="C5C8B9"/>
                      </a:solidFill>
                      <a:prstDash val="solid"/>
                    </a:lnB>
                    <a:solidFill>
                      <a:srgbClr val="EEEEE4"/>
                    </a:solidFill>
                  </a:tcPr>
                </a:tc>
                <a:tc>
                  <a:txBody>
                    <a:bodyPr/>
                    <a:lstStyle/>
                    <a:p>
                      <a:r>
                        <a:rPr sz="1575" b="0">
                          <a:solidFill>
                            <a:srgbClr val="171A12"/>
                          </a:solidFill>
                          <a:latin typeface="Helvetica Neue"/>
                          <a:ea typeface="Helvetica Neue"/>
                          <a:cs typeface="Helvetica Neue"/>
                        </a:rPr>
                        <a:t>Adoption effort and net benefit in this workflow</a:t>
                      </a:r>
                    </a:p>
                  </a:txBody>
                  <a:tcPr marL="91440" marR="91440" marT="45720" marB="45720">
                    <a:lnR w="4763">
                      <a:solidFill>
                        <a:srgbClr val="C5C8B9"/>
                      </a:solidFill>
                      <a:prstDash val="solid"/>
                    </a:lnR>
                    <a:lnB w="4763">
                      <a:solidFill>
                        <a:srgbClr val="C5C8B9"/>
                      </a:solidFill>
                      <a:prstDash val="solid"/>
                    </a:lnB>
                    <a:solidFill>
                      <a:srgbClr val="EEEEE4"/>
                    </a:solidFill>
                  </a:tcPr>
                </a:tc>
              </a:tr>
            </a:tbl>
          </a:graphicData>
        </a:graphic>
      </p:graphicFrame>
      <p:sp>
        <p:nvSpPr>
          <p:cNvPr id="6" name="">
            <a:extLst xmlns:a="http://schemas.openxmlformats.org/drawingml/2006/main">
              <a:ext uri="{FF2B5EF4-FFF2-40B4-BE49-F238E27FC236}">
                <a16:creationId xmlns:a16="http://schemas.microsoft.com/office/drawing/2014/main" id="{407899B5-4861-4628-B46A-9FB5DBA90974}"/>
              </a:ext>
            </a:extLst>
          </p:cNvPr>
          <p:cNvSpPr>
            <a:spLocks xmlns:a="http://schemas.openxmlformats.org/drawingml/2006/main" noGrp="1"/>
          </p:cNvSpPr>
          <p:nvPr/>
        </p:nvSpPr>
        <p:spPr>
          <a:xfrm xmlns:a="http://schemas.openxmlformats.org/drawingml/2006/main">
            <a:off x="609600" y="52959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1A12"/>
                </a:solidFill>
                <a:latin typeface="Helvetica Neue"/>
                <a:ea typeface="Helvetica Neue"/>
                <a:cs typeface="Helvetica Neue"/>
              </a:defRPr>
            </a:defPPr>
            <a:lvl1pPr>
              <a:defRPr sz="1875" b="0">
                <a:solidFill>
                  <a:srgbClr val="171A12"/>
                </a:solidFill>
                <a:latin typeface="Helvetica Neue"/>
                <a:ea typeface="Helvetica Neue"/>
                <a:cs typeface="Helvetica Neue"/>
              </a:defRPr>
            </a:lvl1pPr>
            <a:lvl2pPr>
              <a:defRPr sz="1875" b="0">
                <a:solidFill>
                  <a:srgbClr val="171A12"/>
                </a:solidFill>
                <a:latin typeface="Helvetica Neue"/>
                <a:ea typeface="Helvetica Neue"/>
                <a:cs typeface="Helvetica Neue"/>
              </a:defRPr>
            </a:lvl2pPr>
            <a:lvl3pPr>
              <a:defRPr sz="1875" b="0">
                <a:solidFill>
                  <a:srgbClr val="171A12"/>
                </a:solidFill>
                <a:latin typeface="Helvetica Neue"/>
                <a:ea typeface="Helvetica Neue"/>
                <a:cs typeface="Helvetica Neue"/>
              </a:defRPr>
            </a:lvl3pPr>
            <a:lvl4pPr>
              <a:defRPr sz="1875" b="0">
                <a:solidFill>
                  <a:srgbClr val="171A12"/>
                </a:solidFill>
                <a:latin typeface="Helvetica Neue"/>
                <a:ea typeface="Helvetica Neue"/>
                <a:cs typeface="Helvetica Neue"/>
              </a:defRPr>
            </a:lvl4pPr>
            <a:lvl5pPr>
              <a:defRPr sz="1875" b="0">
                <a:solidFill>
                  <a:srgbClr val="171A12"/>
                </a:solidFill>
                <a:latin typeface="Helvetica Neue"/>
                <a:ea typeface="Helvetica Neue"/>
                <a:cs typeface="Helvetica Neue"/>
              </a:defRPr>
            </a:lvl5pPr>
            <a:lvl6pPr>
              <a:defRPr sz="1875" b="0">
                <a:solidFill>
                  <a:srgbClr val="171A12"/>
                </a:solidFill>
                <a:latin typeface="Helvetica Neue"/>
                <a:ea typeface="Helvetica Neue"/>
                <a:cs typeface="Helvetica Neue"/>
              </a:defRPr>
            </a:lvl6pPr>
            <a:lvl7pPr>
              <a:defRPr sz="1875" b="0">
                <a:solidFill>
                  <a:srgbClr val="171A12"/>
                </a:solidFill>
                <a:latin typeface="Helvetica Neue"/>
                <a:ea typeface="Helvetica Neue"/>
                <a:cs typeface="Helvetica Neue"/>
              </a:defRPr>
            </a:lvl7pPr>
            <a:lvl8pPr>
              <a:defRPr sz="1875" b="0">
                <a:solidFill>
                  <a:srgbClr val="171A12"/>
                </a:solidFill>
                <a:latin typeface="Helvetica Neue"/>
                <a:ea typeface="Helvetica Neue"/>
                <a:cs typeface="Helvetica Neue"/>
              </a:defRPr>
            </a:lvl8pPr>
            <a:lvl9pPr>
              <a:defRPr sz="1875" b="0">
                <a:solidFill>
                  <a:srgbClr val="171A12"/>
                </a:solidFill>
                <a:latin typeface="Helvetica Neue"/>
                <a:ea typeface="Helvetica Neue"/>
                <a:cs typeface="Helvetica Neue"/>
              </a:defRPr>
            </a:lvl9pPr>
          </a:lstStyle>
          <a:p xmlns:a="http://schemas.openxmlformats.org/drawingml/2006/main">
            <a:pPr>
              <a:defRPr sz="1875" b="0">
                <a:solidFill>
                  <a:srgbClr val="171A12"/>
                </a:solidFill>
                <a:latin typeface="Helvetica Neue"/>
                <a:ea typeface="Helvetica Neue"/>
                <a:cs typeface="Helvetica Neue"/>
              </a:defRPr>
            </a:pPr>
            <a:r>
              <a:rPr sz="1875" b="0">
                <a:solidFill>
                  <a:srgbClr val="171A12"/>
                </a:solidFill>
                <a:latin typeface="Helvetica Neue"/>
                <a:ea typeface="Helvetica Neue"/>
                <a:cs typeface="Helvetica Neue"/>
              </a:rPr>
              <a:t>Proposed value to test: customer-approved local measurement tied to a deployment decision.</a:t>
            </a:r>
          </a:p>
        </p:txBody>
      </p:sp>
      <p:sp>
        <p:nvSpPr>
          <p:cNvPr id="7" name="">
            <a:extLst xmlns:a="http://schemas.openxmlformats.org/drawingml/2006/main">
              <a:ext uri="{FF2B5EF4-FFF2-40B4-BE49-F238E27FC236}">
                <a16:creationId xmlns:a16="http://schemas.microsoft.com/office/drawing/2014/main" id="{67EA408C-A579-4A60-A51F-999497ABCC7E}"/>
              </a:ext>
            </a:extLst>
          </p:cNvPr>
          <p:cNvSpPr>
            <a:spLocks xmlns:a="http://schemas.openxmlformats.org/drawingml/2006/main" noGrp="1"/>
          </p:cNvSpPr>
          <p:nvPr/>
        </p:nvSpPr>
        <p:spPr>
          <a:xfrm xmlns:a="http://schemas.openxmlformats.org/drawingml/2006/main">
            <a:off x="609600" y="5943600"/>
            <a:ext cx="1093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75E43"/>
                </a:solidFill>
                <a:latin typeface="Helvetica Neue"/>
                <a:ea typeface="Helvetica Neue"/>
                <a:cs typeface="Helvetica Neue"/>
              </a:defRPr>
            </a:defPPr>
            <a:lvl1pPr>
              <a:defRPr sz="1275" b="0">
                <a:solidFill>
                  <a:srgbClr val="575E43"/>
                </a:solidFill>
                <a:latin typeface="Helvetica Neue"/>
                <a:ea typeface="Helvetica Neue"/>
                <a:cs typeface="Helvetica Neue"/>
              </a:defRPr>
            </a:lvl1pPr>
            <a:lvl2pPr>
              <a:defRPr sz="1275" b="0">
                <a:solidFill>
                  <a:srgbClr val="575E43"/>
                </a:solidFill>
                <a:latin typeface="Helvetica Neue"/>
                <a:ea typeface="Helvetica Neue"/>
                <a:cs typeface="Helvetica Neue"/>
              </a:defRPr>
            </a:lvl2pPr>
            <a:lvl3pPr>
              <a:defRPr sz="1275" b="0">
                <a:solidFill>
                  <a:srgbClr val="575E43"/>
                </a:solidFill>
                <a:latin typeface="Helvetica Neue"/>
                <a:ea typeface="Helvetica Neue"/>
                <a:cs typeface="Helvetica Neue"/>
              </a:defRPr>
            </a:lvl3pPr>
            <a:lvl4pPr>
              <a:defRPr sz="1275" b="0">
                <a:solidFill>
                  <a:srgbClr val="575E43"/>
                </a:solidFill>
                <a:latin typeface="Helvetica Neue"/>
                <a:ea typeface="Helvetica Neue"/>
                <a:cs typeface="Helvetica Neue"/>
              </a:defRPr>
            </a:lvl4pPr>
            <a:lvl5pPr>
              <a:defRPr sz="1275" b="0">
                <a:solidFill>
                  <a:srgbClr val="575E43"/>
                </a:solidFill>
                <a:latin typeface="Helvetica Neue"/>
                <a:ea typeface="Helvetica Neue"/>
                <a:cs typeface="Helvetica Neue"/>
              </a:defRPr>
            </a:lvl5pPr>
            <a:lvl6pPr>
              <a:defRPr sz="1275" b="0">
                <a:solidFill>
                  <a:srgbClr val="575E43"/>
                </a:solidFill>
                <a:latin typeface="Helvetica Neue"/>
                <a:ea typeface="Helvetica Neue"/>
                <a:cs typeface="Helvetica Neue"/>
              </a:defRPr>
            </a:lvl6pPr>
            <a:lvl7pPr>
              <a:defRPr sz="1275" b="0">
                <a:solidFill>
                  <a:srgbClr val="575E43"/>
                </a:solidFill>
                <a:latin typeface="Helvetica Neue"/>
                <a:ea typeface="Helvetica Neue"/>
                <a:cs typeface="Helvetica Neue"/>
              </a:defRPr>
            </a:lvl7pPr>
            <a:lvl8pPr>
              <a:defRPr sz="1275" b="0">
                <a:solidFill>
                  <a:srgbClr val="575E43"/>
                </a:solidFill>
                <a:latin typeface="Helvetica Neue"/>
                <a:ea typeface="Helvetica Neue"/>
                <a:cs typeface="Helvetica Neue"/>
              </a:defRPr>
            </a:lvl8pPr>
            <a:lvl9pPr>
              <a:defRPr sz="1275" b="0">
                <a:solidFill>
                  <a:srgbClr val="575E43"/>
                </a:solidFill>
                <a:latin typeface="Helvetica Neue"/>
                <a:ea typeface="Helvetica Neue"/>
                <a:cs typeface="Helvetica Neue"/>
              </a:defRPr>
            </a:lvl9pPr>
          </a:lstStyle>
          <a:p xmlns:a="http://schemas.openxmlformats.org/drawingml/2006/main">
            <a:pPr>
              <a:defRPr sz="1275" b="0">
                <a:solidFill>
                  <a:srgbClr val="575E43"/>
                </a:solidFill>
                <a:latin typeface="Helvetica Neue"/>
                <a:ea typeface="Helvetica Neue"/>
                <a:cs typeface="Helvetica Neue"/>
              </a:defRPr>
            </a:pPr>
            <a:r>
              <a:rPr sz="1275" b="0">
                <a:solidFill>
                  <a:srgbClr val="575E43"/>
                </a:solidFill>
                <a:latin typeface="Helvetica Neue"/>
                <a:ea typeface="Helvetica Neue"/>
                <a:cs typeface="Helvetica Neue"/>
              </a:rPr>
              <a:t>References: NVIDIA DCGM and AIPerf; MLCommons; Zeus</a:t>
            </a:r>
          </a:p>
        </p:txBody>
      </p:sp>
    </p:spTree>
    <p:extLst>
      <p:ext uri="{BB962C8B-B14F-4D97-AF65-F5344CB8AC3E}">
        <p14:creationId xmlns:p14="http://schemas.microsoft.com/office/powerpoint/2010/main" val="1266965343"/>
      </p:ext>
    </p:extLst>
  </p:cSld>
</p:sld>
</file>

<file path=ppt/slides/slide11.xml><?xml version="1.0" encoding="utf-8"?>
<p:sld xmlns:p="http://schemas.openxmlformats.org/presentationml/2006/main">
  <p:cSld>
    <p:bg>
      <p:bgPr>
        <a:solidFill xmlns:a="http://schemas.openxmlformats.org/drawingml/2006/main">
          <a:srgbClr val="11121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1DF052B-CF58-4162-93DD-C9E8A6F36BF3}"/>
              </a:ext>
            </a:extLst>
          </p:cNvPr>
          <p:cNvSpPr>
            <a:spLocks xmlns:a="http://schemas.openxmlformats.org/drawingml/2006/main" noGrp="1"/>
          </p:cNvSpPr>
          <p:nvPr/>
        </p:nvSpPr>
        <p:spPr>
          <a:xfrm xmlns:a="http://schemas.openxmlformats.org/drawingml/2006/main">
            <a:off x="609600" y="3429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FFDB24"/>
                </a:solidFill>
                <a:latin typeface="Helvetica Neue"/>
                <a:ea typeface="Helvetica Neue"/>
                <a:cs typeface="Helvetica Neue"/>
              </a:defRPr>
            </a:defPPr>
            <a:lvl1pPr>
              <a:defRPr sz="1125" b="1">
                <a:solidFill>
                  <a:srgbClr val="FFDB24"/>
                </a:solidFill>
                <a:latin typeface="Helvetica Neue"/>
                <a:ea typeface="Helvetica Neue"/>
                <a:cs typeface="Helvetica Neue"/>
              </a:defRPr>
            </a:lvl1pPr>
            <a:lvl2pPr>
              <a:defRPr sz="1125" b="1">
                <a:solidFill>
                  <a:srgbClr val="FFDB24"/>
                </a:solidFill>
                <a:latin typeface="Helvetica Neue"/>
                <a:ea typeface="Helvetica Neue"/>
                <a:cs typeface="Helvetica Neue"/>
              </a:defRPr>
            </a:lvl2pPr>
            <a:lvl3pPr>
              <a:defRPr sz="1125" b="1">
                <a:solidFill>
                  <a:srgbClr val="FFDB24"/>
                </a:solidFill>
                <a:latin typeface="Helvetica Neue"/>
                <a:ea typeface="Helvetica Neue"/>
                <a:cs typeface="Helvetica Neue"/>
              </a:defRPr>
            </a:lvl3pPr>
            <a:lvl4pPr>
              <a:defRPr sz="1125" b="1">
                <a:solidFill>
                  <a:srgbClr val="FFDB24"/>
                </a:solidFill>
                <a:latin typeface="Helvetica Neue"/>
                <a:ea typeface="Helvetica Neue"/>
                <a:cs typeface="Helvetica Neue"/>
              </a:defRPr>
            </a:lvl4pPr>
            <a:lvl5pPr>
              <a:defRPr sz="1125" b="1">
                <a:solidFill>
                  <a:srgbClr val="FFDB24"/>
                </a:solidFill>
                <a:latin typeface="Helvetica Neue"/>
                <a:ea typeface="Helvetica Neue"/>
                <a:cs typeface="Helvetica Neue"/>
              </a:defRPr>
            </a:lvl5pPr>
            <a:lvl6pPr>
              <a:defRPr sz="1125" b="1">
                <a:solidFill>
                  <a:srgbClr val="FFDB24"/>
                </a:solidFill>
                <a:latin typeface="Helvetica Neue"/>
                <a:ea typeface="Helvetica Neue"/>
                <a:cs typeface="Helvetica Neue"/>
              </a:defRPr>
            </a:lvl6pPr>
            <a:lvl7pPr>
              <a:defRPr sz="1125" b="1">
                <a:solidFill>
                  <a:srgbClr val="FFDB24"/>
                </a:solidFill>
                <a:latin typeface="Helvetica Neue"/>
                <a:ea typeface="Helvetica Neue"/>
                <a:cs typeface="Helvetica Neue"/>
              </a:defRPr>
            </a:lvl7pPr>
            <a:lvl8pPr>
              <a:defRPr sz="1125" b="1">
                <a:solidFill>
                  <a:srgbClr val="FFDB24"/>
                </a:solidFill>
                <a:latin typeface="Helvetica Neue"/>
                <a:ea typeface="Helvetica Neue"/>
                <a:cs typeface="Helvetica Neue"/>
              </a:defRPr>
            </a:lvl8pPr>
            <a:lvl9pPr>
              <a:defRPr sz="1125" b="1">
                <a:solidFill>
                  <a:srgbClr val="FFDB24"/>
                </a:solidFill>
                <a:latin typeface="Helvetica Neue"/>
                <a:ea typeface="Helvetica Neue"/>
                <a:cs typeface="Helvetica Neue"/>
              </a:defRPr>
            </a:lvl9pPr>
          </a:lstStyle>
          <a:p xmlns:a="http://schemas.openxmlformats.org/drawingml/2006/main">
            <a:pPr>
              <a:defRPr sz="1125" b="1">
                <a:solidFill>
                  <a:srgbClr val="FFDB24"/>
                </a:solidFill>
                <a:latin typeface="Helvetica Neue"/>
                <a:ea typeface="Helvetica Neue"/>
                <a:cs typeface="Helvetica Neue"/>
              </a:defRPr>
            </a:pPr>
            <a:r>
              <a:rPr sz="1125" b="1">
                <a:solidFill>
                  <a:srgbClr val="FFDB24"/>
                </a:solidFill>
                <a:latin typeface="Helvetica Neue"/>
                <a:ea typeface="Helvetica Neue"/>
                <a:cs typeface="Helvetica Neue"/>
              </a:rPr>
              <a:t>PROPOSED ENGAGEMENT / PILOT SCOPE</a:t>
            </a:r>
          </a:p>
        </p:txBody>
      </p:sp>
      <p:sp>
        <p:nvSpPr>
          <p:cNvPr id="2" name="">
            <a:extLst xmlns:a="http://schemas.openxmlformats.org/drawingml/2006/main">
              <a:ext uri="{FF2B5EF4-FFF2-40B4-BE49-F238E27FC236}">
                <a16:creationId xmlns:a16="http://schemas.microsoft.com/office/drawing/2014/main" id="{CB0D9FCA-216C-4772-84E3-F55AC6EF2F39}"/>
              </a:ext>
            </a:extLst>
          </p:cNvPr>
          <p:cNvSpPr>
            <a:spLocks xmlns:a="http://schemas.openxmlformats.org/drawingml/2006/main" noGrp="1"/>
          </p:cNvSpPr>
          <p:nvPr/>
        </p:nvSpPr>
        <p:spPr>
          <a:xfrm xmlns:a="http://schemas.openxmlformats.org/drawingml/2006/main">
            <a:off x="609600" y="914400"/>
            <a:ext cx="109728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F4F3EB"/>
                </a:solidFill>
                <a:latin typeface="Helvetica Neue"/>
                <a:ea typeface="Helvetica Neue"/>
                <a:cs typeface="Helvetica Neue"/>
              </a:defRPr>
            </a:defPPr>
            <a:lvl1pPr>
              <a:defRPr sz="3900" b="0">
                <a:solidFill>
                  <a:srgbClr val="F4F3EB"/>
                </a:solidFill>
                <a:latin typeface="Helvetica Neue"/>
                <a:ea typeface="Helvetica Neue"/>
                <a:cs typeface="Helvetica Neue"/>
              </a:defRPr>
            </a:lvl1pPr>
            <a:lvl2pPr>
              <a:defRPr sz="3900" b="0">
                <a:solidFill>
                  <a:srgbClr val="F4F3EB"/>
                </a:solidFill>
                <a:latin typeface="Helvetica Neue"/>
                <a:ea typeface="Helvetica Neue"/>
                <a:cs typeface="Helvetica Neue"/>
              </a:defRPr>
            </a:lvl2pPr>
            <a:lvl3pPr>
              <a:defRPr sz="3900" b="0">
                <a:solidFill>
                  <a:srgbClr val="F4F3EB"/>
                </a:solidFill>
                <a:latin typeface="Helvetica Neue"/>
                <a:ea typeface="Helvetica Neue"/>
                <a:cs typeface="Helvetica Neue"/>
              </a:defRPr>
            </a:lvl3pPr>
            <a:lvl4pPr>
              <a:defRPr sz="3900" b="0">
                <a:solidFill>
                  <a:srgbClr val="F4F3EB"/>
                </a:solidFill>
                <a:latin typeface="Helvetica Neue"/>
                <a:ea typeface="Helvetica Neue"/>
                <a:cs typeface="Helvetica Neue"/>
              </a:defRPr>
            </a:lvl4pPr>
            <a:lvl5pPr>
              <a:defRPr sz="3900" b="0">
                <a:solidFill>
                  <a:srgbClr val="F4F3EB"/>
                </a:solidFill>
                <a:latin typeface="Helvetica Neue"/>
                <a:ea typeface="Helvetica Neue"/>
                <a:cs typeface="Helvetica Neue"/>
              </a:defRPr>
            </a:lvl5pPr>
            <a:lvl6pPr>
              <a:defRPr sz="3900" b="0">
                <a:solidFill>
                  <a:srgbClr val="F4F3EB"/>
                </a:solidFill>
                <a:latin typeface="Helvetica Neue"/>
                <a:ea typeface="Helvetica Neue"/>
                <a:cs typeface="Helvetica Neue"/>
              </a:defRPr>
            </a:lvl6pPr>
            <a:lvl7pPr>
              <a:defRPr sz="3900" b="0">
                <a:solidFill>
                  <a:srgbClr val="F4F3EB"/>
                </a:solidFill>
                <a:latin typeface="Helvetica Neue"/>
                <a:ea typeface="Helvetica Neue"/>
                <a:cs typeface="Helvetica Neue"/>
              </a:defRPr>
            </a:lvl7pPr>
            <a:lvl8pPr>
              <a:defRPr sz="3900" b="0">
                <a:solidFill>
                  <a:srgbClr val="F4F3EB"/>
                </a:solidFill>
                <a:latin typeface="Helvetica Neue"/>
                <a:ea typeface="Helvetica Neue"/>
                <a:cs typeface="Helvetica Neue"/>
              </a:defRPr>
            </a:lvl8pPr>
            <a:lvl9pPr>
              <a:defRPr sz="3900" b="0">
                <a:solidFill>
                  <a:srgbClr val="F4F3EB"/>
                </a:solidFill>
                <a:latin typeface="Helvetica Neue"/>
                <a:ea typeface="Helvetica Neue"/>
                <a:cs typeface="Helvetica Neue"/>
              </a:defRPr>
            </a:lvl9pPr>
          </a:lstStyle>
          <a:p xmlns:a="http://schemas.openxmlformats.org/drawingml/2006/main">
            <a:pPr>
              <a:defRPr sz="3900" b="0">
                <a:solidFill>
                  <a:srgbClr val="F4F3EB"/>
                </a:solidFill>
                <a:latin typeface="Helvetica Neue"/>
                <a:ea typeface="Helvetica Neue"/>
                <a:cs typeface="Helvetica Neue"/>
              </a:defRPr>
            </a:pPr>
            <a:r>
              <a:rPr sz="3900" b="0">
                <a:solidFill>
                  <a:srgbClr val="F4F3EB"/>
                </a:solidFill>
                <a:latin typeface="Helvetica Neue"/>
                <a:ea typeface="Helvetica Neue"/>
                <a:cs typeface="Helvetica Neue"/>
              </a:rPr>
              <a:t>One sponsor, one deployment, one workload</a:t>
            </a:r>
          </a:p>
        </p:txBody>
      </p:sp>
      <p:sp>
        <p:nvSpPr>
          <p:cNvPr id="3" name="">
            <a:extLst xmlns:a="http://schemas.openxmlformats.org/drawingml/2006/main">
              <a:ext uri="{FF2B5EF4-FFF2-40B4-BE49-F238E27FC236}">
                <a16:creationId xmlns:a16="http://schemas.microsoft.com/office/drawing/2014/main" id="{7F14FA16-73B8-474A-93A5-8029E603E5DB}"/>
              </a:ext>
            </a:extLst>
          </p:cNvPr>
          <p:cNvSpPr>
            <a:spLocks xmlns:a="http://schemas.openxmlformats.org/drawingml/2006/main" noGrp="1"/>
          </p:cNvSpPr>
          <p:nvPr/>
        </p:nvSpPr>
        <p:spPr>
          <a:xfrm xmlns:a="http://schemas.openxmlformats.org/drawingml/2006/main">
            <a:off x="609600" y="644842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BABDB0"/>
                </a:solidFill>
                <a:latin typeface="Helvetica Neue"/>
                <a:ea typeface="Helvetica Neue"/>
                <a:cs typeface="Helvetica Neue"/>
              </a:defRPr>
            </a:defPPr>
            <a:lvl1pPr>
              <a:defRPr sz="900" b="0">
                <a:solidFill>
                  <a:srgbClr val="BABDB0"/>
                </a:solidFill>
                <a:latin typeface="Helvetica Neue"/>
                <a:ea typeface="Helvetica Neue"/>
                <a:cs typeface="Helvetica Neue"/>
              </a:defRPr>
            </a:lvl1pPr>
            <a:lvl2pPr>
              <a:defRPr sz="900" b="0">
                <a:solidFill>
                  <a:srgbClr val="BABDB0"/>
                </a:solidFill>
                <a:latin typeface="Helvetica Neue"/>
                <a:ea typeface="Helvetica Neue"/>
                <a:cs typeface="Helvetica Neue"/>
              </a:defRPr>
            </a:lvl2pPr>
            <a:lvl3pPr>
              <a:defRPr sz="900" b="0">
                <a:solidFill>
                  <a:srgbClr val="BABDB0"/>
                </a:solidFill>
                <a:latin typeface="Helvetica Neue"/>
                <a:ea typeface="Helvetica Neue"/>
                <a:cs typeface="Helvetica Neue"/>
              </a:defRPr>
            </a:lvl3pPr>
            <a:lvl4pPr>
              <a:defRPr sz="900" b="0">
                <a:solidFill>
                  <a:srgbClr val="BABDB0"/>
                </a:solidFill>
                <a:latin typeface="Helvetica Neue"/>
                <a:ea typeface="Helvetica Neue"/>
                <a:cs typeface="Helvetica Neue"/>
              </a:defRPr>
            </a:lvl4pPr>
            <a:lvl5pPr>
              <a:defRPr sz="900" b="0">
                <a:solidFill>
                  <a:srgbClr val="BABDB0"/>
                </a:solidFill>
                <a:latin typeface="Helvetica Neue"/>
                <a:ea typeface="Helvetica Neue"/>
                <a:cs typeface="Helvetica Neue"/>
              </a:defRPr>
            </a:lvl5pPr>
            <a:lvl6pPr>
              <a:defRPr sz="900" b="0">
                <a:solidFill>
                  <a:srgbClr val="BABDB0"/>
                </a:solidFill>
                <a:latin typeface="Helvetica Neue"/>
                <a:ea typeface="Helvetica Neue"/>
                <a:cs typeface="Helvetica Neue"/>
              </a:defRPr>
            </a:lvl6pPr>
            <a:lvl7pPr>
              <a:defRPr sz="900" b="0">
                <a:solidFill>
                  <a:srgbClr val="BABDB0"/>
                </a:solidFill>
                <a:latin typeface="Helvetica Neue"/>
                <a:ea typeface="Helvetica Neue"/>
                <a:cs typeface="Helvetica Neue"/>
              </a:defRPr>
            </a:lvl7pPr>
            <a:lvl8pPr>
              <a:defRPr sz="900" b="0">
                <a:solidFill>
                  <a:srgbClr val="BABDB0"/>
                </a:solidFill>
                <a:latin typeface="Helvetica Neue"/>
                <a:ea typeface="Helvetica Neue"/>
                <a:cs typeface="Helvetica Neue"/>
              </a:defRPr>
            </a:lvl8pPr>
            <a:lvl9pPr>
              <a:defRPr sz="900" b="0">
                <a:solidFill>
                  <a:srgbClr val="BABDB0"/>
                </a:solidFill>
                <a:latin typeface="Helvetica Neue"/>
                <a:ea typeface="Helvetica Neue"/>
                <a:cs typeface="Helvetica Neue"/>
              </a:defRPr>
            </a:lvl9pPr>
          </a:lstStyle>
          <a:p xmlns:a="http://schemas.openxmlformats.org/drawingml/2006/main">
            <a:pPr>
              <a:defRPr sz="900" b="0">
                <a:solidFill>
                  <a:srgbClr val="BABDB0"/>
                </a:solidFill>
                <a:latin typeface="Helvetica Neue"/>
                <a:ea typeface="Helvetica Neue"/>
                <a:cs typeface="Helvetica Neue"/>
              </a:defRPr>
            </a:pPr>
            <a:r>
              <a:rPr sz="900" b="0">
                <a:solidFill>
                  <a:srgbClr val="BABDB0"/>
                </a:solidFill>
                <a:latin typeface="Helvetica Neue"/>
                <a:ea typeface="Helvetica Neue"/>
                <a:cs typeface="Helvetica Neue"/>
              </a:rPr>
              <a:t>E FOR ENERGY</a:t>
            </a:r>
          </a:p>
        </p:txBody>
      </p:sp>
      <p:sp>
        <p:nvSpPr>
          <p:cNvPr id="4" name="">
            <a:extLst xmlns:a="http://schemas.openxmlformats.org/drawingml/2006/main">
              <a:ext uri="{FF2B5EF4-FFF2-40B4-BE49-F238E27FC236}">
                <a16:creationId xmlns:a16="http://schemas.microsoft.com/office/drawing/2014/main" id="{00AB2E06-12DB-4B0C-8D75-2569CFD1089A}"/>
              </a:ext>
            </a:extLst>
          </p:cNvPr>
          <p:cNvSpPr>
            <a:spLocks xmlns:a="http://schemas.openxmlformats.org/drawingml/2006/main" noGrp="1"/>
          </p:cNvSpPr>
          <p:nvPr/>
        </p:nvSpPr>
        <p:spPr>
          <a:xfrm xmlns:a="http://schemas.openxmlformats.org/drawingml/2006/main">
            <a:off x="11049000" y="64198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BABDB0"/>
                </a:solidFill>
                <a:latin typeface="Helvetica Neue"/>
                <a:ea typeface="Helvetica Neue"/>
                <a:cs typeface="Helvetica Neue"/>
              </a:defRPr>
            </a:defPPr>
            <a:lvl1pPr>
              <a:defRPr sz="1200" b="0">
                <a:solidFill>
                  <a:srgbClr val="BABDB0"/>
                </a:solidFill>
                <a:latin typeface="Helvetica Neue"/>
                <a:ea typeface="Helvetica Neue"/>
                <a:cs typeface="Helvetica Neue"/>
              </a:defRPr>
            </a:lvl1pPr>
            <a:lvl2pPr>
              <a:defRPr sz="1200" b="0">
                <a:solidFill>
                  <a:srgbClr val="BABDB0"/>
                </a:solidFill>
                <a:latin typeface="Helvetica Neue"/>
                <a:ea typeface="Helvetica Neue"/>
                <a:cs typeface="Helvetica Neue"/>
              </a:defRPr>
            </a:lvl2pPr>
            <a:lvl3pPr>
              <a:defRPr sz="1200" b="0">
                <a:solidFill>
                  <a:srgbClr val="BABDB0"/>
                </a:solidFill>
                <a:latin typeface="Helvetica Neue"/>
                <a:ea typeface="Helvetica Neue"/>
                <a:cs typeface="Helvetica Neue"/>
              </a:defRPr>
            </a:lvl3pPr>
            <a:lvl4pPr>
              <a:defRPr sz="1200" b="0">
                <a:solidFill>
                  <a:srgbClr val="BABDB0"/>
                </a:solidFill>
                <a:latin typeface="Helvetica Neue"/>
                <a:ea typeface="Helvetica Neue"/>
                <a:cs typeface="Helvetica Neue"/>
              </a:defRPr>
            </a:lvl4pPr>
            <a:lvl5pPr>
              <a:defRPr sz="1200" b="0">
                <a:solidFill>
                  <a:srgbClr val="BABDB0"/>
                </a:solidFill>
                <a:latin typeface="Helvetica Neue"/>
                <a:ea typeface="Helvetica Neue"/>
                <a:cs typeface="Helvetica Neue"/>
              </a:defRPr>
            </a:lvl5pPr>
            <a:lvl6pPr>
              <a:defRPr sz="1200" b="0">
                <a:solidFill>
                  <a:srgbClr val="BABDB0"/>
                </a:solidFill>
                <a:latin typeface="Helvetica Neue"/>
                <a:ea typeface="Helvetica Neue"/>
                <a:cs typeface="Helvetica Neue"/>
              </a:defRPr>
            </a:lvl6pPr>
            <a:lvl7pPr>
              <a:defRPr sz="1200" b="0">
                <a:solidFill>
                  <a:srgbClr val="BABDB0"/>
                </a:solidFill>
                <a:latin typeface="Helvetica Neue"/>
                <a:ea typeface="Helvetica Neue"/>
                <a:cs typeface="Helvetica Neue"/>
              </a:defRPr>
            </a:lvl7pPr>
            <a:lvl8pPr>
              <a:defRPr sz="1200" b="0">
                <a:solidFill>
                  <a:srgbClr val="BABDB0"/>
                </a:solidFill>
                <a:latin typeface="Helvetica Neue"/>
                <a:ea typeface="Helvetica Neue"/>
                <a:cs typeface="Helvetica Neue"/>
              </a:defRPr>
            </a:lvl8pPr>
            <a:lvl9pPr>
              <a:defRPr sz="1200" b="0">
                <a:solidFill>
                  <a:srgbClr val="BABDB0"/>
                </a:solidFill>
                <a:latin typeface="Helvetica Neue"/>
                <a:ea typeface="Helvetica Neue"/>
                <a:cs typeface="Helvetica Neue"/>
              </a:defRPr>
            </a:lvl9pPr>
          </a:lstStyle>
          <a:p xmlns:a="http://schemas.openxmlformats.org/drawingml/2006/main">
            <a:pPr>
              <a:defRPr sz="1200" b="0">
                <a:solidFill>
                  <a:srgbClr val="BABDB0"/>
                </a:solidFill>
                <a:latin typeface="Helvetica Neue"/>
                <a:ea typeface="Helvetica Neue"/>
                <a:cs typeface="Helvetica Neue"/>
              </a:defRPr>
            </a:pPr>
            <a:r>
              <a:rPr sz="1200" b="0">
                <a:solidFill>
                  <a:srgbClr val="BABDB0"/>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1CA736E9-8156-4F32-BA53-E496BC21A741}"/>
              </a:ext>
            </a:extLst>
          </p:cNvPr>
          <p:cNvSpPr>
            <a:spLocks xmlns:a="http://schemas.openxmlformats.org/drawingml/2006/main" noGrp="1"/>
          </p:cNvSpPr>
          <p:nvPr/>
        </p:nvSpPr>
        <p:spPr>
          <a:xfrm xmlns:a="http://schemas.openxmlformats.org/drawingml/2006/main">
            <a:off x="609600" y="2476500"/>
            <a:ext cx="5000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FFDB24"/>
                </a:solidFill>
                <a:latin typeface="Helvetica Neue"/>
                <a:ea typeface="Helvetica Neue"/>
                <a:cs typeface="Helvetica Neue"/>
              </a:defRPr>
            </a:defPPr>
            <a:lvl1pPr>
              <a:defRPr sz="2400" b="1">
                <a:solidFill>
                  <a:srgbClr val="FFDB24"/>
                </a:solidFill>
                <a:latin typeface="Helvetica Neue"/>
                <a:ea typeface="Helvetica Neue"/>
                <a:cs typeface="Helvetica Neue"/>
              </a:defRPr>
            </a:lvl1pPr>
            <a:lvl2pPr>
              <a:defRPr sz="2400" b="1">
                <a:solidFill>
                  <a:srgbClr val="FFDB24"/>
                </a:solidFill>
                <a:latin typeface="Helvetica Neue"/>
                <a:ea typeface="Helvetica Neue"/>
                <a:cs typeface="Helvetica Neue"/>
              </a:defRPr>
            </a:lvl2pPr>
            <a:lvl3pPr>
              <a:defRPr sz="2400" b="1">
                <a:solidFill>
                  <a:srgbClr val="FFDB24"/>
                </a:solidFill>
                <a:latin typeface="Helvetica Neue"/>
                <a:ea typeface="Helvetica Neue"/>
                <a:cs typeface="Helvetica Neue"/>
              </a:defRPr>
            </a:lvl3pPr>
            <a:lvl4pPr>
              <a:defRPr sz="2400" b="1">
                <a:solidFill>
                  <a:srgbClr val="FFDB24"/>
                </a:solidFill>
                <a:latin typeface="Helvetica Neue"/>
                <a:ea typeface="Helvetica Neue"/>
                <a:cs typeface="Helvetica Neue"/>
              </a:defRPr>
            </a:lvl4pPr>
            <a:lvl5pPr>
              <a:defRPr sz="2400" b="1">
                <a:solidFill>
                  <a:srgbClr val="FFDB24"/>
                </a:solidFill>
                <a:latin typeface="Helvetica Neue"/>
                <a:ea typeface="Helvetica Neue"/>
                <a:cs typeface="Helvetica Neue"/>
              </a:defRPr>
            </a:lvl5pPr>
            <a:lvl6pPr>
              <a:defRPr sz="2400" b="1">
                <a:solidFill>
                  <a:srgbClr val="FFDB24"/>
                </a:solidFill>
                <a:latin typeface="Helvetica Neue"/>
                <a:ea typeface="Helvetica Neue"/>
                <a:cs typeface="Helvetica Neue"/>
              </a:defRPr>
            </a:lvl6pPr>
            <a:lvl7pPr>
              <a:defRPr sz="2400" b="1">
                <a:solidFill>
                  <a:srgbClr val="FFDB24"/>
                </a:solidFill>
                <a:latin typeface="Helvetica Neue"/>
                <a:ea typeface="Helvetica Neue"/>
                <a:cs typeface="Helvetica Neue"/>
              </a:defRPr>
            </a:lvl7pPr>
            <a:lvl8pPr>
              <a:defRPr sz="2400" b="1">
                <a:solidFill>
                  <a:srgbClr val="FFDB24"/>
                </a:solidFill>
                <a:latin typeface="Helvetica Neue"/>
                <a:ea typeface="Helvetica Neue"/>
                <a:cs typeface="Helvetica Neue"/>
              </a:defRPr>
            </a:lvl8pPr>
            <a:lvl9pPr>
              <a:defRPr sz="2400" b="1">
                <a:solidFill>
                  <a:srgbClr val="FFDB24"/>
                </a:solidFill>
                <a:latin typeface="Helvetica Neue"/>
                <a:ea typeface="Helvetica Neue"/>
                <a:cs typeface="Helvetica Neue"/>
              </a:defRPr>
            </a:lvl9pPr>
          </a:lstStyle>
          <a:p xmlns:a="http://schemas.openxmlformats.org/drawingml/2006/main">
            <a:pPr>
              <a:defRPr sz="2400" b="1">
                <a:solidFill>
                  <a:srgbClr val="FFDB24"/>
                </a:solidFill>
                <a:latin typeface="Helvetica Neue"/>
                <a:ea typeface="Helvetica Neue"/>
                <a:cs typeface="Helvetica Neue"/>
              </a:defRPr>
            </a:pPr>
            <a:r>
              <a:rPr sz="2400" b="1">
                <a:solidFill>
                  <a:srgbClr val="FFDB24"/>
                </a:solidFill>
                <a:latin typeface="Helvetica Neue"/>
                <a:ea typeface="Helvetica Neue"/>
                <a:cs typeface="Helvetica Neue"/>
              </a:rPr>
              <a:t>Customer brings</a:t>
            </a:r>
          </a:p>
        </p:txBody>
      </p:sp>
      <p:sp>
        <p:nvSpPr>
          <p:cNvPr id="6" name="">
            <a:extLst xmlns:a="http://schemas.openxmlformats.org/drawingml/2006/main">
              <a:ext uri="{FF2B5EF4-FFF2-40B4-BE49-F238E27FC236}">
                <a16:creationId xmlns:a16="http://schemas.microsoft.com/office/drawing/2014/main" id="{6092C010-252A-4547-A12A-AB4D4BBF3BC0}"/>
              </a:ext>
            </a:extLst>
          </p:cNvPr>
          <p:cNvSpPr>
            <a:spLocks xmlns:a="http://schemas.openxmlformats.org/drawingml/2006/main" noGrp="1"/>
          </p:cNvSpPr>
          <p:nvPr/>
        </p:nvSpPr>
        <p:spPr>
          <a:xfrm xmlns:a="http://schemas.openxmlformats.org/drawingml/2006/main">
            <a:off x="609600" y="3067050"/>
            <a:ext cx="4953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4F3EB"/>
                </a:solidFill>
                <a:latin typeface="Helvetica Neue"/>
                <a:ea typeface="Helvetica Neue"/>
                <a:cs typeface="Helvetica Neue"/>
              </a:defRPr>
            </a:defPPr>
            <a:lvl1pPr>
              <a:defRPr sz="2100" b="0">
                <a:solidFill>
                  <a:srgbClr val="F4F3EB"/>
                </a:solidFill>
                <a:latin typeface="Helvetica Neue"/>
                <a:ea typeface="Helvetica Neue"/>
                <a:cs typeface="Helvetica Neue"/>
              </a:defRPr>
            </a:lvl1pPr>
            <a:lvl2pPr>
              <a:defRPr sz="2100" b="0">
                <a:solidFill>
                  <a:srgbClr val="F4F3EB"/>
                </a:solidFill>
                <a:latin typeface="Helvetica Neue"/>
                <a:ea typeface="Helvetica Neue"/>
                <a:cs typeface="Helvetica Neue"/>
              </a:defRPr>
            </a:lvl2pPr>
            <a:lvl3pPr>
              <a:defRPr sz="2100" b="0">
                <a:solidFill>
                  <a:srgbClr val="F4F3EB"/>
                </a:solidFill>
                <a:latin typeface="Helvetica Neue"/>
                <a:ea typeface="Helvetica Neue"/>
                <a:cs typeface="Helvetica Neue"/>
              </a:defRPr>
            </a:lvl3pPr>
            <a:lvl4pPr>
              <a:defRPr sz="2100" b="0">
                <a:solidFill>
                  <a:srgbClr val="F4F3EB"/>
                </a:solidFill>
                <a:latin typeface="Helvetica Neue"/>
                <a:ea typeface="Helvetica Neue"/>
                <a:cs typeface="Helvetica Neue"/>
              </a:defRPr>
            </a:lvl4pPr>
            <a:lvl5pPr>
              <a:defRPr sz="2100" b="0">
                <a:solidFill>
                  <a:srgbClr val="F4F3EB"/>
                </a:solidFill>
                <a:latin typeface="Helvetica Neue"/>
                <a:ea typeface="Helvetica Neue"/>
                <a:cs typeface="Helvetica Neue"/>
              </a:defRPr>
            </a:lvl5pPr>
            <a:lvl6pPr>
              <a:defRPr sz="2100" b="0">
                <a:solidFill>
                  <a:srgbClr val="F4F3EB"/>
                </a:solidFill>
                <a:latin typeface="Helvetica Neue"/>
                <a:ea typeface="Helvetica Neue"/>
                <a:cs typeface="Helvetica Neue"/>
              </a:defRPr>
            </a:lvl6pPr>
            <a:lvl7pPr>
              <a:defRPr sz="2100" b="0">
                <a:solidFill>
                  <a:srgbClr val="F4F3EB"/>
                </a:solidFill>
                <a:latin typeface="Helvetica Neue"/>
                <a:ea typeface="Helvetica Neue"/>
                <a:cs typeface="Helvetica Neue"/>
              </a:defRPr>
            </a:lvl7pPr>
            <a:lvl8pPr>
              <a:defRPr sz="2100" b="0">
                <a:solidFill>
                  <a:srgbClr val="F4F3EB"/>
                </a:solidFill>
                <a:latin typeface="Helvetica Neue"/>
                <a:ea typeface="Helvetica Neue"/>
                <a:cs typeface="Helvetica Neue"/>
              </a:defRPr>
            </a:lvl8pPr>
            <a:lvl9pPr>
              <a:defRPr sz="2100" b="0">
                <a:solidFill>
                  <a:srgbClr val="F4F3EB"/>
                </a:solidFill>
                <a:latin typeface="Helvetica Neue"/>
                <a:ea typeface="Helvetica Neue"/>
                <a:cs typeface="Helvetica Neue"/>
              </a:defRPr>
            </a:lvl9pPr>
          </a:lstStyle>
          <a:p xmlns:a="http://schemas.openxmlformats.org/drawingml/2006/main">
            <a:pPr>
              <a:defRPr sz="2100" b="0">
                <a:solidFill>
                  <a:srgbClr val="F4F3EB"/>
                </a:solidFill>
                <a:latin typeface="Helvetica Neue"/>
                <a:ea typeface="Helvetica Neue"/>
                <a:cs typeface="Helvetica Neue"/>
              </a:defRPr>
            </a:pPr>
            <a:r>
              <a:rPr sz="2100" b="0">
                <a:solidFill>
                  <a:srgbClr val="F4F3EB"/>
                </a:solidFill>
                <a:latin typeface="Helvetica Neue"/>
                <a:ea typeface="Helvetica Neue"/>
                <a:cs typeface="Helvetica Neue"/>
              </a:rPr>
              <a:t>A platform owner, representative test tasks, approved telemetry access and a defined real-energy measurement point.</a:t>
            </a:r>
          </a:p>
        </p:txBody>
      </p:sp>
      <p:sp>
        <p:nvSpPr>
          <p:cNvPr id="7" name="">
            <a:extLst xmlns:a="http://schemas.openxmlformats.org/drawingml/2006/main">
              <a:ext uri="{FF2B5EF4-FFF2-40B4-BE49-F238E27FC236}">
                <a16:creationId xmlns:a16="http://schemas.microsoft.com/office/drawing/2014/main" id="{B8D754E7-0EB9-4FCB-B11C-71B8550F4D35}"/>
              </a:ext>
            </a:extLst>
          </p:cNvPr>
          <p:cNvSpPr>
            <a:spLocks xmlns:a="http://schemas.openxmlformats.org/drawingml/2006/main" noGrp="1"/>
          </p:cNvSpPr>
          <p:nvPr/>
        </p:nvSpPr>
        <p:spPr>
          <a:xfrm xmlns:a="http://schemas.openxmlformats.org/drawingml/2006/main">
            <a:off x="609600" y="4686300"/>
            <a:ext cx="5095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BABDB0"/>
                </a:solidFill>
                <a:latin typeface="Helvetica Neue"/>
                <a:ea typeface="Helvetica Neue"/>
                <a:cs typeface="Helvetica Neue"/>
              </a:defRPr>
            </a:defPPr>
            <a:lvl1pPr>
              <a:defRPr sz="1725" b="0">
                <a:solidFill>
                  <a:srgbClr val="BABDB0"/>
                </a:solidFill>
                <a:latin typeface="Helvetica Neue"/>
                <a:ea typeface="Helvetica Neue"/>
                <a:cs typeface="Helvetica Neue"/>
              </a:defRPr>
            </a:lvl1pPr>
            <a:lvl2pPr>
              <a:defRPr sz="1725" b="0">
                <a:solidFill>
                  <a:srgbClr val="BABDB0"/>
                </a:solidFill>
                <a:latin typeface="Helvetica Neue"/>
                <a:ea typeface="Helvetica Neue"/>
                <a:cs typeface="Helvetica Neue"/>
              </a:defRPr>
            </a:lvl2pPr>
            <a:lvl3pPr>
              <a:defRPr sz="1725" b="0">
                <a:solidFill>
                  <a:srgbClr val="BABDB0"/>
                </a:solidFill>
                <a:latin typeface="Helvetica Neue"/>
                <a:ea typeface="Helvetica Neue"/>
                <a:cs typeface="Helvetica Neue"/>
              </a:defRPr>
            </a:lvl3pPr>
            <a:lvl4pPr>
              <a:defRPr sz="1725" b="0">
                <a:solidFill>
                  <a:srgbClr val="BABDB0"/>
                </a:solidFill>
                <a:latin typeface="Helvetica Neue"/>
                <a:ea typeface="Helvetica Neue"/>
                <a:cs typeface="Helvetica Neue"/>
              </a:defRPr>
            </a:lvl4pPr>
            <a:lvl5pPr>
              <a:defRPr sz="1725" b="0">
                <a:solidFill>
                  <a:srgbClr val="BABDB0"/>
                </a:solidFill>
                <a:latin typeface="Helvetica Neue"/>
                <a:ea typeface="Helvetica Neue"/>
                <a:cs typeface="Helvetica Neue"/>
              </a:defRPr>
            </a:lvl5pPr>
            <a:lvl6pPr>
              <a:defRPr sz="1725" b="0">
                <a:solidFill>
                  <a:srgbClr val="BABDB0"/>
                </a:solidFill>
                <a:latin typeface="Helvetica Neue"/>
                <a:ea typeface="Helvetica Neue"/>
                <a:cs typeface="Helvetica Neue"/>
              </a:defRPr>
            </a:lvl6pPr>
            <a:lvl7pPr>
              <a:defRPr sz="1725" b="0">
                <a:solidFill>
                  <a:srgbClr val="BABDB0"/>
                </a:solidFill>
                <a:latin typeface="Helvetica Neue"/>
                <a:ea typeface="Helvetica Neue"/>
                <a:cs typeface="Helvetica Neue"/>
              </a:defRPr>
            </a:lvl7pPr>
            <a:lvl8pPr>
              <a:defRPr sz="1725" b="0">
                <a:solidFill>
                  <a:srgbClr val="BABDB0"/>
                </a:solidFill>
                <a:latin typeface="Helvetica Neue"/>
                <a:ea typeface="Helvetica Neue"/>
                <a:cs typeface="Helvetica Neue"/>
              </a:defRPr>
            </a:lvl8pPr>
            <a:lvl9pPr>
              <a:defRPr sz="1725" b="0">
                <a:solidFill>
                  <a:srgbClr val="BABDB0"/>
                </a:solidFill>
                <a:latin typeface="Helvetica Neue"/>
                <a:ea typeface="Helvetica Neue"/>
                <a:cs typeface="Helvetica Neue"/>
              </a:defRPr>
            </a:lvl9pPr>
          </a:lstStyle>
          <a:p xmlns:a="http://schemas.openxmlformats.org/drawingml/2006/main">
            <a:pPr>
              <a:defRPr sz="1725" b="0">
                <a:solidFill>
                  <a:srgbClr val="BABDB0"/>
                </a:solidFill>
                <a:latin typeface="Helvetica Neue"/>
                <a:ea typeface="Helvetica Neue"/>
                <a:cs typeface="Helvetica Neue"/>
              </a:defRPr>
            </a:pPr>
            <a:r>
              <a:rPr sz="1725" b="0">
                <a:solidFill>
                  <a:srgbClr val="BABDB0"/>
                </a:solidFill>
                <a:latin typeface="Helvetica Neue"/>
                <a:ea typeface="Helvetica Neue"/>
                <a:cs typeface="Helvetica Neue"/>
              </a:rPr>
              <a:t>Agree quality, latency, data handling and change permissions.</a:t>
            </a:r>
          </a:p>
        </p:txBody>
      </p:sp>
      <p:sp>
        <p:nvSpPr>
          <p:cNvPr id="8" name="">
            <a:extLst xmlns:a="http://schemas.openxmlformats.org/drawingml/2006/main">
              <a:ext uri="{FF2B5EF4-FFF2-40B4-BE49-F238E27FC236}">
                <a16:creationId xmlns:a16="http://schemas.microsoft.com/office/drawing/2014/main" id="{6AA02D76-A420-4D5B-B18D-65C2D2FE7D94}"/>
              </a:ext>
            </a:extLst>
          </p:cNvPr>
          <p:cNvSpPr>
            <a:spLocks xmlns:a="http://schemas.openxmlformats.org/drawingml/2006/main" noGrp="1"/>
          </p:cNvSpPr>
          <p:nvPr/>
        </p:nvSpPr>
        <p:spPr>
          <a:xfrm xmlns:a="http://schemas.openxmlformats.org/drawingml/2006/main">
            <a:off x="6419850" y="247650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EE6758"/>
                </a:solidFill>
                <a:latin typeface="Helvetica Neue"/>
                <a:ea typeface="Helvetica Neue"/>
                <a:cs typeface="Helvetica Neue"/>
              </a:defRPr>
            </a:defPPr>
            <a:lvl1pPr>
              <a:defRPr sz="2400" b="1">
                <a:solidFill>
                  <a:srgbClr val="EE6758"/>
                </a:solidFill>
                <a:latin typeface="Helvetica Neue"/>
                <a:ea typeface="Helvetica Neue"/>
                <a:cs typeface="Helvetica Neue"/>
              </a:defRPr>
            </a:lvl1pPr>
            <a:lvl2pPr>
              <a:defRPr sz="2400" b="1">
                <a:solidFill>
                  <a:srgbClr val="EE6758"/>
                </a:solidFill>
                <a:latin typeface="Helvetica Neue"/>
                <a:ea typeface="Helvetica Neue"/>
                <a:cs typeface="Helvetica Neue"/>
              </a:defRPr>
            </a:lvl2pPr>
            <a:lvl3pPr>
              <a:defRPr sz="2400" b="1">
                <a:solidFill>
                  <a:srgbClr val="EE6758"/>
                </a:solidFill>
                <a:latin typeface="Helvetica Neue"/>
                <a:ea typeface="Helvetica Neue"/>
                <a:cs typeface="Helvetica Neue"/>
              </a:defRPr>
            </a:lvl3pPr>
            <a:lvl4pPr>
              <a:defRPr sz="2400" b="1">
                <a:solidFill>
                  <a:srgbClr val="EE6758"/>
                </a:solidFill>
                <a:latin typeface="Helvetica Neue"/>
                <a:ea typeface="Helvetica Neue"/>
                <a:cs typeface="Helvetica Neue"/>
              </a:defRPr>
            </a:lvl4pPr>
            <a:lvl5pPr>
              <a:defRPr sz="2400" b="1">
                <a:solidFill>
                  <a:srgbClr val="EE6758"/>
                </a:solidFill>
                <a:latin typeface="Helvetica Neue"/>
                <a:ea typeface="Helvetica Neue"/>
                <a:cs typeface="Helvetica Neue"/>
              </a:defRPr>
            </a:lvl5pPr>
            <a:lvl6pPr>
              <a:defRPr sz="2400" b="1">
                <a:solidFill>
                  <a:srgbClr val="EE6758"/>
                </a:solidFill>
                <a:latin typeface="Helvetica Neue"/>
                <a:ea typeface="Helvetica Neue"/>
                <a:cs typeface="Helvetica Neue"/>
              </a:defRPr>
            </a:lvl6pPr>
            <a:lvl7pPr>
              <a:defRPr sz="2400" b="1">
                <a:solidFill>
                  <a:srgbClr val="EE6758"/>
                </a:solidFill>
                <a:latin typeface="Helvetica Neue"/>
                <a:ea typeface="Helvetica Neue"/>
                <a:cs typeface="Helvetica Neue"/>
              </a:defRPr>
            </a:lvl7pPr>
            <a:lvl8pPr>
              <a:defRPr sz="2400" b="1">
                <a:solidFill>
                  <a:srgbClr val="EE6758"/>
                </a:solidFill>
                <a:latin typeface="Helvetica Neue"/>
                <a:ea typeface="Helvetica Neue"/>
                <a:cs typeface="Helvetica Neue"/>
              </a:defRPr>
            </a:lvl8pPr>
            <a:lvl9pPr>
              <a:defRPr sz="2400" b="1">
                <a:solidFill>
                  <a:srgbClr val="EE6758"/>
                </a:solidFill>
                <a:latin typeface="Helvetica Neue"/>
                <a:ea typeface="Helvetica Neue"/>
                <a:cs typeface="Helvetica Neue"/>
              </a:defRPr>
            </a:lvl9pPr>
          </a:lstStyle>
          <a:p xmlns:a="http://schemas.openxmlformats.org/drawingml/2006/main">
            <a:pPr>
              <a:defRPr sz="2400" b="1">
                <a:solidFill>
                  <a:srgbClr val="EE6758"/>
                </a:solidFill>
                <a:latin typeface="Helvetica Neue"/>
                <a:ea typeface="Helvetica Neue"/>
                <a:cs typeface="Helvetica Neue"/>
              </a:defRPr>
            </a:pPr>
            <a:r>
              <a:rPr sz="2400" b="1">
                <a:solidFill>
                  <a:srgbClr val="EE6758"/>
                </a:solidFill>
                <a:latin typeface="Helvetica Neue"/>
                <a:ea typeface="Helvetica Neue"/>
                <a:cs typeface="Helvetica Neue"/>
              </a:rPr>
              <a:t>Pilot delivers</a:t>
            </a:r>
          </a:p>
        </p:txBody>
      </p:sp>
      <p:sp>
        <p:nvSpPr>
          <p:cNvPr id="9" name="">
            <a:extLst xmlns:a="http://schemas.openxmlformats.org/drawingml/2006/main">
              <a:ext uri="{FF2B5EF4-FFF2-40B4-BE49-F238E27FC236}">
                <a16:creationId xmlns:a16="http://schemas.microsoft.com/office/drawing/2014/main" id="{3845EDF9-B017-4E24-B16A-76AB32A3DE30}"/>
              </a:ext>
            </a:extLst>
          </p:cNvPr>
          <p:cNvSpPr>
            <a:spLocks xmlns:a="http://schemas.openxmlformats.org/drawingml/2006/main" noGrp="1"/>
          </p:cNvSpPr>
          <p:nvPr/>
        </p:nvSpPr>
        <p:spPr>
          <a:xfrm xmlns:a="http://schemas.openxmlformats.org/drawingml/2006/main">
            <a:off x="6419850" y="3067050"/>
            <a:ext cx="4953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4F3EB"/>
                </a:solidFill>
                <a:latin typeface="Helvetica Neue"/>
                <a:ea typeface="Helvetica Neue"/>
                <a:cs typeface="Helvetica Neue"/>
              </a:defRPr>
            </a:defPPr>
            <a:lvl1pPr>
              <a:defRPr sz="2100" b="0">
                <a:solidFill>
                  <a:srgbClr val="F4F3EB"/>
                </a:solidFill>
                <a:latin typeface="Helvetica Neue"/>
                <a:ea typeface="Helvetica Neue"/>
                <a:cs typeface="Helvetica Neue"/>
              </a:defRPr>
            </a:lvl1pPr>
            <a:lvl2pPr>
              <a:defRPr sz="2100" b="0">
                <a:solidFill>
                  <a:srgbClr val="F4F3EB"/>
                </a:solidFill>
                <a:latin typeface="Helvetica Neue"/>
                <a:ea typeface="Helvetica Neue"/>
                <a:cs typeface="Helvetica Neue"/>
              </a:defRPr>
            </a:lvl2pPr>
            <a:lvl3pPr>
              <a:defRPr sz="2100" b="0">
                <a:solidFill>
                  <a:srgbClr val="F4F3EB"/>
                </a:solidFill>
                <a:latin typeface="Helvetica Neue"/>
                <a:ea typeface="Helvetica Neue"/>
                <a:cs typeface="Helvetica Neue"/>
              </a:defRPr>
            </a:lvl3pPr>
            <a:lvl4pPr>
              <a:defRPr sz="2100" b="0">
                <a:solidFill>
                  <a:srgbClr val="F4F3EB"/>
                </a:solidFill>
                <a:latin typeface="Helvetica Neue"/>
                <a:ea typeface="Helvetica Neue"/>
                <a:cs typeface="Helvetica Neue"/>
              </a:defRPr>
            </a:lvl4pPr>
            <a:lvl5pPr>
              <a:defRPr sz="2100" b="0">
                <a:solidFill>
                  <a:srgbClr val="F4F3EB"/>
                </a:solidFill>
                <a:latin typeface="Helvetica Neue"/>
                <a:ea typeface="Helvetica Neue"/>
                <a:cs typeface="Helvetica Neue"/>
              </a:defRPr>
            </a:lvl5pPr>
            <a:lvl6pPr>
              <a:defRPr sz="2100" b="0">
                <a:solidFill>
                  <a:srgbClr val="F4F3EB"/>
                </a:solidFill>
                <a:latin typeface="Helvetica Neue"/>
                <a:ea typeface="Helvetica Neue"/>
                <a:cs typeface="Helvetica Neue"/>
              </a:defRPr>
            </a:lvl6pPr>
            <a:lvl7pPr>
              <a:defRPr sz="2100" b="0">
                <a:solidFill>
                  <a:srgbClr val="F4F3EB"/>
                </a:solidFill>
                <a:latin typeface="Helvetica Neue"/>
                <a:ea typeface="Helvetica Neue"/>
                <a:cs typeface="Helvetica Neue"/>
              </a:defRPr>
            </a:lvl7pPr>
            <a:lvl8pPr>
              <a:defRPr sz="2100" b="0">
                <a:solidFill>
                  <a:srgbClr val="F4F3EB"/>
                </a:solidFill>
                <a:latin typeface="Helvetica Neue"/>
                <a:ea typeface="Helvetica Neue"/>
                <a:cs typeface="Helvetica Neue"/>
              </a:defRPr>
            </a:lvl8pPr>
            <a:lvl9pPr>
              <a:defRPr sz="2100" b="0">
                <a:solidFill>
                  <a:srgbClr val="F4F3EB"/>
                </a:solidFill>
                <a:latin typeface="Helvetica Neue"/>
                <a:ea typeface="Helvetica Neue"/>
                <a:cs typeface="Helvetica Neue"/>
              </a:defRPr>
            </a:lvl9pPr>
          </a:lstStyle>
          <a:p xmlns:a="http://schemas.openxmlformats.org/drawingml/2006/main">
            <a:pPr>
              <a:defRPr sz="2100" b="0">
                <a:solidFill>
                  <a:srgbClr val="F4F3EB"/>
                </a:solidFill>
                <a:latin typeface="Helvetica Neue"/>
                <a:ea typeface="Helvetica Neue"/>
                <a:cs typeface="Helvetica Neue"/>
              </a:defRPr>
            </a:pPr>
            <a:r>
              <a:rPr sz="2100" b="0">
                <a:solidFill>
                  <a:srgbClr val="F4F3EB"/>
                </a:solidFill>
                <a:latin typeface="Helvetica Neue"/>
                <a:ea typeface="Helvetica Neue"/>
                <a:cs typeface="Helvetica Neue"/>
              </a:rPr>
              <a:t>A traceable baseline, controlled comparison and decision report with measurement limits.</a:t>
            </a:r>
          </a:p>
        </p:txBody>
      </p:sp>
      <p:sp>
        <p:nvSpPr>
          <p:cNvPr id="10" name="">
            <a:extLst xmlns:a="http://schemas.openxmlformats.org/drawingml/2006/main">
              <a:ext uri="{FF2B5EF4-FFF2-40B4-BE49-F238E27FC236}">
                <a16:creationId xmlns:a16="http://schemas.microsoft.com/office/drawing/2014/main" id="{BE53B5C6-0481-440F-A599-E971A1E65862}"/>
              </a:ext>
            </a:extLst>
          </p:cNvPr>
          <p:cNvSpPr>
            <a:spLocks xmlns:a="http://schemas.openxmlformats.org/drawingml/2006/main" noGrp="1"/>
          </p:cNvSpPr>
          <p:nvPr/>
        </p:nvSpPr>
        <p:spPr>
          <a:xfrm xmlns:a="http://schemas.openxmlformats.org/drawingml/2006/main">
            <a:off x="6419850" y="468630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BABDB0"/>
                </a:solidFill>
                <a:latin typeface="Helvetica Neue"/>
                <a:ea typeface="Helvetica Neue"/>
                <a:cs typeface="Helvetica Neue"/>
              </a:defRPr>
            </a:defPPr>
            <a:lvl1pPr>
              <a:defRPr sz="1725" b="0">
                <a:solidFill>
                  <a:srgbClr val="BABDB0"/>
                </a:solidFill>
                <a:latin typeface="Helvetica Neue"/>
                <a:ea typeface="Helvetica Neue"/>
                <a:cs typeface="Helvetica Neue"/>
              </a:defRPr>
            </a:lvl1pPr>
            <a:lvl2pPr>
              <a:defRPr sz="1725" b="0">
                <a:solidFill>
                  <a:srgbClr val="BABDB0"/>
                </a:solidFill>
                <a:latin typeface="Helvetica Neue"/>
                <a:ea typeface="Helvetica Neue"/>
                <a:cs typeface="Helvetica Neue"/>
              </a:defRPr>
            </a:lvl2pPr>
            <a:lvl3pPr>
              <a:defRPr sz="1725" b="0">
                <a:solidFill>
                  <a:srgbClr val="BABDB0"/>
                </a:solidFill>
                <a:latin typeface="Helvetica Neue"/>
                <a:ea typeface="Helvetica Neue"/>
                <a:cs typeface="Helvetica Neue"/>
              </a:defRPr>
            </a:lvl3pPr>
            <a:lvl4pPr>
              <a:defRPr sz="1725" b="0">
                <a:solidFill>
                  <a:srgbClr val="BABDB0"/>
                </a:solidFill>
                <a:latin typeface="Helvetica Neue"/>
                <a:ea typeface="Helvetica Neue"/>
                <a:cs typeface="Helvetica Neue"/>
              </a:defRPr>
            </a:lvl4pPr>
            <a:lvl5pPr>
              <a:defRPr sz="1725" b="0">
                <a:solidFill>
                  <a:srgbClr val="BABDB0"/>
                </a:solidFill>
                <a:latin typeface="Helvetica Neue"/>
                <a:ea typeface="Helvetica Neue"/>
                <a:cs typeface="Helvetica Neue"/>
              </a:defRPr>
            </a:lvl5pPr>
            <a:lvl6pPr>
              <a:defRPr sz="1725" b="0">
                <a:solidFill>
                  <a:srgbClr val="BABDB0"/>
                </a:solidFill>
                <a:latin typeface="Helvetica Neue"/>
                <a:ea typeface="Helvetica Neue"/>
                <a:cs typeface="Helvetica Neue"/>
              </a:defRPr>
            </a:lvl6pPr>
            <a:lvl7pPr>
              <a:defRPr sz="1725" b="0">
                <a:solidFill>
                  <a:srgbClr val="BABDB0"/>
                </a:solidFill>
                <a:latin typeface="Helvetica Neue"/>
                <a:ea typeface="Helvetica Neue"/>
                <a:cs typeface="Helvetica Neue"/>
              </a:defRPr>
            </a:lvl7pPr>
            <a:lvl8pPr>
              <a:defRPr sz="1725" b="0">
                <a:solidFill>
                  <a:srgbClr val="BABDB0"/>
                </a:solidFill>
                <a:latin typeface="Helvetica Neue"/>
                <a:ea typeface="Helvetica Neue"/>
                <a:cs typeface="Helvetica Neue"/>
              </a:defRPr>
            </a:lvl8pPr>
            <a:lvl9pPr>
              <a:defRPr sz="1725" b="0">
                <a:solidFill>
                  <a:srgbClr val="BABDB0"/>
                </a:solidFill>
                <a:latin typeface="Helvetica Neue"/>
                <a:ea typeface="Helvetica Neue"/>
                <a:cs typeface="Helvetica Neue"/>
              </a:defRPr>
            </a:lvl9pPr>
          </a:lstStyle>
          <a:p xmlns:a="http://schemas.openxmlformats.org/drawingml/2006/main">
            <a:pPr>
              <a:defRPr sz="1725" b="0">
                <a:solidFill>
                  <a:srgbClr val="BABDB0"/>
                </a:solidFill>
                <a:latin typeface="Helvetica Neue"/>
                <a:ea typeface="Helvetica Neue"/>
                <a:cs typeface="Helvetica Neue"/>
              </a:defRPr>
            </a:pPr>
            <a:r>
              <a:rPr sz="1725" b="0">
                <a:solidFill>
                  <a:srgbClr val="BABDB0"/>
                </a:solidFill>
                <a:latin typeface="Helvetica Neue"/>
                <a:ea typeface="Helvetica Neue"/>
                <a:cs typeface="Helvetica Neue"/>
              </a:rPr>
              <a:t>Commercial hypothesis: fixed-scope paid pilot; recurring reviews only if ongoing value is demonstrated.</a:t>
            </a:r>
          </a:p>
        </p:txBody>
      </p:sp>
      <p:sp>
        <p:nvSpPr>
          <p:cNvPr id="11" name="">
            <a:extLst xmlns:a="http://schemas.openxmlformats.org/drawingml/2006/main">
              <a:ext uri="{FF2B5EF4-FFF2-40B4-BE49-F238E27FC236}">
                <a16:creationId xmlns:a16="http://schemas.microsoft.com/office/drawing/2014/main" id="{6AC68A9C-8EC0-43C3-B8B4-284CC1448CB8}"/>
              </a:ext>
            </a:extLst>
          </p:cNvPr>
          <p:cNvSpPr>
            <a:spLocks xmlns:a="http://schemas.openxmlformats.org/drawingml/2006/main" noGrp="1"/>
          </p:cNvSpPr>
          <p:nvPr/>
        </p:nvSpPr>
        <p:spPr>
          <a:xfrm xmlns:a="http://schemas.openxmlformats.org/drawingml/2006/main">
            <a:off x="609600" y="5657850"/>
            <a:ext cx="1071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F4F3EB"/>
                </a:solidFill>
                <a:latin typeface="Helvetica Neue"/>
                <a:ea typeface="Helvetica Neue"/>
                <a:cs typeface="Helvetica Neue"/>
              </a:defRPr>
            </a:defPPr>
            <a:lvl1pPr>
              <a:defRPr sz="1875" b="1">
                <a:solidFill>
                  <a:srgbClr val="F4F3EB"/>
                </a:solidFill>
                <a:latin typeface="Helvetica Neue"/>
                <a:ea typeface="Helvetica Neue"/>
                <a:cs typeface="Helvetica Neue"/>
              </a:defRPr>
            </a:lvl1pPr>
            <a:lvl2pPr>
              <a:defRPr sz="1875" b="1">
                <a:solidFill>
                  <a:srgbClr val="F4F3EB"/>
                </a:solidFill>
                <a:latin typeface="Helvetica Neue"/>
                <a:ea typeface="Helvetica Neue"/>
                <a:cs typeface="Helvetica Neue"/>
              </a:defRPr>
            </a:lvl2pPr>
            <a:lvl3pPr>
              <a:defRPr sz="1875" b="1">
                <a:solidFill>
                  <a:srgbClr val="F4F3EB"/>
                </a:solidFill>
                <a:latin typeface="Helvetica Neue"/>
                <a:ea typeface="Helvetica Neue"/>
                <a:cs typeface="Helvetica Neue"/>
              </a:defRPr>
            </a:lvl3pPr>
            <a:lvl4pPr>
              <a:defRPr sz="1875" b="1">
                <a:solidFill>
                  <a:srgbClr val="F4F3EB"/>
                </a:solidFill>
                <a:latin typeface="Helvetica Neue"/>
                <a:ea typeface="Helvetica Neue"/>
                <a:cs typeface="Helvetica Neue"/>
              </a:defRPr>
            </a:lvl4pPr>
            <a:lvl5pPr>
              <a:defRPr sz="1875" b="1">
                <a:solidFill>
                  <a:srgbClr val="F4F3EB"/>
                </a:solidFill>
                <a:latin typeface="Helvetica Neue"/>
                <a:ea typeface="Helvetica Neue"/>
                <a:cs typeface="Helvetica Neue"/>
              </a:defRPr>
            </a:lvl5pPr>
            <a:lvl6pPr>
              <a:defRPr sz="1875" b="1">
                <a:solidFill>
                  <a:srgbClr val="F4F3EB"/>
                </a:solidFill>
                <a:latin typeface="Helvetica Neue"/>
                <a:ea typeface="Helvetica Neue"/>
                <a:cs typeface="Helvetica Neue"/>
              </a:defRPr>
            </a:lvl6pPr>
            <a:lvl7pPr>
              <a:defRPr sz="1875" b="1">
                <a:solidFill>
                  <a:srgbClr val="F4F3EB"/>
                </a:solidFill>
                <a:latin typeface="Helvetica Neue"/>
                <a:ea typeface="Helvetica Neue"/>
                <a:cs typeface="Helvetica Neue"/>
              </a:defRPr>
            </a:lvl7pPr>
            <a:lvl8pPr>
              <a:defRPr sz="1875" b="1">
                <a:solidFill>
                  <a:srgbClr val="F4F3EB"/>
                </a:solidFill>
                <a:latin typeface="Helvetica Neue"/>
                <a:ea typeface="Helvetica Neue"/>
                <a:cs typeface="Helvetica Neue"/>
              </a:defRPr>
            </a:lvl8pPr>
            <a:lvl9pPr>
              <a:defRPr sz="1875" b="1">
                <a:solidFill>
                  <a:srgbClr val="F4F3EB"/>
                </a:solidFill>
                <a:latin typeface="Helvetica Neue"/>
                <a:ea typeface="Helvetica Neue"/>
                <a:cs typeface="Helvetica Neue"/>
              </a:defRPr>
            </a:lvl9pPr>
          </a:lstStyle>
          <a:p xmlns:a="http://schemas.openxmlformats.org/drawingml/2006/main">
            <a:pPr>
              <a:defRPr sz="1875" b="1">
                <a:solidFill>
                  <a:srgbClr val="F4F3EB"/>
                </a:solidFill>
                <a:latin typeface="Helvetica Neue"/>
                <a:ea typeface="Helvetica Neue"/>
                <a:cs typeface="Helvetica Neue"/>
              </a:defRPr>
            </a:pPr>
            <a:r>
              <a:rPr sz="1875" b="1">
                <a:solidFill>
                  <a:srgbClr val="F4F3EB"/>
                </a:solidFill>
                <a:latin typeface="Helvetica Neue"/>
                <a:ea typeface="Helvetica Neue"/>
                <a:cs typeface="Helvetica Neue"/>
              </a:rPr>
              <a:t>Scope, fee and schedule follow the access review.</a:t>
            </a:r>
          </a:p>
        </p:txBody>
      </p:sp>
    </p:spTree>
    <p:extLst>
      <p:ext uri="{BB962C8B-B14F-4D97-AF65-F5344CB8AC3E}">
        <p14:creationId xmlns:p14="http://schemas.microsoft.com/office/powerpoint/2010/main" val="213160888"/>
      </p:ext>
    </p:extLst>
  </p:cSld>
</p:sld>
</file>

<file path=ppt/slides/slide12.xml><?xml version="1.0" encoding="utf-8"?>
<p:sld xmlns:p="http://schemas.openxmlformats.org/presentationml/2006/main">
  <p:cSld>
    <p:bg>
      <p:bgPr>
        <a:solidFill xmlns:a="http://schemas.openxmlformats.org/drawingml/2006/main">
          <a:srgbClr val="EEEEE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F14A517-79B9-4704-9BCA-360A255C903C}"/>
              </a:ext>
            </a:extLst>
          </p:cNvPr>
          <p:cNvSpPr>
            <a:spLocks xmlns:a="http://schemas.openxmlformats.org/drawingml/2006/main" noGrp="1"/>
          </p:cNvSpPr>
          <p:nvPr/>
        </p:nvSpPr>
        <p:spPr>
          <a:xfrm xmlns:a="http://schemas.openxmlformats.org/drawingml/2006/main">
            <a:off x="609600" y="3429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575E43"/>
                </a:solidFill>
                <a:latin typeface="Helvetica Neue"/>
                <a:ea typeface="Helvetica Neue"/>
                <a:cs typeface="Helvetica Neue"/>
              </a:defRPr>
            </a:defPPr>
            <a:lvl1pPr>
              <a:defRPr sz="1125" b="1">
                <a:solidFill>
                  <a:srgbClr val="575E43"/>
                </a:solidFill>
                <a:latin typeface="Helvetica Neue"/>
                <a:ea typeface="Helvetica Neue"/>
                <a:cs typeface="Helvetica Neue"/>
              </a:defRPr>
            </a:lvl1pPr>
            <a:lvl2pPr>
              <a:defRPr sz="1125" b="1">
                <a:solidFill>
                  <a:srgbClr val="575E43"/>
                </a:solidFill>
                <a:latin typeface="Helvetica Neue"/>
                <a:ea typeface="Helvetica Neue"/>
                <a:cs typeface="Helvetica Neue"/>
              </a:defRPr>
            </a:lvl2pPr>
            <a:lvl3pPr>
              <a:defRPr sz="1125" b="1">
                <a:solidFill>
                  <a:srgbClr val="575E43"/>
                </a:solidFill>
                <a:latin typeface="Helvetica Neue"/>
                <a:ea typeface="Helvetica Neue"/>
                <a:cs typeface="Helvetica Neue"/>
              </a:defRPr>
            </a:lvl3pPr>
            <a:lvl4pPr>
              <a:defRPr sz="1125" b="1">
                <a:solidFill>
                  <a:srgbClr val="575E43"/>
                </a:solidFill>
                <a:latin typeface="Helvetica Neue"/>
                <a:ea typeface="Helvetica Neue"/>
                <a:cs typeface="Helvetica Neue"/>
              </a:defRPr>
            </a:lvl4pPr>
            <a:lvl5pPr>
              <a:defRPr sz="1125" b="1">
                <a:solidFill>
                  <a:srgbClr val="575E43"/>
                </a:solidFill>
                <a:latin typeface="Helvetica Neue"/>
                <a:ea typeface="Helvetica Neue"/>
                <a:cs typeface="Helvetica Neue"/>
              </a:defRPr>
            </a:lvl5pPr>
            <a:lvl6pPr>
              <a:defRPr sz="1125" b="1">
                <a:solidFill>
                  <a:srgbClr val="575E43"/>
                </a:solidFill>
                <a:latin typeface="Helvetica Neue"/>
                <a:ea typeface="Helvetica Neue"/>
                <a:cs typeface="Helvetica Neue"/>
              </a:defRPr>
            </a:lvl6pPr>
            <a:lvl7pPr>
              <a:defRPr sz="1125" b="1">
                <a:solidFill>
                  <a:srgbClr val="575E43"/>
                </a:solidFill>
                <a:latin typeface="Helvetica Neue"/>
                <a:ea typeface="Helvetica Neue"/>
                <a:cs typeface="Helvetica Neue"/>
              </a:defRPr>
            </a:lvl7pPr>
            <a:lvl8pPr>
              <a:defRPr sz="1125" b="1">
                <a:solidFill>
                  <a:srgbClr val="575E43"/>
                </a:solidFill>
                <a:latin typeface="Helvetica Neue"/>
                <a:ea typeface="Helvetica Neue"/>
                <a:cs typeface="Helvetica Neue"/>
              </a:defRPr>
            </a:lvl8pPr>
            <a:lvl9pPr>
              <a:defRPr sz="1125" b="1">
                <a:solidFill>
                  <a:srgbClr val="575E43"/>
                </a:solidFill>
                <a:latin typeface="Helvetica Neue"/>
                <a:ea typeface="Helvetica Neue"/>
                <a:cs typeface="Helvetica Neue"/>
              </a:defRPr>
            </a:lvl9pPr>
          </a:lstStyle>
          <a:p xmlns:a="http://schemas.openxmlformats.org/drawingml/2006/main">
            <a:pPr>
              <a:defRPr sz="1125" b="1">
                <a:solidFill>
                  <a:srgbClr val="575E43"/>
                </a:solidFill>
                <a:latin typeface="Helvetica Neue"/>
                <a:ea typeface="Helvetica Neue"/>
                <a:cs typeface="Helvetica Neue"/>
              </a:defRPr>
            </a:pPr>
            <a:r>
              <a:rPr sz="1125" b="1">
                <a:solidFill>
                  <a:srgbClr val="575E43"/>
                </a:solidFill>
                <a:latin typeface="Helvetica Neue"/>
                <a:ea typeface="Helvetica Neue"/>
                <a:cs typeface="Helvetica Neue"/>
              </a:rPr>
              <a:t>APPENDIX / EXTERNAL EVIDENCE REVIEWED</a:t>
            </a:r>
          </a:p>
        </p:txBody>
      </p:sp>
      <p:sp>
        <p:nvSpPr>
          <p:cNvPr id="2" name="">
            <a:extLst xmlns:a="http://schemas.openxmlformats.org/drawingml/2006/main">
              <a:ext uri="{FF2B5EF4-FFF2-40B4-BE49-F238E27FC236}">
                <a16:creationId xmlns:a16="http://schemas.microsoft.com/office/drawing/2014/main" id="{353F1644-F3F4-4040-B1F3-B5A165F15298}"/>
              </a:ext>
            </a:extLst>
          </p:cNvPr>
          <p:cNvSpPr>
            <a:spLocks xmlns:a="http://schemas.openxmlformats.org/drawingml/2006/main" noGrp="1"/>
          </p:cNvSpPr>
          <p:nvPr/>
        </p:nvSpPr>
        <p:spPr>
          <a:xfrm xmlns:a="http://schemas.openxmlformats.org/drawingml/2006/main">
            <a:off x="609600" y="914400"/>
            <a:ext cx="109728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171A12"/>
                </a:solidFill>
                <a:latin typeface="Helvetica Neue"/>
                <a:ea typeface="Helvetica Neue"/>
                <a:cs typeface="Helvetica Neue"/>
              </a:defRPr>
            </a:defPPr>
            <a:lvl1pPr>
              <a:defRPr sz="3900" b="0">
                <a:solidFill>
                  <a:srgbClr val="171A12"/>
                </a:solidFill>
                <a:latin typeface="Helvetica Neue"/>
                <a:ea typeface="Helvetica Neue"/>
                <a:cs typeface="Helvetica Neue"/>
              </a:defRPr>
            </a:lvl1pPr>
            <a:lvl2pPr>
              <a:defRPr sz="3900" b="0">
                <a:solidFill>
                  <a:srgbClr val="171A12"/>
                </a:solidFill>
                <a:latin typeface="Helvetica Neue"/>
                <a:ea typeface="Helvetica Neue"/>
                <a:cs typeface="Helvetica Neue"/>
              </a:defRPr>
            </a:lvl2pPr>
            <a:lvl3pPr>
              <a:defRPr sz="3900" b="0">
                <a:solidFill>
                  <a:srgbClr val="171A12"/>
                </a:solidFill>
                <a:latin typeface="Helvetica Neue"/>
                <a:ea typeface="Helvetica Neue"/>
                <a:cs typeface="Helvetica Neue"/>
              </a:defRPr>
            </a:lvl3pPr>
            <a:lvl4pPr>
              <a:defRPr sz="3900" b="0">
                <a:solidFill>
                  <a:srgbClr val="171A12"/>
                </a:solidFill>
                <a:latin typeface="Helvetica Neue"/>
                <a:ea typeface="Helvetica Neue"/>
                <a:cs typeface="Helvetica Neue"/>
              </a:defRPr>
            </a:lvl4pPr>
            <a:lvl5pPr>
              <a:defRPr sz="3900" b="0">
                <a:solidFill>
                  <a:srgbClr val="171A12"/>
                </a:solidFill>
                <a:latin typeface="Helvetica Neue"/>
                <a:ea typeface="Helvetica Neue"/>
                <a:cs typeface="Helvetica Neue"/>
              </a:defRPr>
            </a:lvl5pPr>
            <a:lvl6pPr>
              <a:defRPr sz="3900" b="0">
                <a:solidFill>
                  <a:srgbClr val="171A12"/>
                </a:solidFill>
                <a:latin typeface="Helvetica Neue"/>
                <a:ea typeface="Helvetica Neue"/>
                <a:cs typeface="Helvetica Neue"/>
              </a:defRPr>
            </a:lvl6pPr>
            <a:lvl7pPr>
              <a:defRPr sz="3900" b="0">
                <a:solidFill>
                  <a:srgbClr val="171A12"/>
                </a:solidFill>
                <a:latin typeface="Helvetica Neue"/>
                <a:ea typeface="Helvetica Neue"/>
                <a:cs typeface="Helvetica Neue"/>
              </a:defRPr>
            </a:lvl7pPr>
            <a:lvl8pPr>
              <a:defRPr sz="3900" b="0">
                <a:solidFill>
                  <a:srgbClr val="171A12"/>
                </a:solidFill>
                <a:latin typeface="Helvetica Neue"/>
                <a:ea typeface="Helvetica Neue"/>
                <a:cs typeface="Helvetica Neue"/>
              </a:defRPr>
            </a:lvl8pPr>
            <a:lvl9pPr>
              <a:defRPr sz="3900" b="0">
                <a:solidFill>
                  <a:srgbClr val="171A12"/>
                </a:solidFill>
                <a:latin typeface="Helvetica Neue"/>
                <a:ea typeface="Helvetica Neue"/>
                <a:cs typeface="Helvetica Neue"/>
              </a:defRPr>
            </a:lvl9pPr>
          </a:lstStyle>
          <a:p xmlns:a="http://schemas.openxmlformats.org/drawingml/2006/main">
            <a:pPr>
              <a:defRPr sz="3900" b="0">
                <a:solidFill>
                  <a:srgbClr val="171A12"/>
                </a:solidFill>
                <a:latin typeface="Helvetica Neue"/>
                <a:ea typeface="Helvetica Neue"/>
                <a:cs typeface="Helvetica Neue"/>
              </a:defRPr>
            </a:pPr>
            <a:r>
              <a:rPr sz="3900" b="0">
                <a:solidFill>
                  <a:srgbClr val="171A12"/>
                </a:solidFill>
                <a:latin typeface="Helvetica Neue"/>
                <a:ea typeface="Helvetica Neue"/>
                <a:cs typeface="Helvetica Neue"/>
              </a:rPr>
              <a:t>Local efficiency sits inside a larger power system</a:t>
            </a:r>
          </a:p>
        </p:txBody>
      </p:sp>
      <p:sp>
        <p:nvSpPr>
          <p:cNvPr id="3" name="">
            <a:extLst xmlns:a="http://schemas.openxmlformats.org/drawingml/2006/main">
              <a:ext uri="{FF2B5EF4-FFF2-40B4-BE49-F238E27FC236}">
                <a16:creationId xmlns:a16="http://schemas.microsoft.com/office/drawing/2014/main" id="{CC03BC27-BD64-4A68-8933-998B0AF55472}"/>
              </a:ext>
            </a:extLst>
          </p:cNvPr>
          <p:cNvSpPr>
            <a:spLocks xmlns:a="http://schemas.openxmlformats.org/drawingml/2006/main" noGrp="1"/>
          </p:cNvSpPr>
          <p:nvPr/>
        </p:nvSpPr>
        <p:spPr>
          <a:xfrm xmlns:a="http://schemas.openxmlformats.org/drawingml/2006/main">
            <a:off x="609600" y="644842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75E43"/>
                </a:solidFill>
                <a:latin typeface="Helvetica Neue"/>
                <a:ea typeface="Helvetica Neue"/>
                <a:cs typeface="Helvetica Neue"/>
              </a:defRPr>
            </a:defPPr>
            <a:lvl1pPr>
              <a:defRPr sz="900" b="0">
                <a:solidFill>
                  <a:srgbClr val="575E43"/>
                </a:solidFill>
                <a:latin typeface="Helvetica Neue"/>
                <a:ea typeface="Helvetica Neue"/>
                <a:cs typeface="Helvetica Neue"/>
              </a:defRPr>
            </a:lvl1pPr>
            <a:lvl2pPr>
              <a:defRPr sz="900" b="0">
                <a:solidFill>
                  <a:srgbClr val="575E43"/>
                </a:solidFill>
                <a:latin typeface="Helvetica Neue"/>
                <a:ea typeface="Helvetica Neue"/>
                <a:cs typeface="Helvetica Neue"/>
              </a:defRPr>
            </a:lvl2pPr>
            <a:lvl3pPr>
              <a:defRPr sz="900" b="0">
                <a:solidFill>
                  <a:srgbClr val="575E43"/>
                </a:solidFill>
                <a:latin typeface="Helvetica Neue"/>
                <a:ea typeface="Helvetica Neue"/>
                <a:cs typeface="Helvetica Neue"/>
              </a:defRPr>
            </a:lvl3pPr>
            <a:lvl4pPr>
              <a:defRPr sz="900" b="0">
                <a:solidFill>
                  <a:srgbClr val="575E43"/>
                </a:solidFill>
                <a:latin typeface="Helvetica Neue"/>
                <a:ea typeface="Helvetica Neue"/>
                <a:cs typeface="Helvetica Neue"/>
              </a:defRPr>
            </a:lvl4pPr>
            <a:lvl5pPr>
              <a:defRPr sz="900" b="0">
                <a:solidFill>
                  <a:srgbClr val="575E43"/>
                </a:solidFill>
                <a:latin typeface="Helvetica Neue"/>
                <a:ea typeface="Helvetica Neue"/>
                <a:cs typeface="Helvetica Neue"/>
              </a:defRPr>
            </a:lvl5pPr>
            <a:lvl6pPr>
              <a:defRPr sz="900" b="0">
                <a:solidFill>
                  <a:srgbClr val="575E43"/>
                </a:solidFill>
                <a:latin typeface="Helvetica Neue"/>
                <a:ea typeface="Helvetica Neue"/>
                <a:cs typeface="Helvetica Neue"/>
              </a:defRPr>
            </a:lvl6pPr>
            <a:lvl7pPr>
              <a:defRPr sz="900" b="0">
                <a:solidFill>
                  <a:srgbClr val="575E43"/>
                </a:solidFill>
                <a:latin typeface="Helvetica Neue"/>
                <a:ea typeface="Helvetica Neue"/>
                <a:cs typeface="Helvetica Neue"/>
              </a:defRPr>
            </a:lvl7pPr>
            <a:lvl8pPr>
              <a:defRPr sz="900" b="0">
                <a:solidFill>
                  <a:srgbClr val="575E43"/>
                </a:solidFill>
                <a:latin typeface="Helvetica Neue"/>
                <a:ea typeface="Helvetica Neue"/>
                <a:cs typeface="Helvetica Neue"/>
              </a:defRPr>
            </a:lvl8pPr>
            <a:lvl9pPr>
              <a:defRPr sz="900" b="0">
                <a:solidFill>
                  <a:srgbClr val="575E43"/>
                </a:solidFill>
                <a:latin typeface="Helvetica Neue"/>
                <a:ea typeface="Helvetica Neue"/>
                <a:cs typeface="Helvetica Neue"/>
              </a:defRPr>
            </a:lvl9pPr>
          </a:lstStyle>
          <a:p xmlns:a="http://schemas.openxmlformats.org/drawingml/2006/main">
            <a:pPr>
              <a:defRPr sz="900" b="0">
                <a:solidFill>
                  <a:srgbClr val="575E43"/>
                </a:solidFill>
                <a:latin typeface="Helvetica Neue"/>
                <a:ea typeface="Helvetica Neue"/>
                <a:cs typeface="Helvetica Neue"/>
              </a:defRPr>
            </a:pPr>
            <a:r>
              <a:rPr sz="900" b="0">
                <a:solidFill>
                  <a:srgbClr val="575E43"/>
                </a:solidFill>
                <a:latin typeface="Helvetica Neue"/>
                <a:ea typeface="Helvetica Neue"/>
                <a:cs typeface="Helvetica Neue"/>
              </a:rPr>
              <a:t>E FOR ENERGY</a:t>
            </a:r>
          </a:p>
        </p:txBody>
      </p:sp>
      <p:sp>
        <p:nvSpPr>
          <p:cNvPr id="4" name="">
            <a:extLst xmlns:a="http://schemas.openxmlformats.org/drawingml/2006/main">
              <a:ext uri="{FF2B5EF4-FFF2-40B4-BE49-F238E27FC236}">
                <a16:creationId xmlns:a16="http://schemas.microsoft.com/office/drawing/2014/main" id="{949A418F-CC52-4880-B4E8-0DC3C00EF363}"/>
              </a:ext>
            </a:extLst>
          </p:cNvPr>
          <p:cNvSpPr>
            <a:spLocks xmlns:a="http://schemas.openxmlformats.org/drawingml/2006/main" noGrp="1"/>
          </p:cNvSpPr>
          <p:nvPr/>
        </p:nvSpPr>
        <p:spPr>
          <a:xfrm xmlns:a="http://schemas.openxmlformats.org/drawingml/2006/main">
            <a:off x="11049000" y="64198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5E43"/>
                </a:solidFill>
                <a:latin typeface="Helvetica Neue"/>
                <a:ea typeface="Helvetica Neue"/>
                <a:cs typeface="Helvetica Neue"/>
              </a:defRPr>
            </a:defPPr>
            <a:lvl1pPr>
              <a:defRPr sz="1200" b="0">
                <a:solidFill>
                  <a:srgbClr val="575E43"/>
                </a:solidFill>
                <a:latin typeface="Helvetica Neue"/>
                <a:ea typeface="Helvetica Neue"/>
                <a:cs typeface="Helvetica Neue"/>
              </a:defRPr>
            </a:lvl1pPr>
            <a:lvl2pPr>
              <a:defRPr sz="1200" b="0">
                <a:solidFill>
                  <a:srgbClr val="575E43"/>
                </a:solidFill>
                <a:latin typeface="Helvetica Neue"/>
                <a:ea typeface="Helvetica Neue"/>
                <a:cs typeface="Helvetica Neue"/>
              </a:defRPr>
            </a:lvl2pPr>
            <a:lvl3pPr>
              <a:defRPr sz="1200" b="0">
                <a:solidFill>
                  <a:srgbClr val="575E43"/>
                </a:solidFill>
                <a:latin typeface="Helvetica Neue"/>
                <a:ea typeface="Helvetica Neue"/>
                <a:cs typeface="Helvetica Neue"/>
              </a:defRPr>
            </a:lvl3pPr>
            <a:lvl4pPr>
              <a:defRPr sz="1200" b="0">
                <a:solidFill>
                  <a:srgbClr val="575E43"/>
                </a:solidFill>
                <a:latin typeface="Helvetica Neue"/>
                <a:ea typeface="Helvetica Neue"/>
                <a:cs typeface="Helvetica Neue"/>
              </a:defRPr>
            </a:lvl4pPr>
            <a:lvl5pPr>
              <a:defRPr sz="1200" b="0">
                <a:solidFill>
                  <a:srgbClr val="575E43"/>
                </a:solidFill>
                <a:latin typeface="Helvetica Neue"/>
                <a:ea typeface="Helvetica Neue"/>
                <a:cs typeface="Helvetica Neue"/>
              </a:defRPr>
            </a:lvl5pPr>
            <a:lvl6pPr>
              <a:defRPr sz="1200" b="0">
                <a:solidFill>
                  <a:srgbClr val="575E43"/>
                </a:solidFill>
                <a:latin typeface="Helvetica Neue"/>
                <a:ea typeface="Helvetica Neue"/>
                <a:cs typeface="Helvetica Neue"/>
              </a:defRPr>
            </a:lvl6pPr>
            <a:lvl7pPr>
              <a:defRPr sz="1200" b="0">
                <a:solidFill>
                  <a:srgbClr val="575E43"/>
                </a:solidFill>
                <a:latin typeface="Helvetica Neue"/>
                <a:ea typeface="Helvetica Neue"/>
                <a:cs typeface="Helvetica Neue"/>
              </a:defRPr>
            </a:lvl7pPr>
            <a:lvl8pPr>
              <a:defRPr sz="1200" b="0">
                <a:solidFill>
                  <a:srgbClr val="575E43"/>
                </a:solidFill>
                <a:latin typeface="Helvetica Neue"/>
                <a:ea typeface="Helvetica Neue"/>
                <a:cs typeface="Helvetica Neue"/>
              </a:defRPr>
            </a:lvl8pPr>
            <a:lvl9pPr>
              <a:defRPr sz="1200" b="0">
                <a:solidFill>
                  <a:srgbClr val="575E43"/>
                </a:solidFill>
                <a:latin typeface="Helvetica Neue"/>
                <a:ea typeface="Helvetica Neue"/>
                <a:cs typeface="Helvetica Neue"/>
              </a:defRPr>
            </a:lvl9pPr>
          </a:lstStyle>
          <a:p xmlns:a="http://schemas.openxmlformats.org/drawingml/2006/main">
            <a:pPr>
              <a:defRPr sz="1200" b="0">
                <a:solidFill>
                  <a:srgbClr val="575E43"/>
                </a:solidFill>
                <a:latin typeface="Helvetica Neue"/>
                <a:ea typeface="Helvetica Neue"/>
                <a:cs typeface="Helvetica Neue"/>
              </a:defRPr>
            </a:pPr>
            <a:r>
              <a:rPr sz="1200" b="0">
                <a:solidFill>
                  <a:srgbClr val="575E43"/>
                </a:solidFill>
                <a:latin typeface="Helvetica Neue"/>
                <a:ea typeface="Helvetica Neue"/>
                <a:cs typeface="Helvetica Neue"/>
              </a:rPr>
              <a:t>12</a:t>
            </a:r>
          </a:p>
        </p:txBody>
      </p:sp>
      <p:graphicFrame>
        <p:nvGraphicFramePr>
          <p:cNvPr id="5" name="">
            <a:extLst xmlns:a="http://schemas.openxmlformats.org/drawingml/2006/main">
              <a:ext uri="{FF2B5EF4-FFF2-40B4-BE49-F238E27FC236}">
                <a16:creationId xmlns:a16="http://schemas.microsoft.com/office/drawing/2014/main" id="{B188541E-075D-4A19-A94C-CE0955E81737}"/>
              </a:ext>
            </a:extLst>
          </p:cNvPr>
          <p:cNvGraphicFramePr/>
          <p:nvPr/>
        </p:nvGraphicFramePr>
        <p:xfrm>
          <a:off xmlns:a="http://schemas.openxmlformats.org/drawingml/2006/main" x="609600" y="2419350"/>
          <a:ext xmlns:a="http://schemas.openxmlformats.org/drawingml/2006/main" cx="10972800" cy="3600450"/>
        </p:xfrm>
        <a:graphic xmlns:a="http://schemas.openxmlformats.org/drawingml/2006/main">
          <a:graphicData uri="http://schemas.openxmlformats.org/drawingml/2006/table">
            <a:tbl>
              <a:tblPr/>
              <a:tblGrid>
                <a:gridCol w="2143125"/>
                <a:gridCol w="4572000"/>
                <a:gridCol w="4257675"/>
              </a:tblGrid>
              <a:tr h="600075">
                <a:tc>
                  <a:txBody>
                    <a:bodyPr/>
                    <a:lstStyle/>
                    <a:p>
                      <a:r>
                        <a:rPr sz="1500" b="1">
                          <a:solidFill>
                            <a:srgbClr val="F4F3EB"/>
                          </a:solidFill>
                          <a:latin typeface="Helvetica Neue"/>
                          <a:ea typeface="Helvetica Neue"/>
                          <a:cs typeface="Helvetica Neue"/>
                        </a:rPr>
                        <a:t>Constraint</a:t>
                      </a:r>
                    </a:p>
                  </a:txBody>
                  <a:tcPr marL="91440" marR="91440" marT="45720" marB="45720">
                    <a:lnL w="4763">
                      <a:solidFill>
                        <a:srgbClr val="C5C8B9"/>
                      </a:solidFill>
                      <a:prstDash val="solid"/>
                    </a:lnL>
                    <a:lnR w="4763">
                      <a:solidFill>
                        <a:srgbClr val="C5C8B9"/>
                      </a:solidFill>
                      <a:prstDash val="solid"/>
                    </a:lnR>
                    <a:lnT w="4763">
                      <a:solidFill>
                        <a:srgbClr val="C5C8B9"/>
                      </a:solidFill>
                      <a:prstDash val="solid"/>
                    </a:lnT>
                    <a:lnB w="4763">
                      <a:solidFill>
                        <a:srgbClr val="C5C8B9"/>
                      </a:solidFill>
                      <a:prstDash val="solid"/>
                    </a:lnB>
                    <a:solidFill>
                      <a:srgbClr val="24271D"/>
                    </a:solidFill>
                  </a:tcPr>
                </a:tc>
                <a:tc>
                  <a:txBody>
                    <a:bodyPr/>
                    <a:lstStyle/>
                    <a:p>
                      <a:r>
                        <a:rPr sz="1500" b="1">
                          <a:solidFill>
                            <a:srgbClr val="F4F3EB"/>
                          </a:solidFill>
                          <a:latin typeface="Helvetica Neue"/>
                          <a:ea typeface="Helvetica Neue"/>
                          <a:cs typeface="Helvetica Neue"/>
                        </a:rPr>
                        <a:t>Verified evidence</a:t>
                      </a:r>
                    </a:p>
                  </a:txBody>
                  <a:tcPr marL="91440" marR="91440" marT="45720" marB="45720">
                    <a:lnR w="4763">
                      <a:solidFill>
                        <a:srgbClr val="C5C8B9"/>
                      </a:solidFill>
                      <a:prstDash val="solid"/>
                    </a:lnR>
                    <a:lnT w="4763">
                      <a:solidFill>
                        <a:srgbClr val="C5C8B9"/>
                      </a:solidFill>
                      <a:prstDash val="solid"/>
                    </a:lnT>
                    <a:lnB w="4763">
                      <a:solidFill>
                        <a:srgbClr val="C5C8B9"/>
                      </a:solidFill>
                      <a:prstDash val="solid"/>
                    </a:lnB>
                    <a:solidFill>
                      <a:srgbClr val="24271D"/>
                    </a:solidFill>
                  </a:tcPr>
                </a:tc>
                <a:tc>
                  <a:txBody>
                    <a:bodyPr/>
                    <a:lstStyle/>
                    <a:p>
                      <a:r>
                        <a:rPr sz="1500" b="1">
                          <a:solidFill>
                            <a:srgbClr val="F4F3EB"/>
                          </a:solidFill>
                          <a:latin typeface="Helvetica Neue"/>
                          <a:ea typeface="Helvetica Neue"/>
                          <a:cs typeface="Helvetica Neue"/>
                        </a:rPr>
                        <a:t>Pilot relevance and limit</a:t>
                      </a:r>
                    </a:p>
                  </a:txBody>
                  <a:tcPr marL="91440" marR="91440" marT="45720" marB="45720">
                    <a:lnR w="4763">
                      <a:solidFill>
                        <a:srgbClr val="C5C8B9"/>
                      </a:solidFill>
                      <a:prstDash val="solid"/>
                    </a:lnR>
                    <a:lnT w="4763">
                      <a:solidFill>
                        <a:srgbClr val="C5C8B9"/>
                      </a:solidFill>
                      <a:prstDash val="solid"/>
                    </a:lnT>
                    <a:lnB w="4763">
                      <a:solidFill>
                        <a:srgbClr val="C5C8B9"/>
                      </a:solidFill>
                      <a:prstDash val="solid"/>
                    </a:lnB>
                    <a:solidFill>
                      <a:srgbClr val="24271D"/>
                    </a:solidFill>
                  </a:tcPr>
                </a:tc>
              </a:tr>
              <a:tr h="600075">
                <a:tc>
                  <a:txBody>
                    <a:bodyPr/>
                    <a:lstStyle/>
                    <a:p>
                      <a:r>
                        <a:rPr sz="1200" b="0">
                          <a:solidFill>
                            <a:srgbClr val="171A12"/>
                          </a:solidFill>
                          <a:latin typeface="Helvetica Neue"/>
                          <a:ea typeface="Helvetica Neue"/>
                          <a:cs typeface="Helvetica Neue"/>
                        </a:rPr>
                        <a:t>Grid delivery</a:t>
                      </a:r>
                    </a:p>
                  </a:txBody>
                  <a:tcPr marL="91440" marR="91440" marT="45720" marB="45720">
                    <a:lnL w="4763">
                      <a:solidFill>
                        <a:srgbClr val="C5C8B9"/>
                      </a:solidFill>
                      <a:prstDash val="solid"/>
                    </a:lnL>
                    <a:lnR w="4763">
                      <a:solidFill>
                        <a:srgbClr val="C5C8B9"/>
                      </a:solidFill>
                      <a:prstDash val="solid"/>
                    </a:lnR>
                    <a:lnB w="4763">
                      <a:solidFill>
                        <a:srgbClr val="C5C8B9"/>
                      </a:solidFill>
                      <a:prstDash val="solid"/>
                    </a:lnB>
                    <a:solidFill>
                      <a:srgbClr val="EEEEE4"/>
                    </a:solidFill>
                  </a:tcPr>
                </a:tc>
                <a:tc>
                  <a:txBody>
                    <a:bodyPr/>
                    <a:lstStyle/>
                    <a:p>
                      <a:r>
                        <a:rPr sz="1200" b="0">
                          <a:solidFill>
                            <a:srgbClr val="171A12"/>
                          </a:solidFill>
                          <a:latin typeface="Helvetica Neue"/>
                          <a:ea typeface="Helvetica Neue"/>
                          <a:cs typeface="Helvetica Neue"/>
                        </a:rPr>
                        <a:t>IEA: grid plans and build 5–15 years; data centers 1–3 years</a:t>
                      </a:r>
                    </a:p>
                  </a:txBody>
                  <a:tcPr marL="91440" marR="91440" marT="45720" marB="45720">
                    <a:lnR w="4763">
                      <a:solidFill>
                        <a:srgbClr val="C5C8B9"/>
                      </a:solidFill>
                      <a:prstDash val="solid"/>
                    </a:lnR>
                    <a:lnB w="4763">
                      <a:solidFill>
                        <a:srgbClr val="C5C8B9"/>
                      </a:solidFill>
                      <a:prstDash val="solid"/>
                    </a:lnB>
                    <a:solidFill>
                      <a:srgbClr val="EEEEE4"/>
                    </a:solidFill>
                  </a:tcPr>
                </a:tc>
                <a:tc>
                  <a:txBody>
                    <a:bodyPr/>
                    <a:lstStyle/>
                    <a:p>
                      <a:r>
                        <a:rPr sz="1200" b="0">
                          <a:solidFill>
                            <a:srgbClr val="171A12"/>
                          </a:solidFill>
                          <a:latin typeface="Helvetica Neue"/>
                          <a:ea typeface="Helvetica Neue"/>
                          <a:cs typeface="Helvetica Neue"/>
                        </a:rPr>
                        <a:t>Compare workloads within available power; cannot speed interconnection</a:t>
                      </a:r>
                    </a:p>
                  </a:txBody>
                  <a:tcPr marL="91440" marR="91440" marT="45720" marB="45720">
                    <a:lnR w="4763">
                      <a:solidFill>
                        <a:srgbClr val="C5C8B9"/>
                      </a:solidFill>
                      <a:prstDash val="solid"/>
                    </a:lnR>
                    <a:lnB w="4763">
                      <a:solidFill>
                        <a:srgbClr val="C5C8B9"/>
                      </a:solidFill>
                      <a:prstDash val="solid"/>
                    </a:lnB>
                    <a:solidFill>
                      <a:srgbClr val="EEEEE4"/>
                    </a:solidFill>
                  </a:tcPr>
                </a:tc>
              </a:tr>
              <a:tr h="600075">
                <a:tc>
                  <a:txBody>
                    <a:bodyPr/>
                    <a:lstStyle/>
                    <a:p>
                      <a:r>
                        <a:rPr sz="1200" b="0">
                          <a:solidFill>
                            <a:srgbClr val="171A12"/>
                          </a:solidFill>
                          <a:latin typeface="Helvetica Neue"/>
                          <a:ea typeface="Helvetica Neue"/>
                          <a:cs typeface="Helvetica Neue"/>
                        </a:rPr>
                        <a:t>Power equipment</a:t>
                      </a:r>
                    </a:p>
                  </a:txBody>
                  <a:tcPr marL="91440" marR="91440" marT="45720" marB="45720">
                    <a:lnL w="4763">
                      <a:solidFill>
                        <a:srgbClr val="C5C8B9"/>
                      </a:solidFill>
                      <a:prstDash val="solid"/>
                    </a:lnL>
                    <a:lnR w="4763">
                      <a:solidFill>
                        <a:srgbClr val="C5C8B9"/>
                      </a:solidFill>
                      <a:prstDash val="solid"/>
                    </a:lnR>
                    <a:lnB w="4763">
                      <a:solidFill>
                        <a:srgbClr val="C5C8B9"/>
                      </a:solidFill>
                      <a:prstDash val="solid"/>
                    </a:lnB>
                    <a:solidFill>
                      <a:srgbClr val="EEEEE4"/>
                    </a:solidFill>
                  </a:tcPr>
                </a:tc>
                <a:tc>
                  <a:txBody>
                    <a:bodyPr/>
                    <a:lstStyle/>
                    <a:p>
                      <a:r>
                        <a:rPr sz="1200" b="0">
                          <a:solidFill>
                            <a:srgbClr val="171A12"/>
                          </a:solidFill>
                          <a:latin typeface="Helvetica Neue"/>
                          <a:ea typeface="Helvetica Neue"/>
                          <a:cs typeface="Helvetica Neue"/>
                        </a:rPr>
                        <a:t>DOE: some critical electrical equipment has 2+ year lead times</a:t>
                      </a:r>
                    </a:p>
                  </a:txBody>
                  <a:tcPr marL="91440" marR="91440" marT="45720" marB="45720">
                    <a:lnR w="4763">
                      <a:solidFill>
                        <a:srgbClr val="C5C8B9"/>
                      </a:solidFill>
                      <a:prstDash val="solid"/>
                    </a:lnR>
                    <a:lnB w="4763">
                      <a:solidFill>
                        <a:srgbClr val="C5C8B9"/>
                      </a:solidFill>
                      <a:prstDash val="solid"/>
                    </a:lnB>
                    <a:solidFill>
                      <a:srgbClr val="EEEEE4"/>
                    </a:solidFill>
                  </a:tcPr>
                </a:tc>
                <a:tc>
                  <a:txBody>
                    <a:bodyPr/>
                    <a:lstStyle/>
                    <a:p>
                      <a:r>
                        <a:rPr sz="1200" b="0">
                          <a:solidFill>
                            <a:srgbClr val="171A12"/>
                          </a:solidFill>
                          <a:latin typeface="Helvetica Neue"/>
                          <a:ea typeface="Helvetica Neue"/>
                          <a:cs typeface="Helvetica Neue"/>
                        </a:rPr>
                        <a:t>Measure software choices; cannot supply transformers or substations</a:t>
                      </a:r>
                    </a:p>
                  </a:txBody>
                  <a:tcPr marL="91440" marR="91440" marT="45720" marB="45720">
                    <a:lnR w="4763">
                      <a:solidFill>
                        <a:srgbClr val="C5C8B9"/>
                      </a:solidFill>
                      <a:prstDash val="solid"/>
                    </a:lnR>
                    <a:lnB w="4763">
                      <a:solidFill>
                        <a:srgbClr val="C5C8B9"/>
                      </a:solidFill>
                      <a:prstDash val="solid"/>
                    </a:lnB>
                    <a:solidFill>
                      <a:srgbClr val="EEEEE4"/>
                    </a:solidFill>
                  </a:tcPr>
                </a:tc>
              </a:tr>
              <a:tr h="600075">
                <a:tc>
                  <a:txBody>
                    <a:bodyPr/>
                    <a:lstStyle/>
                    <a:p>
                      <a:r>
                        <a:rPr sz="1200" b="0">
                          <a:solidFill>
                            <a:srgbClr val="171A12"/>
                          </a:solidFill>
                          <a:latin typeface="Helvetica Neue"/>
                          <a:ea typeface="Helvetica Neue"/>
                          <a:cs typeface="Helvetica Neue"/>
                        </a:rPr>
                        <a:t>Cooling</a:t>
                      </a:r>
                    </a:p>
                  </a:txBody>
                  <a:tcPr marL="91440" marR="91440" marT="45720" marB="45720">
                    <a:lnL w="4763">
                      <a:solidFill>
                        <a:srgbClr val="C5C8B9"/>
                      </a:solidFill>
                      <a:prstDash val="solid"/>
                    </a:lnL>
                    <a:lnR w="4763">
                      <a:solidFill>
                        <a:srgbClr val="C5C8B9"/>
                      </a:solidFill>
                      <a:prstDash val="solid"/>
                    </a:lnR>
                    <a:lnB w="4763">
                      <a:solidFill>
                        <a:srgbClr val="C5C8B9"/>
                      </a:solidFill>
                      <a:prstDash val="solid"/>
                    </a:lnB>
                    <a:solidFill>
                      <a:srgbClr val="EEEEE4"/>
                    </a:solidFill>
                  </a:tcPr>
                </a:tc>
                <a:tc>
                  <a:txBody>
                    <a:bodyPr/>
                    <a:lstStyle/>
                    <a:p>
                      <a:r>
                        <a:rPr sz="1200" b="0">
                          <a:solidFill>
                            <a:srgbClr val="171A12"/>
                          </a:solidFill>
                          <a:latin typeface="Helvetica Neue"/>
                          <a:ea typeface="Helvetica Neue"/>
                          <a:cs typeface="Helvetica Neue"/>
                        </a:rPr>
                        <a:t>IEA: cooling ranges from 7% in efficient hyperscale to over 30% in less-efficient enterprise sites</a:t>
                      </a:r>
                    </a:p>
                  </a:txBody>
                  <a:tcPr marL="91440" marR="91440" marT="45720" marB="45720">
                    <a:lnR w="4763">
                      <a:solidFill>
                        <a:srgbClr val="C5C8B9"/>
                      </a:solidFill>
                      <a:prstDash val="solid"/>
                    </a:lnR>
                    <a:lnB w="4763">
                      <a:solidFill>
                        <a:srgbClr val="C5C8B9"/>
                      </a:solidFill>
                      <a:prstDash val="solid"/>
                    </a:lnB>
                    <a:solidFill>
                      <a:srgbClr val="EEEEE4"/>
                    </a:solidFill>
                  </a:tcPr>
                </a:tc>
                <a:tc>
                  <a:txBody>
                    <a:bodyPr/>
                    <a:lstStyle/>
                    <a:p>
                      <a:r>
                        <a:rPr sz="1200" b="0">
                          <a:solidFill>
                            <a:srgbClr val="171A12"/>
                          </a:solidFill>
                          <a:latin typeface="Helvetica Neue"/>
                          <a:ea typeface="Helvetica Neue"/>
                          <a:cs typeface="Helvetica Neue"/>
                        </a:rPr>
                        <a:t>Facility cooling savings require separate or inclusive measurement</a:t>
                      </a:r>
                    </a:p>
                  </a:txBody>
                  <a:tcPr marL="91440" marR="91440" marT="45720" marB="45720">
                    <a:lnR w="4763">
                      <a:solidFill>
                        <a:srgbClr val="C5C8B9"/>
                      </a:solidFill>
                      <a:prstDash val="solid"/>
                    </a:lnR>
                    <a:lnB w="4763">
                      <a:solidFill>
                        <a:srgbClr val="C5C8B9"/>
                      </a:solidFill>
                      <a:prstDash val="solid"/>
                    </a:lnB>
                    <a:solidFill>
                      <a:srgbClr val="EEEEE4"/>
                    </a:solidFill>
                  </a:tcPr>
                </a:tc>
              </a:tr>
              <a:tr h="600075">
                <a:tc>
                  <a:txBody>
                    <a:bodyPr/>
                    <a:lstStyle/>
                    <a:p>
                      <a:r>
                        <a:rPr sz="1200" b="0">
                          <a:solidFill>
                            <a:srgbClr val="171A12"/>
                          </a:solidFill>
                          <a:latin typeface="Helvetica Neue"/>
                          <a:ea typeface="Helvetica Neue"/>
                          <a:cs typeface="Helvetica Neue"/>
                        </a:rPr>
                        <a:t>Site and contracts</a:t>
                      </a:r>
                    </a:p>
                  </a:txBody>
                  <a:tcPr marL="91440" marR="91440" marT="45720" marB="45720">
                    <a:lnL w="4763">
                      <a:solidFill>
                        <a:srgbClr val="C5C8B9"/>
                      </a:solidFill>
                      <a:prstDash val="solid"/>
                    </a:lnL>
                    <a:lnR w="4763">
                      <a:solidFill>
                        <a:srgbClr val="C5C8B9"/>
                      </a:solidFill>
                      <a:prstDash val="solid"/>
                    </a:lnR>
                    <a:lnB w="4763">
                      <a:solidFill>
                        <a:srgbClr val="C5C8B9"/>
                      </a:solidFill>
                      <a:prstDash val="solid"/>
                    </a:lnB>
                    <a:solidFill>
                      <a:srgbClr val="EEEEE4"/>
                    </a:solidFill>
                  </a:tcPr>
                </a:tc>
                <a:tc>
                  <a:txBody>
                    <a:bodyPr/>
                    <a:lstStyle/>
                    <a:p>
                      <a:r>
                        <a:rPr sz="1200" b="0">
                          <a:solidFill>
                            <a:srgbClr val="171A12"/>
                          </a:solidFill>
                          <a:latin typeface="Helvetica Neue"/>
                          <a:ea typeface="Helvetica Neue"/>
                          <a:cs typeface="Helvetica Neue"/>
                        </a:rPr>
                        <a:t>CBRE: 1.4% primary vacancy; some US take-or-pay terms set 60–85% utilization floors</a:t>
                      </a:r>
                    </a:p>
                  </a:txBody>
                  <a:tcPr marL="91440" marR="91440" marT="45720" marB="45720">
                    <a:lnR w="4763">
                      <a:solidFill>
                        <a:srgbClr val="C5C8B9"/>
                      </a:solidFill>
                      <a:prstDash val="solid"/>
                    </a:lnR>
                    <a:lnB w="4763">
                      <a:solidFill>
                        <a:srgbClr val="C5C8B9"/>
                      </a:solidFill>
                      <a:prstDash val="solid"/>
                    </a:lnB>
                    <a:solidFill>
                      <a:srgbClr val="EEEEE4"/>
                    </a:solidFill>
                  </a:tcPr>
                </a:tc>
                <a:tc>
                  <a:txBody>
                    <a:bodyPr/>
                    <a:lstStyle/>
                    <a:p>
                      <a:r>
                        <a:rPr sz="1200" b="0">
                          <a:solidFill>
                            <a:srgbClr val="171A12"/>
                          </a:solidFill>
                          <a:latin typeface="Helvetica Neue"/>
                          <a:ea typeface="Helvetica Neue"/>
                          <a:cs typeface="Helvetica Neue"/>
                        </a:rPr>
                        <a:t>Measure use; cannot change a contract or guarantee capacity release</a:t>
                      </a:r>
                    </a:p>
                  </a:txBody>
                  <a:tcPr marL="91440" marR="91440" marT="45720" marB="45720">
                    <a:lnR w="4763">
                      <a:solidFill>
                        <a:srgbClr val="C5C8B9"/>
                      </a:solidFill>
                      <a:prstDash val="solid"/>
                    </a:lnR>
                    <a:lnB w="4763">
                      <a:solidFill>
                        <a:srgbClr val="C5C8B9"/>
                      </a:solidFill>
                      <a:prstDash val="solid"/>
                    </a:lnB>
                    <a:solidFill>
                      <a:srgbClr val="EEEEE4"/>
                    </a:solidFill>
                  </a:tcPr>
                </a:tc>
              </a:tr>
              <a:tr h="600075">
                <a:tc>
                  <a:txBody>
                    <a:bodyPr/>
                    <a:lstStyle/>
                    <a:p>
                      <a:r>
                        <a:rPr sz="1200" b="0">
                          <a:solidFill>
                            <a:srgbClr val="171A12"/>
                          </a:solidFill>
                          <a:latin typeface="Helvetica Neue"/>
                          <a:ea typeface="Helvetica Neue"/>
                          <a:cs typeface="Helvetica Neue"/>
                        </a:rPr>
                        <a:t>Operator response</a:t>
                      </a:r>
                    </a:p>
                  </a:txBody>
                  <a:tcPr marL="91440" marR="91440" marT="45720" marB="45720">
                    <a:lnL w="4763">
                      <a:solidFill>
                        <a:srgbClr val="C5C8B9"/>
                      </a:solidFill>
                      <a:prstDash val="solid"/>
                    </a:lnL>
                    <a:lnR w="4763">
                      <a:solidFill>
                        <a:srgbClr val="C5C8B9"/>
                      </a:solidFill>
                      <a:prstDash val="solid"/>
                    </a:lnR>
                    <a:lnB w="4763">
                      <a:solidFill>
                        <a:srgbClr val="C5C8B9"/>
                      </a:solidFill>
                      <a:prstDash val="solid"/>
                    </a:lnB>
                    <a:solidFill>
                      <a:srgbClr val="EEEEE4"/>
                    </a:solidFill>
                  </a:tcPr>
                </a:tc>
                <a:tc>
                  <a:txBody>
                    <a:bodyPr/>
                    <a:lstStyle/>
                    <a:p>
                      <a:r>
                        <a:rPr sz="1200" b="0">
                          <a:solidFill>
                            <a:srgbClr val="171A12"/>
                          </a:solidFill>
                          <a:latin typeface="Helvetica Neue"/>
                          <a:ea typeface="Helvetica Neue"/>
                          <a:cs typeface="Helvetica Neue"/>
                        </a:rPr>
                        <a:t>Google says AI can outgrow site power and space; campuses spread the load</a:t>
                      </a:r>
                    </a:p>
                  </a:txBody>
                  <a:tcPr marL="91440" marR="91440" marT="45720" marB="45720">
                    <a:lnR w="4763">
                      <a:solidFill>
                        <a:srgbClr val="C5C8B9"/>
                      </a:solidFill>
                      <a:prstDash val="solid"/>
                    </a:lnR>
                    <a:lnB w="4763">
                      <a:solidFill>
                        <a:srgbClr val="C5C8B9"/>
                      </a:solidFill>
                      <a:prstDash val="solid"/>
                    </a:lnB>
                    <a:solidFill>
                      <a:srgbClr val="EEEEE4"/>
                    </a:solidFill>
                  </a:tcPr>
                </a:tc>
                <a:tc>
                  <a:txBody>
                    <a:bodyPr/>
                    <a:lstStyle/>
                    <a:p>
                      <a:r>
                        <a:rPr sz="1200" b="0">
                          <a:solidFill>
                            <a:srgbClr val="171A12"/>
                          </a:solidFill>
                          <a:latin typeface="Helvetica Neue"/>
                          <a:ea typeface="Helvetica Neue"/>
                          <a:cs typeface="Helvetica Neue"/>
                        </a:rPr>
                        <a:t>Single-operator account, not a universal pattern or capacity guarantee</a:t>
                      </a:r>
                    </a:p>
                  </a:txBody>
                  <a:tcPr marL="91440" marR="91440" marT="45720" marB="45720">
                    <a:lnR w="4763">
                      <a:solidFill>
                        <a:srgbClr val="C5C8B9"/>
                      </a:solidFill>
                      <a:prstDash val="solid"/>
                    </a:lnR>
                    <a:lnB w="4763">
                      <a:solidFill>
                        <a:srgbClr val="C5C8B9"/>
                      </a:solidFill>
                      <a:prstDash val="solid"/>
                    </a:lnB>
                    <a:solidFill>
                      <a:srgbClr val="EEEEE4"/>
                    </a:solidFill>
                  </a:tcPr>
                </a:tc>
              </a:tr>
            </a:tbl>
          </a:graphicData>
        </a:graphic>
      </p:graphicFrame>
      <p:sp>
        <p:nvSpPr>
          <p:cNvPr id="6" name="">
            <a:extLst xmlns:a="http://schemas.openxmlformats.org/drawingml/2006/main">
              <a:ext uri="{FF2B5EF4-FFF2-40B4-BE49-F238E27FC236}">
                <a16:creationId xmlns:a16="http://schemas.microsoft.com/office/drawing/2014/main" id="{33C460E3-8DC5-4A54-83FA-D96F16D9DA6F}"/>
              </a:ext>
            </a:extLst>
          </p:cNvPr>
          <p:cNvSpPr>
            <a:spLocks xmlns:a="http://schemas.openxmlformats.org/drawingml/2006/main" noGrp="1"/>
          </p:cNvSpPr>
          <p:nvPr/>
        </p:nvSpPr>
        <p:spPr>
          <a:xfrm xmlns:a="http://schemas.openxmlformats.org/drawingml/2006/main">
            <a:off x="609600" y="6096000"/>
            <a:ext cx="10877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5E43"/>
                </a:solidFill>
                <a:latin typeface="Helvetica Neue"/>
                <a:ea typeface="Helvetica Neue"/>
                <a:cs typeface="Helvetica Neue"/>
              </a:defRPr>
            </a:defPPr>
            <a:lvl1pPr>
              <a:defRPr sz="1200" b="0">
                <a:solidFill>
                  <a:srgbClr val="575E43"/>
                </a:solidFill>
                <a:latin typeface="Helvetica Neue"/>
                <a:ea typeface="Helvetica Neue"/>
                <a:cs typeface="Helvetica Neue"/>
              </a:defRPr>
            </a:lvl1pPr>
            <a:lvl2pPr>
              <a:defRPr sz="1200" b="0">
                <a:solidFill>
                  <a:srgbClr val="575E43"/>
                </a:solidFill>
                <a:latin typeface="Helvetica Neue"/>
                <a:ea typeface="Helvetica Neue"/>
                <a:cs typeface="Helvetica Neue"/>
              </a:defRPr>
            </a:lvl2pPr>
            <a:lvl3pPr>
              <a:defRPr sz="1200" b="0">
                <a:solidFill>
                  <a:srgbClr val="575E43"/>
                </a:solidFill>
                <a:latin typeface="Helvetica Neue"/>
                <a:ea typeface="Helvetica Neue"/>
                <a:cs typeface="Helvetica Neue"/>
              </a:defRPr>
            </a:lvl3pPr>
            <a:lvl4pPr>
              <a:defRPr sz="1200" b="0">
                <a:solidFill>
                  <a:srgbClr val="575E43"/>
                </a:solidFill>
                <a:latin typeface="Helvetica Neue"/>
                <a:ea typeface="Helvetica Neue"/>
                <a:cs typeface="Helvetica Neue"/>
              </a:defRPr>
            </a:lvl4pPr>
            <a:lvl5pPr>
              <a:defRPr sz="1200" b="0">
                <a:solidFill>
                  <a:srgbClr val="575E43"/>
                </a:solidFill>
                <a:latin typeface="Helvetica Neue"/>
                <a:ea typeface="Helvetica Neue"/>
                <a:cs typeface="Helvetica Neue"/>
              </a:defRPr>
            </a:lvl5pPr>
            <a:lvl6pPr>
              <a:defRPr sz="1200" b="0">
                <a:solidFill>
                  <a:srgbClr val="575E43"/>
                </a:solidFill>
                <a:latin typeface="Helvetica Neue"/>
                <a:ea typeface="Helvetica Neue"/>
                <a:cs typeface="Helvetica Neue"/>
              </a:defRPr>
            </a:lvl6pPr>
            <a:lvl7pPr>
              <a:defRPr sz="1200" b="0">
                <a:solidFill>
                  <a:srgbClr val="575E43"/>
                </a:solidFill>
                <a:latin typeface="Helvetica Neue"/>
                <a:ea typeface="Helvetica Neue"/>
                <a:cs typeface="Helvetica Neue"/>
              </a:defRPr>
            </a:lvl7pPr>
            <a:lvl8pPr>
              <a:defRPr sz="1200" b="0">
                <a:solidFill>
                  <a:srgbClr val="575E43"/>
                </a:solidFill>
                <a:latin typeface="Helvetica Neue"/>
                <a:ea typeface="Helvetica Neue"/>
                <a:cs typeface="Helvetica Neue"/>
              </a:defRPr>
            </a:lvl8pPr>
            <a:lvl9pPr>
              <a:defRPr sz="1200" b="0">
                <a:solidFill>
                  <a:srgbClr val="575E43"/>
                </a:solidFill>
                <a:latin typeface="Helvetica Neue"/>
                <a:ea typeface="Helvetica Neue"/>
                <a:cs typeface="Helvetica Neue"/>
              </a:defRPr>
            </a:lvl9pPr>
          </a:lstStyle>
          <a:p xmlns:a="http://schemas.openxmlformats.org/drawingml/2006/main">
            <a:pPr>
              <a:defRPr sz="1200" b="0">
                <a:solidFill>
                  <a:srgbClr val="575E43"/>
                </a:solidFill>
                <a:latin typeface="Helvetica Neue"/>
                <a:ea typeface="Helvetica Neue"/>
                <a:cs typeface="Helvetica Neue"/>
              </a:defRPr>
            </a:pPr>
            <a:r>
              <a:rPr sz="1200" b="0">
                <a:solidFill>
                  <a:srgbClr val="575E43"/>
                </a:solidFill>
                <a:latin typeface="Helvetica Neue"/>
                <a:ea typeface="Helvetica Neue"/>
                <a:cs typeface="Helvetica Neue"/>
              </a:rPr>
              <a:t>Research reviewed October 17, 2026 | Data-center context, not LLM pilot outcomes</a:t>
            </a:r>
          </a:p>
        </p:txBody>
      </p:sp>
    </p:spTree>
    <p:extLst>
      <p:ext uri="{BB962C8B-B14F-4D97-AF65-F5344CB8AC3E}">
        <p14:creationId xmlns:p14="http://schemas.microsoft.com/office/powerpoint/2010/main" val="1543616821"/>
      </p:ext>
    </p:extLst>
  </p:cSld>
</p:sld>
</file>

<file path=ppt/slides/slide13.xml><?xml version="1.0" encoding="utf-8"?>
<p:sld xmlns:p="http://schemas.openxmlformats.org/presentationml/2006/main">
  <p:cSld>
    <p:bg>
      <p:bgPr>
        <a:solidFill xmlns:a="http://schemas.openxmlformats.org/drawingml/2006/main">
          <a:srgbClr val="EEEEE4"/>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8440883-D7D0-420D-A4EA-E54196F13612}"/>
              </a:ext>
            </a:extLst>
          </p:cNvPr>
          <p:cNvSpPr>
            <a:spLocks xmlns:a="http://schemas.openxmlformats.org/drawingml/2006/main" noGrp="1"/>
          </p:cNvSpPr>
          <p:nvPr/>
        </p:nvSpPr>
        <p:spPr>
          <a:xfrm xmlns:a="http://schemas.openxmlformats.org/drawingml/2006/main">
            <a:off x="609600" y="3429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575E43"/>
                </a:solidFill>
                <a:latin typeface="Helvetica Neue"/>
                <a:ea typeface="Helvetica Neue"/>
                <a:cs typeface="Helvetica Neue"/>
              </a:defRPr>
            </a:defPPr>
            <a:lvl1pPr>
              <a:defRPr sz="1125" b="1">
                <a:solidFill>
                  <a:srgbClr val="575E43"/>
                </a:solidFill>
                <a:latin typeface="Helvetica Neue"/>
                <a:ea typeface="Helvetica Neue"/>
                <a:cs typeface="Helvetica Neue"/>
              </a:defRPr>
            </a:lvl1pPr>
            <a:lvl2pPr>
              <a:defRPr sz="1125" b="1">
                <a:solidFill>
                  <a:srgbClr val="575E43"/>
                </a:solidFill>
                <a:latin typeface="Helvetica Neue"/>
                <a:ea typeface="Helvetica Neue"/>
                <a:cs typeface="Helvetica Neue"/>
              </a:defRPr>
            </a:lvl2pPr>
            <a:lvl3pPr>
              <a:defRPr sz="1125" b="1">
                <a:solidFill>
                  <a:srgbClr val="575E43"/>
                </a:solidFill>
                <a:latin typeface="Helvetica Neue"/>
                <a:ea typeface="Helvetica Neue"/>
                <a:cs typeface="Helvetica Neue"/>
              </a:defRPr>
            </a:lvl3pPr>
            <a:lvl4pPr>
              <a:defRPr sz="1125" b="1">
                <a:solidFill>
                  <a:srgbClr val="575E43"/>
                </a:solidFill>
                <a:latin typeface="Helvetica Neue"/>
                <a:ea typeface="Helvetica Neue"/>
                <a:cs typeface="Helvetica Neue"/>
              </a:defRPr>
            </a:lvl4pPr>
            <a:lvl5pPr>
              <a:defRPr sz="1125" b="1">
                <a:solidFill>
                  <a:srgbClr val="575E43"/>
                </a:solidFill>
                <a:latin typeface="Helvetica Neue"/>
                <a:ea typeface="Helvetica Neue"/>
                <a:cs typeface="Helvetica Neue"/>
              </a:defRPr>
            </a:lvl5pPr>
            <a:lvl6pPr>
              <a:defRPr sz="1125" b="1">
                <a:solidFill>
                  <a:srgbClr val="575E43"/>
                </a:solidFill>
                <a:latin typeface="Helvetica Neue"/>
                <a:ea typeface="Helvetica Neue"/>
                <a:cs typeface="Helvetica Neue"/>
              </a:defRPr>
            </a:lvl6pPr>
            <a:lvl7pPr>
              <a:defRPr sz="1125" b="1">
                <a:solidFill>
                  <a:srgbClr val="575E43"/>
                </a:solidFill>
                <a:latin typeface="Helvetica Neue"/>
                <a:ea typeface="Helvetica Neue"/>
                <a:cs typeface="Helvetica Neue"/>
              </a:defRPr>
            </a:lvl7pPr>
            <a:lvl8pPr>
              <a:defRPr sz="1125" b="1">
                <a:solidFill>
                  <a:srgbClr val="575E43"/>
                </a:solidFill>
                <a:latin typeface="Helvetica Neue"/>
                <a:ea typeface="Helvetica Neue"/>
                <a:cs typeface="Helvetica Neue"/>
              </a:defRPr>
            </a:lvl8pPr>
            <a:lvl9pPr>
              <a:defRPr sz="1125" b="1">
                <a:solidFill>
                  <a:srgbClr val="575E43"/>
                </a:solidFill>
                <a:latin typeface="Helvetica Neue"/>
                <a:ea typeface="Helvetica Neue"/>
                <a:cs typeface="Helvetica Neue"/>
              </a:defRPr>
            </a:lvl9pPr>
          </a:lstStyle>
          <a:p xmlns:a="http://schemas.openxmlformats.org/drawingml/2006/main">
            <a:pPr>
              <a:defRPr sz="1125" b="1">
                <a:solidFill>
                  <a:srgbClr val="575E43"/>
                </a:solidFill>
                <a:latin typeface="Helvetica Neue"/>
                <a:ea typeface="Helvetica Neue"/>
                <a:cs typeface="Helvetica Neue"/>
              </a:defRPr>
            </a:pPr>
            <a:r>
              <a:rPr sz="1125" b="1">
                <a:solidFill>
                  <a:srgbClr val="575E43"/>
                </a:solidFill>
                <a:latin typeface="Helvetica Neue"/>
                <a:ea typeface="Helvetica Neue"/>
                <a:cs typeface="Helvetica Neue"/>
              </a:rPr>
              <a:t>APPENDIX / METRIC DEFINITIONS</a:t>
            </a:r>
          </a:p>
        </p:txBody>
      </p:sp>
      <p:sp>
        <p:nvSpPr>
          <p:cNvPr id="2" name="">
            <a:extLst xmlns:a="http://schemas.openxmlformats.org/drawingml/2006/main">
              <a:ext uri="{FF2B5EF4-FFF2-40B4-BE49-F238E27FC236}">
                <a16:creationId xmlns:a16="http://schemas.microsoft.com/office/drawing/2014/main" id="{AC70BC75-084C-4F47-ACF4-8D1E159BA1A1}"/>
              </a:ext>
            </a:extLst>
          </p:cNvPr>
          <p:cNvSpPr>
            <a:spLocks xmlns:a="http://schemas.openxmlformats.org/drawingml/2006/main" noGrp="1"/>
          </p:cNvSpPr>
          <p:nvPr/>
        </p:nvSpPr>
        <p:spPr>
          <a:xfrm xmlns:a="http://schemas.openxmlformats.org/drawingml/2006/main">
            <a:off x="609600" y="914400"/>
            <a:ext cx="109728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171A12"/>
                </a:solidFill>
                <a:latin typeface="Helvetica Neue"/>
                <a:ea typeface="Helvetica Neue"/>
                <a:cs typeface="Helvetica Neue"/>
              </a:defRPr>
            </a:defPPr>
            <a:lvl1pPr>
              <a:defRPr sz="3900" b="0">
                <a:solidFill>
                  <a:srgbClr val="171A12"/>
                </a:solidFill>
                <a:latin typeface="Helvetica Neue"/>
                <a:ea typeface="Helvetica Neue"/>
                <a:cs typeface="Helvetica Neue"/>
              </a:defRPr>
            </a:lvl1pPr>
            <a:lvl2pPr>
              <a:defRPr sz="3900" b="0">
                <a:solidFill>
                  <a:srgbClr val="171A12"/>
                </a:solidFill>
                <a:latin typeface="Helvetica Neue"/>
                <a:ea typeface="Helvetica Neue"/>
                <a:cs typeface="Helvetica Neue"/>
              </a:defRPr>
            </a:lvl2pPr>
            <a:lvl3pPr>
              <a:defRPr sz="3900" b="0">
                <a:solidFill>
                  <a:srgbClr val="171A12"/>
                </a:solidFill>
                <a:latin typeface="Helvetica Neue"/>
                <a:ea typeface="Helvetica Neue"/>
                <a:cs typeface="Helvetica Neue"/>
              </a:defRPr>
            </a:lvl3pPr>
            <a:lvl4pPr>
              <a:defRPr sz="3900" b="0">
                <a:solidFill>
                  <a:srgbClr val="171A12"/>
                </a:solidFill>
                <a:latin typeface="Helvetica Neue"/>
                <a:ea typeface="Helvetica Neue"/>
                <a:cs typeface="Helvetica Neue"/>
              </a:defRPr>
            </a:lvl4pPr>
            <a:lvl5pPr>
              <a:defRPr sz="3900" b="0">
                <a:solidFill>
                  <a:srgbClr val="171A12"/>
                </a:solidFill>
                <a:latin typeface="Helvetica Neue"/>
                <a:ea typeface="Helvetica Neue"/>
                <a:cs typeface="Helvetica Neue"/>
              </a:defRPr>
            </a:lvl5pPr>
            <a:lvl6pPr>
              <a:defRPr sz="3900" b="0">
                <a:solidFill>
                  <a:srgbClr val="171A12"/>
                </a:solidFill>
                <a:latin typeface="Helvetica Neue"/>
                <a:ea typeface="Helvetica Neue"/>
                <a:cs typeface="Helvetica Neue"/>
              </a:defRPr>
            </a:lvl6pPr>
            <a:lvl7pPr>
              <a:defRPr sz="3900" b="0">
                <a:solidFill>
                  <a:srgbClr val="171A12"/>
                </a:solidFill>
                <a:latin typeface="Helvetica Neue"/>
                <a:ea typeface="Helvetica Neue"/>
                <a:cs typeface="Helvetica Neue"/>
              </a:defRPr>
            </a:lvl7pPr>
            <a:lvl8pPr>
              <a:defRPr sz="3900" b="0">
                <a:solidFill>
                  <a:srgbClr val="171A12"/>
                </a:solidFill>
                <a:latin typeface="Helvetica Neue"/>
                <a:ea typeface="Helvetica Neue"/>
                <a:cs typeface="Helvetica Neue"/>
              </a:defRPr>
            </a:lvl8pPr>
            <a:lvl9pPr>
              <a:defRPr sz="3900" b="0">
                <a:solidFill>
                  <a:srgbClr val="171A12"/>
                </a:solidFill>
                <a:latin typeface="Helvetica Neue"/>
                <a:ea typeface="Helvetica Neue"/>
                <a:cs typeface="Helvetica Neue"/>
              </a:defRPr>
            </a:lvl9pPr>
          </a:lstStyle>
          <a:p xmlns:a="http://schemas.openxmlformats.org/drawingml/2006/main">
            <a:pPr>
              <a:defRPr sz="3900" b="0">
                <a:solidFill>
                  <a:srgbClr val="171A12"/>
                </a:solidFill>
                <a:latin typeface="Helvetica Neue"/>
                <a:ea typeface="Helvetica Neue"/>
                <a:cs typeface="Helvetica Neue"/>
              </a:defRPr>
            </a:pPr>
            <a:r>
              <a:rPr sz="3900" b="0">
                <a:solidFill>
                  <a:srgbClr val="171A12"/>
                </a:solidFill>
                <a:latin typeface="Helvetica Neue"/>
                <a:ea typeface="Helvetica Neue"/>
                <a:cs typeface="Helvetica Neue"/>
              </a:rPr>
              <a:t>Business outcomes and engineering diagnostics</a:t>
            </a:r>
          </a:p>
        </p:txBody>
      </p:sp>
      <p:sp>
        <p:nvSpPr>
          <p:cNvPr id="3" name="">
            <a:extLst xmlns:a="http://schemas.openxmlformats.org/drawingml/2006/main">
              <a:ext uri="{FF2B5EF4-FFF2-40B4-BE49-F238E27FC236}">
                <a16:creationId xmlns:a16="http://schemas.microsoft.com/office/drawing/2014/main" id="{552FC80B-023D-47C3-A2F7-A0B034EC361B}"/>
              </a:ext>
            </a:extLst>
          </p:cNvPr>
          <p:cNvSpPr>
            <a:spLocks xmlns:a="http://schemas.openxmlformats.org/drawingml/2006/main" noGrp="1"/>
          </p:cNvSpPr>
          <p:nvPr/>
        </p:nvSpPr>
        <p:spPr>
          <a:xfrm xmlns:a="http://schemas.openxmlformats.org/drawingml/2006/main">
            <a:off x="609600" y="644842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75E43"/>
                </a:solidFill>
                <a:latin typeface="Helvetica Neue"/>
                <a:ea typeface="Helvetica Neue"/>
                <a:cs typeface="Helvetica Neue"/>
              </a:defRPr>
            </a:defPPr>
            <a:lvl1pPr>
              <a:defRPr sz="900" b="0">
                <a:solidFill>
                  <a:srgbClr val="575E43"/>
                </a:solidFill>
                <a:latin typeface="Helvetica Neue"/>
                <a:ea typeface="Helvetica Neue"/>
                <a:cs typeface="Helvetica Neue"/>
              </a:defRPr>
            </a:lvl1pPr>
            <a:lvl2pPr>
              <a:defRPr sz="900" b="0">
                <a:solidFill>
                  <a:srgbClr val="575E43"/>
                </a:solidFill>
                <a:latin typeface="Helvetica Neue"/>
                <a:ea typeface="Helvetica Neue"/>
                <a:cs typeface="Helvetica Neue"/>
              </a:defRPr>
            </a:lvl2pPr>
            <a:lvl3pPr>
              <a:defRPr sz="900" b="0">
                <a:solidFill>
                  <a:srgbClr val="575E43"/>
                </a:solidFill>
                <a:latin typeface="Helvetica Neue"/>
                <a:ea typeface="Helvetica Neue"/>
                <a:cs typeface="Helvetica Neue"/>
              </a:defRPr>
            </a:lvl3pPr>
            <a:lvl4pPr>
              <a:defRPr sz="900" b="0">
                <a:solidFill>
                  <a:srgbClr val="575E43"/>
                </a:solidFill>
                <a:latin typeface="Helvetica Neue"/>
                <a:ea typeface="Helvetica Neue"/>
                <a:cs typeface="Helvetica Neue"/>
              </a:defRPr>
            </a:lvl4pPr>
            <a:lvl5pPr>
              <a:defRPr sz="900" b="0">
                <a:solidFill>
                  <a:srgbClr val="575E43"/>
                </a:solidFill>
                <a:latin typeface="Helvetica Neue"/>
                <a:ea typeface="Helvetica Neue"/>
                <a:cs typeface="Helvetica Neue"/>
              </a:defRPr>
            </a:lvl5pPr>
            <a:lvl6pPr>
              <a:defRPr sz="900" b="0">
                <a:solidFill>
                  <a:srgbClr val="575E43"/>
                </a:solidFill>
                <a:latin typeface="Helvetica Neue"/>
                <a:ea typeface="Helvetica Neue"/>
                <a:cs typeface="Helvetica Neue"/>
              </a:defRPr>
            </a:lvl6pPr>
            <a:lvl7pPr>
              <a:defRPr sz="900" b="0">
                <a:solidFill>
                  <a:srgbClr val="575E43"/>
                </a:solidFill>
                <a:latin typeface="Helvetica Neue"/>
                <a:ea typeface="Helvetica Neue"/>
                <a:cs typeface="Helvetica Neue"/>
              </a:defRPr>
            </a:lvl7pPr>
            <a:lvl8pPr>
              <a:defRPr sz="900" b="0">
                <a:solidFill>
                  <a:srgbClr val="575E43"/>
                </a:solidFill>
                <a:latin typeface="Helvetica Neue"/>
                <a:ea typeface="Helvetica Neue"/>
                <a:cs typeface="Helvetica Neue"/>
              </a:defRPr>
            </a:lvl8pPr>
            <a:lvl9pPr>
              <a:defRPr sz="900" b="0">
                <a:solidFill>
                  <a:srgbClr val="575E43"/>
                </a:solidFill>
                <a:latin typeface="Helvetica Neue"/>
                <a:ea typeface="Helvetica Neue"/>
                <a:cs typeface="Helvetica Neue"/>
              </a:defRPr>
            </a:lvl9pPr>
          </a:lstStyle>
          <a:p xmlns:a="http://schemas.openxmlformats.org/drawingml/2006/main">
            <a:pPr>
              <a:defRPr sz="900" b="0">
                <a:solidFill>
                  <a:srgbClr val="575E43"/>
                </a:solidFill>
                <a:latin typeface="Helvetica Neue"/>
                <a:ea typeface="Helvetica Neue"/>
                <a:cs typeface="Helvetica Neue"/>
              </a:defRPr>
            </a:pPr>
            <a:r>
              <a:rPr sz="900" b="0">
                <a:solidFill>
                  <a:srgbClr val="575E43"/>
                </a:solidFill>
                <a:latin typeface="Helvetica Neue"/>
                <a:ea typeface="Helvetica Neue"/>
                <a:cs typeface="Helvetica Neue"/>
              </a:rPr>
              <a:t>E FOR ENERGY</a:t>
            </a:r>
          </a:p>
        </p:txBody>
      </p:sp>
      <p:sp>
        <p:nvSpPr>
          <p:cNvPr id="4" name="">
            <a:extLst xmlns:a="http://schemas.openxmlformats.org/drawingml/2006/main">
              <a:ext uri="{FF2B5EF4-FFF2-40B4-BE49-F238E27FC236}">
                <a16:creationId xmlns:a16="http://schemas.microsoft.com/office/drawing/2014/main" id="{27A3E389-3808-46A1-B3FF-5F168DA6161A}"/>
              </a:ext>
            </a:extLst>
          </p:cNvPr>
          <p:cNvSpPr>
            <a:spLocks xmlns:a="http://schemas.openxmlformats.org/drawingml/2006/main" noGrp="1"/>
          </p:cNvSpPr>
          <p:nvPr/>
        </p:nvSpPr>
        <p:spPr>
          <a:xfrm xmlns:a="http://schemas.openxmlformats.org/drawingml/2006/main">
            <a:off x="11049000" y="64198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5E43"/>
                </a:solidFill>
                <a:latin typeface="Helvetica Neue"/>
                <a:ea typeface="Helvetica Neue"/>
                <a:cs typeface="Helvetica Neue"/>
              </a:defRPr>
            </a:defPPr>
            <a:lvl1pPr>
              <a:defRPr sz="1200" b="0">
                <a:solidFill>
                  <a:srgbClr val="575E43"/>
                </a:solidFill>
                <a:latin typeface="Helvetica Neue"/>
                <a:ea typeface="Helvetica Neue"/>
                <a:cs typeface="Helvetica Neue"/>
              </a:defRPr>
            </a:lvl1pPr>
            <a:lvl2pPr>
              <a:defRPr sz="1200" b="0">
                <a:solidFill>
                  <a:srgbClr val="575E43"/>
                </a:solidFill>
                <a:latin typeface="Helvetica Neue"/>
                <a:ea typeface="Helvetica Neue"/>
                <a:cs typeface="Helvetica Neue"/>
              </a:defRPr>
            </a:lvl2pPr>
            <a:lvl3pPr>
              <a:defRPr sz="1200" b="0">
                <a:solidFill>
                  <a:srgbClr val="575E43"/>
                </a:solidFill>
                <a:latin typeface="Helvetica Neue"/>
                <a:ea typeface="Helvetica Neue"/>
                <a:cs typeface="Helvetica Neue"/>
              </a:defRPr>
            </a:lvl3pPr>
            <a:lvl4pPr>
              <a:defRPr sz="1200" b="0">
                <a:solidFill>
                  <a:srgbClr val="575E43"/>
                </a:solidFill>
                <a:latin typeface="Helvetica Neue"/>
                <a:ea typeface="Helvetica Neue"/>
                <a:cs typeface="Helvetica Neue"/>
              </a:defRPr>
            </a:lvl4pPr>
            <a:lvl5pPr>
              <a:defRPr sz="1200" b="0">
                <a:solidFill>
                  <a:srgbClr val="575E43"/>
                </a:solidFill>
                <a:latin typeface="Helvetica Neue"/>
                <a:ea typeface="Helvetica Neue"/>
                <a:cs typeface="Helvetica Neue"/>
              </a:defRPr>
            </a:lvl5pPr>
            <a:lvl6pPr>
              <a:defRPr sz="1200" b="0">
                <a:solidFill>
                  <a:srgbClr val="575E43"/>
                </a:solidFill>
                <a:latin typeface="Helvetica Neue"/>
                <a:ea typeface="Helvetica Neue"/>
                <a:cs typeface="Helvetica Neue"/>
              </a:defRPr>
            </a:lvl6pPr>
            <a:lvl7pPr>
              <a:defRPr sz="1200" b="0">
                <a:solidFill>
                  <a:srgbClr val="575E43"/>
                </a:solidFill>
                <a:latin typeface="Helvetica Neue"/>
                <a:ea typeface="Helvetica Neue"/>
                <a:cs typeface="Helvetica Neue"/>
              </a:defRPr>
            </a:lvl7pPr>
            <a:lvl8pPr>
              <a:defRPr sz="1200" b="0">
                <a:solidFill>
                  <a:srgbClr val="575E43"/>
                </a:solidFill>
                <a:latin typeface="Helvetica Neue"/>
                <a:ea typeface="Helvetica Neue"/>
                <a:cs typeface="Helvetica Neue"/>
              </a:defRPr>
            </a:lvl8pPr>
            <a:lvl9pPr>
              <a:defRPr sz="1200" b="0">
                <a:solidFill>
                  <a:srgbClr val="575E43"/>
                </a:solidFill>
                <a:latin typeface="Helvetica Neue"/>
                <a:ea typeface="Helvetica Neue"/>
                <a:cs typeface="Helvetica Neue"/>
              </a:defRPr>
            </a:lvl9pPr>
          </a:lstStyle>
          <a:p xmlns:a="http://schemas.openxmlformats.org/drawingml/2006/main">
            <a:pPr>
              <a:defRPr sz="1200" b="0">
                <a:solidFill>
                  <a:srgbClr val="575E43"/>
                </a:solidFill>
                <a:latin typeface="Helvetica Neue"/>
                <a:ea typeface="Helvetica Neue"/>
                <a:cs typeface="Helvetica Neue"/>
              </a:defRPr>
            </a:pPr>
            <a:r>
              <a:rPr sz="1200" b="0">
                <a:solidFill>
                  <a:srgbClr val="575E43"/>
                </a:solidFill>
                <a:latin typeface="Helvetica Neue"/>
                <a:ea typeface="Helvetica Neue"/>
                <a:cs typeface="Helvetica Neue"/>
              </a:rPr>
              <a:t>13</a:t>
            </a:r>
          </a:p>
        </p:txBody>
      </p:sp>
      <p:graphicFrame>
        <p:nvGraphicFramePr>
          <p:cNvPr id="5" name="">
            <a:extLst xmlns:a="http://schemas.openxmlformats.org/drawingml/2006/main">
              <a:ext uri="{FF2B5EF4-FFF2-40B4-BE49-F238E27FC236}">
                <a16:creationId xmlns:a16="http://schemas.microsoft.com/office/drawing/2014/main" id="{B1315041-D1BD-45F5-8707-426C8442123E}"/>
              </a:ext>
            </a:extLst>
          </p:cNvPr>
          <p:cNvGraphicFramePr/>
          <p:nvPr/>
        </p:nvGraphicFramePr>
        <p:xfrm>
          <a:off xmlns:a="http://schemas.openxmlformats.org/drawingml/2006/main" x="609600" y="2381250"/>
          <a:ext xmlns:a="http://schemas.openxmlformats.org/drawingml/2006/main" cx="10972800" cy="3600450"/>
        </p:xfrm>
        <a:graphic xmlns:a="http://schemas.openxmlformats.org/drawingml/2006/main">
          <a:graphicData uri="http://schemas.openxmlformats.org/drawingml/2006/table">
            <a:tbl>
              <a:tblPr/>
              <a:tblGrid>
                <a:gridCol w="2905125"/>
                <a:gridCol w="4762500"/>
                <a:gridCol w="3305175"/>
              </a:tblGrid>
              <a:tr h="600075">
                <a:tc>
                  <a:txBody>
                    <a:bodyPr/>
                    <a:lstStyle/>
                    <a:p>
                      <a:r>
                        <a:rPr sz="1500" b="1">
                          <a:solidFill>
                            <a:srgbClr val="F4F3EB"/>
                          </a:solidFill>
                          <a:latin typeface="Helvetica Neue"/>
                          <a:ea typeface="Helvetica Neue"/>
                          <a:cs typeface="Helvetica Neue"/>
                        </a:rPr>
                        <a:t>Metric</a:t>
                      </a:r>
                    </a:p>
                  </a:txBody>
                  <a:tcPr marL="91440" marR="91440" marT="45720" marB="45720">
                    <a:lnL w="4763">
                      <a:solidFill>
                        <a:srgbClr val="C5C8B9"/>
                      </a:solidFill>
                      <a:prstDash val="solid"/>
                    </a:lnL>
                    <a:lnR w="4763">
                      <a:solidFill>
                        <a:srgbClr val="C5C8B9"/>
                      </a:solidFill>
                      <a:prstDash val="solid"/>
                    </a:lnR>
                    <a:lnT w="4763">
                      <a:solidFill>
                        <a:srgbClr val="C5C8B9"/>
                      </a:solidFill>
                      <a:prstDash val="solid"/>
                    </a:lnT>
                    <a:lnB w="4763">
                      <a:solidFill>
                        <a:srgbClr val="C5C8B9"/>
                      </a:solidFill>
                      <a:prstDash val="solid"/>
                    </a:lnB>
                    <a:solidFill>
                      <a:srgbClr val="24271D"/>
                    </a:solidFill>
                  </a:tcPr>
                </a:tc>
                <a:tc>
                  <a:txBody>
                    <a:bodyPr/>
                    <a:lstStyle/>
                    <a:p>
                      <a:r>
                        <a:rPr sz="1500" b="1">
                          <a:solidFill>
                            <a:srgbClr val="F4F3EB"/>
                          </a:solidFill>
                          <a:latin typeface="Helvetica Neue"/>
                          <a:ea typeface="Helvetica Neue"/>
                          <a:cs typeface="Helvetica Neue"/>
                        </a:rPr>
                        <a:t>Calculation or definition</a:t>
                      </a:r>
                    </a:p>
                  </a:txBody>
                  <a:tcPr marL="91440" marR="91440" marT="45720" marB="45720">
                    <a:lnR w="4763">
                      <a:solidFill>
                        <a:srgbClr val="C5C8B9"/>
                      </a:solidFill>
                      <a:prstDash val="solid"/>
                    </a:lnR>
                    <a:lnT w="4763">
                      <a:solidFill>
                        <a:srgbClr val="C5C8B9"/>
                      </a:solidFill>
                      <a:prstDash val="solid"/>
                    </a:lnT>
                    <a:lnB w="4763">
                      <a:solidFill>
                        <a:srgbClr val="C5C8B9"/>
                      </a:solidFill>
                      <a:prstDash val="solid"/>
                    </a:lnB>
                    <a:solidFill>
                      <a:srgbClr val="24271D"/>
                    </a:solidFill>
                  </a:tcPr>
                </a:tc>
                <a:tc>
                  <a:txBody>
                    <a:bodyPr/>
                    <a:lstStyle/>
                    <a:p>
                      <a:r>
                        <a:rPr sz="1500" b="1">
                          <a:solidFill>
                            <a:srgbClr val="F4F3EB"/>
                          </a:solidFill>
                          <a:latin typeface="Helvetica Neue"/>
                          <a:ea typeface="Helvetica Neue"/>
                          <a:cs typeface="Helvetica Neue"/>
                        </a:rPr>
                        <a:t>Use</a:t>
                      </a:r>
                    </a:p>
                  </a:txBody>
                  <a:tcPr marL="91440" marR="91440" marT="45720" marB="45720">
                    <a:lnR w="4763">
                      <a:solidFill>
                        <a:srgbClr val="C5C8B9"/>
                      </a:solidFill>
                      <a:prstDash val="solid"/>
                    </a:lnR>
                    <a:lnT w="4763">
                      <a:solidFill>
                        <a:srgbClr val="C5C8B9"/>
                      </a:solidFill>
                      <a:prstDash val="solid"/>
                    </a:lnT>
                    <a:lnB w="4763">
                      <a:solidFill>
                        <a:srgbClr val="C5C8B9"/>
                      </a:solidFill>
                      <a:prstDash val="solid"/>
                    </a:lnB>
                    <a:solidFill>
                      <a:srgbClr val="24271D"/>
                    </a:solidFill>
                  </a:tcPr>
                </a:tc>
              </a:tr>
              <a:tr h="600075">
                <a:tc>
                  <a:txBody>
                    <a:bodyPr/>
                    <a:lstStyle/>
                    <a:p>
                      <a:r>
                        <a:rPr sz="1350" b="0">
                          <a:solidFill>
                            <a:srgbClr val="171A12"/>
                          </a:solidFill>
                          <a:latin typeface="Helvetica Neue"/>
                          <a:ea typeface="Helvetica Neue"/>
                          <a:cs typeface="Helvetica Neue"/>
                        </a:rPr>
                        <a:t>Energy per successful task</a:t>
                      </a:r>
                    </a:p>
                  </a:txBody>
                  <a:tcPr marL="91440" marR="91440" marT="45720" marB="45720">
                    <a:lnL w="4763">
                      <a:solidFill>
                        <a:srgbClr val="C5C8B9"/>
                      </a:solidFill>
                      <a:prstDash val="solid"/>
                    </a:lnL>
                    <a:lnR w="4763">
                      <a:solidFill>
                        <a:srgbClr val="C5C8B9"/>
                      </a:solidFill>
                      <a:prstDash val="solid"/>
                    </a:lnR>
                    <a:lnB w="4763">
                      <a:solidFill>
                        <a:srgbClr val="C5C8B9"/>
                      </a:solidFill>
                      <a:prstDash val="solid"/>
                    </a:lnB>
                    <a:solidFill>
                      <a:srgbClr val="EEEEE4"/>
                    </a:solidFill>
                  </a:tcPr>
                </a:tc>
                <a:tc>
                  <a:txBody>
                    <a:bodyPr/>
                    <a:lstStyle/>
                    <a:p>
                      <a:r>
                        <a:rPr sz="1350" b="0">
                          <a:solidFill>
                            <a:srgbClr val="171A12"/>
                          </a:solidFill>
                          <a:latin typeface="Helvetica Neue"/>
                          <a:ea typeface="Helvetica Neue"/>
                          <a:cs typeface="Helvetica Neue"/>
                        </a:rPr>
                        <a:t>Metered batch kWh ÷ accepted tasks</a:t>
                      </a:r>
                    </a:p>
                  </a:txBody>
                  <a:tcPr marL="91440" marR="91440" marT="45720" marB="45720">
                    <a:lnR w="4763">
                      <a:solidFill>
                        <a:srgbClr val="C5C8B9"/>
                      </a:solidFill>
                      <a:prstDash val="solid"/>
                    </a:lnR>
                    <a:lnB w="4763">
                      <a:solidFill>
                        <a:srgbClr val="C5C8B9"/>
                      </a:solidFill>
                      <a:prstDash val="solid"/>
                    </a:lnB>
                    <a:solidFill>
                      <a:srgbClr val="EEEEE4"/>
                    </a:solidFill>
                  </a:tcPr>
                </a:tc>
                <a:tc>
                  <a:txBody>
                    <a:bodyPr/>
                    <a:lstStyle/>
                    <a:p>
                      <a:r>
                        <a:rPr sz="1350" b="0">
                          <a:solidFill>
                            <a:srgbClr val="171A12"/>
                          </a:solidFill>
                          <a:latin typeface="Helvetica Neue"/>
                          <a:ea typeface="Helvetica Neue"/>
                          <a:cs typeface="Helvetica Neue"/>
                        </a:rPr>
                        <a:t>Workload-specific business efficiency</a:t>
                      </a:r>
                    </a:p>
                  </a:txBody>
                  <a:tcPr marL="91440" marR="91440" marT="45720" marB="45720">
                    <a:lnR w="4763">
                      <a:solidFill>
                        <a:srgbClr val="C5C8B9"/>
                      </a:solidFill>
                      <a:prstDash val="solid"/>
                    </a:lnR>
                    <a:lnB w="4763">
                      <a:solidFill>
                        <a:srgbClr val="C5C8B9"/>
                      </a:solidFill>
                      <a:prstDash val="solid"/>
                    </a:lnB>
                    <a:solidFill>
                      <a:srgbClr val="EEEEE4"/>
                    </a:solidFill>
                  </a:tcPr>
                </a:tc>
              </a:tr>
              <a:tr h="600075">
                <a:tc>
                  <a:txBody>
                    <a:bodyPr/>
                    <a:lstStyle/>
                    <a:p>
                      <a:r>
                        <a:rPr sz="1350" b="0">
                          <a:solidFill>
                            <a:srgbClr val="171A12"/>
                          </a:solidFill>
                          <a:latin typeface="Helvetica Neue"/>
                          <a:ea typeface="Helvetica Neue"/>
                          <a:cs typeface="Helvetica Neue"/>
                        </a:rPr>
                        <a:t>Electricity cost per task</a:t>
                      </a:r>
                    </a:p>
                  </a:txBody>
                  <a:tcPr marL="91440" marR="91440" marT="45720" marB="45720">
                    <a:lnL w="4763">
                      <a:solidFill>
                        <a:srgbClr val="C5C8B9"/>
                      </a:solidFill>
                      <a:prstDash val="solid"/>
                    </a:lnL>
                    <a:lnR w="4763">
                      <a:solidFill>
                        <a:srgbClr val="C5C8B9"/>
                      </a:solidFill>
                      <a:prstDash val="solid"/>
                    </a:lnR>
                    <a:lnB w="4763">
                      <a:solidFill>
                        <a:srgbClr val="C5C8B9"/>
                      </a:solidFill>
                      <a:prstDash val="solid"/>
                    </a:lnB>
                    <a:solidFill>
                      <a:srgbClr val="EEEEE4"/>
                    </a:solidFill>
                  </a:tcPr>
                </a:tc>
                <a:tc>
                  <a:txBody>
                    <a:bodyPr/>
                    <a:lstStyle/>
                    <a:p>
                      <a:r>
                        <a:rPr sz="1350" b="0">
                          <a:solidFill>
                            <a:srgbClr val="171A12"/>
                          </a:solidFill>
                          <a:latin typeface="Helvetica Neue"/>
                          <a:ea typeface="Helvetica Neue"/>
                          <a:cs typeface="Helvetica Neue"/>
                        </a:rPr>
                        <a:t>Batch kWh × tariff ÷ accepted tasks</a:t>
                      </a:r>
                    </a:p>
                  </a:txBody>
                  <a:tcPr marL="91440" marR="91440" marT="45720" marB="45720">
                    <a:lnR w="4763">
                      <a:solidFill>
                        <a:srgbClr val="C5C8B9"/>
                      </a:solidFill>
                      <a:prstDash val="solid"/>
                    </a:lnR>
                    <a:lnB w="4763">
                      <a:solidFill>
                        <a:srgbClr val="C5C8B9"/>
                      </a:solidFill>
                      <a:prstDash val="solid"/>
                    </a:lnB>
                    <a:solidFill>
                      <a:srgbClr val="EEEEE4"/>
                    </a:solidFill>
                  </a:tcPr>
                </a:tc>
                <a:tc>
                  <a:txBody>
                    <a:bodyPr/>
                    <a:lstStyle/>
                    <a:p>
                      <a:r>
                        <a:rPr sz="1350" b="0">
                          <a:solidFill>
                            <a:srgbClr val="171A12"/>
                          </a:solidFill>
                          <a:latin typeface="Helvetica Neue"/>
                          <a:ea typeface="Helvetica Neue"/>
                          <a:cs typeface="Helvetica Neue"/>
                        </a:rPr>
                        <a:t>Electricity component only</a:t>
                      </a:r>
                    </a:p>
                  </a:txBody>
                  <a:tcPr marL="91440" marR="91440" marT="45720" marB="45720">
                    <a:lnR w="4763">
                      <a:solidFill>
                        <a:srgbClr val="C5C8B9"/>
                      </a:solidFill>
                      <a:prstDash val="solid"/>
                    </a:lnR>
                    <a:lnB w="4763">
                      <a:solidFill>
                        <a:srgbClr val="C5C8B9"/>
                      </a:solidFill>
                      <a:prstDash val="solid"/>
                    </a:lnB>
                    <a:solidFill>
                      <a:srgbClr val="EEEEE4"/>
                    </a:solidFill>
                  </a:tcPr>
                </a:tc>
              </a:tr>
              <a:tr h="600075">
                <a:tc>
                  <a:txBody>
                    <a:bodyPr/>
                    <a:lstStyle/>
                    <a:p>
                      <a:r>
                        <a:rPr sz="1350" b="0">
                          <a:solidFill>
                            <a:srgbClr val="171A12"/>
                          </a:solidFill>
                          <a:latin typeface="Helvetica Neue"/>
                          <a:ea typeface="Helvetica Neue"/>
                          <a:cs typeface="Helvetica Neue"/>
                        </a:rPr>
                        <a:t>J per output token</a:t>
                      </a:r>
                    </a:p>
                  </a:txBody>
                  <a:tcPr marL="91440" marR="91440" marT="45720" marB="45720">
                    <a:lnL w="4763">
                      <a:solidFill>
                        <a:srgbClr val="C5C8B9"/>
                      </a:solidFill>
                      <a:prstDash val="solid"/>
                    </a:lnL>
                    <a:lnR w="4763">
                      <a:solidFill>
                        <a:srgbClr val="C5C8B9"/>
                      </a:solidFill>
                      <a:prstDash val="solid"/>
                    </a:lnR>
                    <a:lnB w="4763">
                      <a:solidFill>
                        <a:srgbClr val="C5C8B9"/>
                      </a:solidFill>
                      <a:prstDash val="solid"/>
                    </a:lnB>
                    <a:solidFill>
                      <a:srgbClr val="EEEEE4"/>
                    </a:solidFill>
                  </a:tcPr>
                </a:tc>
                <a:tc>
                  <a:txBody>
                    <a:bodyPr/>
                    <a:lstStyle/>
                    <a:p>
                      <a:r>
                        <a:rPr sz="1350" b="0">
                          <a:solidFill>
                            <a:srgbClr val="171A12"/>
                          </a:solidFill>
                          <a:latin typeface="Helvetica Neue"/>
                          <a:ea typeface="Helvetica Neue"/>
                          <a:cs typeface="Helvetica Neue"/>
                        </a:rPr>
                        <a:t>Batch joules ÷ accepted output tokens</a:t>
                      </a:r>
                    </a:p>
                  </a:txBody>
                  <a:tcPr marL="91440" marR="91440" marT="45720" marB="45720">
                    <a:lnR w="4763">
                      <a:solidFill>
                        <a:srgbClr val="C5C8B9"/>
                      </a:solidFill>
                      <a:prstDash val="solid"/>
                    </a:lnR>
                    <a:lnB w="4763">
                      <a:solidFill>
                        <a:srgbClr val="C5C8B9"/>
                      </a:solidFill>
                      <a:prstDash val="solid"/>
                    </a:lnB>
                    <a:solidFill>
                      <a:srgbClr val="EEEEE4"/>
                    </a:solidFill>
                  </a:tcPr>
                </a:tc>
                <a:tc>
                  <a:txBody>
                    <a:bodyPr/>
                    <a:lstStyle/>
                    <a:p>
                      <a:r>
                        <a:rPr sz="1350" b="0">
                          <a:solidFill>
                            <a:srgbClr val="171A12"/>
                          </a:solidFill>
                          <a:latin typeface="Helvetica Neue"/>
                          <a:ea typeface="Helvetica Neue"/>
                          <a:cs typeface="Helvetica Neue"/>
                        </a:rPr>
                        <a:t>Matched model and workload diagnostic</a:t>
                      </a:r>
                    </a:p>
                  </a:txBody>
                  <a:tcPr marL="91440" marR="91440" marT="45720" marB="45720">
                    <a:lnR w="4763">
                      <a:solidFill>
                        <a:srgbClr val="C5C8B9"/>
                      </a:solidFill>
                      <a:prstDash val="solid"/>
                    </a:lnR>
                    <a:lnB w="4763">
                      <a:solidFill>
                        <a:srgbClr val="C5C8B9"/>
                      </a:solidFill>
                      <a:prstDash val="solid"/>
                    </a:lnB>
                    <a:solidFill>
                      <a:srgbClr val="EEEEE4"/>
                    </a:solidFill>
                  </a:tcPr>
                </a:tc>
              </a:tr>
              <a:tr h="600075">
                <a:tc>
                  <a:txBody>
                    <a:bodyPr/>
                    <a:lstStyle/>
                    <a:p>
                      <a:r>
                        <a:rPr sz="1350" b="0">
                          <a:solidFill>
                            <a:srgbClr val="171A12"/>
                          </a:solidFill>
                          <a:latin typeface="Helvetica Neue"/>
                          <a:ea typeface="Helvetica Neue"/>
                          <a:cs typeface="Helvetica Neue"/>
                        </a:rPr>
                        <a:t>TTFT / TPOT</a:t>
                      </a:r>
                    </a:p>
                  </a:txBody>
                  <a:tcPr marL="91440" marR="91440" marT="45720" marB="45720">
                    <a:lnL w="4763">
                      <a:solidFill>
                        <a:srgbClr val="C5C8B9"/>
                      </a:solidFill>
                      <a:prstDash val="solid"/>
                    </a:lnL>
                    <a:lnR w="4763">
                      <a:solidFill>
                        <a:srgbClr val="C5C8B9"/>
                      </a:solidFill>
                      <a:prstDash val="solid"/>
                    </a:lnR>
                    <a:lnB w="4763">
                      <a:solidFill>
                        <a:srgbClr val="C5C8B9"/>
                      </a:solidFill>
                      <a:prstDash val="solid"/>
                    </a:lnB>
                    <a:solidFill>
                      <a:srgbClr val="EEEEE4"/>
                    </a:solidFill>
                  </a:tcPr>
                </a:tc>
                <a:tc>
                  <a:txBody>
                    <a:bodyPr/>
                    <a:lstStyle/>
                    <a:p>
                      <a:r>
                        <a:rPr sz="1350" b="0">
                          <a:solidFill>
                            <a:srgbClr val="171A12"/>
                          </a:solidFill>
                          <a:latin typeface="Helvetica Neue"/>
                          <a:ea typeface="Helvetica Neue"/>
                          <a:cs typeface="Helvetica Neue"/>
                        </a:rPr>
                        <a:t>Time to first token / time per output token</a:t>
                      </a:r>
                    </a:p>
                  </a:txBody>
                  <a:tcPr marL="91440" marR="91440" marT="45720" marB="45720">
                    <a:lnR w="4763">
                      <a:solidFill>
                        <a:srgbClr val="C5C8B9"/>
                      </a:solidFill>
                      <a:prstDash val="solid"/>
                    </a:lnR>
                    <a:lnB w="4763">
                      <a:solidFill>
                        <a:srgbClr val="C5C8B9"/>
                      </a:solidFill>
                      <a:prstDash val="solid"/>
                    </a:lnB>
                    <a:solidFill>
                      <a:srgbClr val="EEEEE4"/>
                    </a:solidFill>
                  </a:tcPr>
                </a:tc>
                <a:tc>
                  <a:txBody>
                    <a:bodyPr/>
                    <a:lstStyle/>
                    <a:p>
                      <a:r>
                        <a:rPr sz="1350" b="0">
                          <a:solidFill>
                            <a:srgbClr val="171A12"/>
                          </a:solidFill>
                          <a:latin typeface="Helvetica Neue"/>
                          <a:ea typeface="Helvetica Neue"/>
                          <a:cs typeface="Helvetica Neue"/>
                        </a:rPr>
                        <a:t>Service guardrails with quality and task latency</a:t>
                      </a:r>
                    </a:p>
                  </a:txBody>
                  <a:tcPr marL="91440" marR="91440" marT="45720" marB="45720">
                    <a:lnR w="4763">
                      <a:solidFill>
                        <a:srgbClr val="C5C8B9"/>
                      </a:solidFill>
                      <a:prstDash val="solid"/>
                    </a:lnR>
                    <a:lnB w="4763">
                      <a:solidFill>
                        <a:srgbClr val="C5C8B9"/>
                      </a:solidFill>
                      <a:prstDash val="solid"/>
                    </a:lnB>
                    <a:solidFill>
                      <a:srgbClr val="EEEEE4"/>
                    </a:solidFill>
                  </a:tcPr>
                </a:tc>
              </a:tr>
              <a:tr h="600075">
                <a:tc>
                  <a:txBody>
                    <a:bodyPr/>
                    <a:lstStyle/>
                    <a:p>
                      <a:r>
                        <a:rPr sz="1350" b="0">
                          <a:solidFill>
                            <a:srgbClr val="171A12"/>
                          </a:solidFill>
                          <a:latin typeface="Helvetica Neue"/>
                          <a:ea typeface="Helvetica Neue"/>
                          <a:cs typeface="Helvetica Neue"/>
                        </a:rPr>
                        <a:t>PUE</a:t>
                      </a:r>
                    </a:p>
                  </a:txBody>
                  <a:tcPr marL="91440" marR="91440" marT="45720" marB="45720">
                    <a:lnL w="4763">
                      <a:solidFill>
                        <a:srgbClr val="C5C8B9"/>
                      </a:solidFill>
                      <a:prstDash val="solid"/>
                    </a:lnL>
                    <a:lnR w="4763">
                      <a:solidFill>
                        <a:srgbClr val="C5C8B9"/>
                      </a:solidFill>
                      <a:prstDash val="solid"/>
                    </a:lnR>
                    <a:lnB w="4763">
                      <a:solidFill>
                        <a:srgbClr val="C5C8B9"/>
                      </a:solidFill>
                      <a:prstDash val="solid"/>
                    </a:lnB>
                    <a:solidFill>
                      <a:srgbClr val="EEEEE4"/>
                    </a:solidFill>
                  </a:tcPr>
                </a:tc>
                <a:tc>
                  <a:txBody>
                    <a:bodyPr/>
                    <a:lstStyle/>
                    <a:p>
                      <a:r>
                        <a:rPr sz="1350" b="0">
                          <a:solidFill>
                            <a:srgbClr val="171A12"/>
                          </a:solidFill>
                          <a:latin typeface="Helvetica Neue"/>
                          <a:ea typeface="Helvetica Neue"/>
                          <a:cs typeface="Helvetica Neue"/>
                        </a:rPr>
                        <a:t>Total facility energy ÷ IT equipment energy</a:t>
                      </a:r>
                    </a:p>
                  </a:txBody>
                  <a:tcPr marL="91440" marR="91440" marT="45720" marB="45720">
                    <a:lnR w="4763">
                      <a:solidFill>
                        <a:srgbClr val="C5C8B9"/>
                      </a:solidFill>
                      <a:prstDash val="solid"/>
                    </a:lnR>
                    <a:lnB w="4763">
                      <a:solidFill>
                        <a:srgbClr val="C5C8B9"/>
                      </a:solidFill>
                      <a:prstDash val="solid"/>
                    </a:lnB>
                    <a:solidFill>
                      <a:srgbClr val="EEEEE4"/>
                    </a:solidFill>
                  </a:tcPr>
                </a:tc>
                <a:tc>
                  <a:txBody>
                    <a:bodyPr/>
                    <a:lstStyle/>
                    <a:p>
                      <a:r>
                        <a:rPr sz="1350" b="0">
                          <a:solidFill>
                            <a:srgbClr val="171A12"/>
                          </a:solidFill>
                          <a:latin typeface="Helvetica Neue"/>
                          <a:ea typeface="Helvetica Neue"/>
                          <a:cs typeface="Helvetica Neue"/>
                        </a:rPr>
                        <a:t>Facility efficiency, not workload quality</a:t>
                      </a:r>
                    </a:p>
                  </a:txBody>
                  <a:tcPr marL="91440" marR="91440" marT="45720" marB="45720">
                    <a:lnR w="4763">
                      <a:solidFill>
                        <a:srgbClr val="C5C8B9"/>
                      </a:solidFill>
                      <a:prstDash val="solid"/>
                    </a:lnR>
                    <a:lnB w="4763">
                      <a:solidFill>
                        <a:srgbClr val="C5C8B9"/>
                      </a:solidFill>
                      <a:prstDash val="solid"/>
                    </a:lnB>
                    <a:solidFill>
                      <a:srgbClr val="EEEEE4"/>
                    </a:solidFill>
                  </a:tcPr>
                </a:tc>
              </a:tr>
            </a:tbl>
          </a:graphicData>
        </a:graphic>
      </p:graphicFrame>
    </p:spTree>
    <p:extLst>
      <p:ext uri="{BB962C8B-B14F-4D97-AF65-F5344CB8AC3E}">
        <p14:creationId xmlns:p14="http://schemas.microsoft.com/office/powerpoint/2010/main" val="1261356598"/>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06D9E361-6C93-42C8-8362-BBE5FE437AD5}"/>
              </a:ext>
            </a:extLst>
          </p:cNvPr>
          <p:cNvPicPr>
            <a:picLocks xmlns:a="http://schemas.openxmlformats.org/drawingml/2006/main" noChangeAspect="1"/>
          </p:cNvPicPr>
          <p:nvPr/>
        </p:nvPicPr>
        <p:blipFill>
          <a:blip xmlns:r="http://schemas.openxmlformats.org/officeDocument/2006/relationships" xmlns:a="http://schemas.openxmlformats.org/drawingml/2006/main" r:embed="R9d1a0bb8673e4e4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254C65C-3774-47C5-A15C-D3ABB498DD44}"/>
              </a:ext>
            </a:extLst>
          </p:cNvPr>
          <p:cNvSpPr>
            <a:spLocks xmlns:a="http://schemas.openxmlformats.org/drawingml/2006/main" noGrp="1"/>
          </p:cNvSpPr>
          <p:nvPr/>
        </p:nvSpPr>
        <p:spPr>
          <a:xfrm xmlns:a="http://schemas.openxmlformats.org/drawingml/2006/main">
            <a:off x="609600" y="381000"/>
            <a:ext cx="619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FFDB24"/>
                </a:solidFill>
                <a:latin typeface="Helvetica Neue"/>
                <a:ea typeface="Helvetica Neue"/>
                <a:cs typeface="Helvetica Neue"/>
              </a:defRPr>
            </a:defPPr>
            <a:lvl1pPr>
              <a:defRPr sz="1275" b="1">
                <a:solidFill>
                  <a:srgbClr val="FFDB24"/>
                </a:solidFill>
                <a:latin typeface="Helvetica Neue"/>
                <a:ea typeface="Helvetica Neue"/>
                <a:cs typeface="Helvetica Neue"/>
              </a:defRPr>
            </a:lvl1pPr>
            <a:lvl2pPr>
              <a:defRPr sz="1275" b="1">
                <a:solidFill>
                  <a:srgbClr val="FFDB24"/>
                </a:solidFill>
                <a:latin typeface="Helvetica Neue"/>
                <a:ea typeface="Helvetica Neue"/>
                <a:cs typeface="Helvetica Neue"/>
              </a:defRPr>
            </a:lvl2pPr>
            <a:lvl3pPr>
              <a:defRPr sz="1275" b="1">
                <a:solidFill>
                  <a:srgbClr val="FFDB24"/>
                </a:solidFill>
                <a:latin typeface="Helvetica Neue"/>
                <a:ea typeface="Helvetica Neue"/>
                <a:cs typeface="Helvetica Neue"/>
              </a:defRPr>
            </a:lvl3pPr>
            <a:lvl4pPr>
              <a:defRPr sz="1275" b="1">
                <a:solidFill>
                  <a:srgbClr val="FFDB24"/>
                </a:solidFill>
                <a:latin typeface="Helvetica Neue"/>
                <a:ea typeface="Helvetica Neue"/>
                <a:cs typeface="Helvetica Neue"/>
              </a:defRPr>
            </a:lvl4pPr>
            <a:lvl5pPr>
              <a:defRPr sz="1275" b="1">
                <a:solidFill>
                  <a:srgbClr val="FFDB24"/>
                </a:solidFill>
                <a:latin typeface="Helvetica Neue"/>
                <a:ea typeface="Helvetica Neue"/>
                <a:cs typeface="Helvetica Neue"/>
              </a:defRPr>
            </a:lvl5pPr>
            <a:lvl6pPr>
              <a:defRPr sz="1275" b="1">
                <a:solidFill>
                  <a:srgbClr val="FFDB24"/>
                </a:solidFill>
                <a:latin typeface="Helvetica Neue"/>
                <a:ea typeface="Helvetica Neue"/>
                <a:cs typeface="Helvetica Neue"/>
              </a:defRPr>
            </a:lvl6pPr>
            <a:lvl7pPr>
              <a:defRPr sz="1275" b="1">
                <a:solidFill>
                  <a:srgbClr val="FFDB24"/>
                </a:solidFill>
                <a:latin typeface="Helvetica Neue"/>
                <a:ea typeface="Helvetica Neue"/>
                <a:cs typeface="Helvetica Neue"/>
              </a:defRPr>
            </a:lvl7pPr>
            <a:lvl8pPr>
              <a:defRPr sz="1275" b="1">
                <a:solidFill>
                  <a:srgbClr val="FFDB24"/>
                </a:solidFill>
                <a:latin typeface="Helvetica Neue"/>
                <a:ea typeface="Helvetica Neue"/>
                <a:cs typeface="Helvetica Neue"/>
              </a:defRPr>
            </a:lvl8pPr>
            <a:lvl9pPr>
              <a:defRPr sz="1275" b="1">
                <a:solidFill>
                  <a:srgbClr val="FFDB24"/>
                </a:solidFill>
                <a:latin typeface="Helvetica Neue"/>
                <a:ea typeface="Helvetica Neue"/>
                <a:cs typeface="Helvetica Neue"/>
              </a:defRPr>
            </a:lvl9pPr>
          </a:lstStyle>
          <a:p xmlns:a="http://schemas.openxmlformats.org/drawingml/2006/main">
            <a:pPr>
              <a:defRPr sz="1275" b="1">
                <a:solidFill>
                  <a:srgbClr val="FFDB24"/>
                </a:solidFill>
                <a:latin typeface="Helvetica Neue"/>
                <a:ea typeface="Helvetica Neue"/>
                <a:cs typeface="Helvetica Neue"/>
              </a:defRPr>
            </a:pPr>
            <a:r>
              <a:rPr sz="1275" b="1">
                <a:solidFill>
                  <a:srgbClr val="FFDB24"/>
                </a:solidFill>
                <a:latin typeface="Helvetica Neue"/>
                <a:ea typeface="Helvetica Neue"/>
                <a:cs typeface="Helvetica Neue"/>
              </a:rPr>
              <a:t>APPENDIX / MEASUREMENT BOUNDARY</a:t>
            </a:r>
          </a:p>
        </p:txBody>
      </p:sp>
      <p:sp>
        <p:nvSpPr>
          <p:cNvPr id="3" name="">
            <a:extLst xmlns:a="http://schemas.openxmlformats.org/drawingml/2006/main">
              <a:ext uri="{FF2B5EF4-FFF2-40B4-BE49-F238E27FC236}">
                <a16:creationId xmlns:a16="http://schemas.microsoft.com/office/drawing/2014/main" id="{69122B64-ED7D-4BB9-9FA4-0592EB48AD7C}"/>
              </a:ext>
            </a:extLst>
          </p:cNvPr>
          <p:cNvSpPr>
            <a:spLocks xmlns:a="http://schemas.openxmlformats.org/drawingml/2006/main" noGrp="1"/>
          </p:cNvSpPr>
          <p:nvPr/>
        </p:nvSpPr>
        <p:spPr>
          <a:xfrm xmlns:a="http://schemas.openxmlformats.org/drawingml/2006/main">
            <a:off x="609600" y="1095375"/>
            <a:ext cx="51911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0">
                <a:solidFill>
                  <a:srgbClr val="F4F3EB"/>
                </a:solidFill>
                <a:latin typeface="Helvetica Neue"/>
                <a:ea typeface="Helvetica Neue"/>
                <a:cs typeface="Helvetica Neue"/>
              </a:defRPr>
            </a:defPPr>
            <a:lvl1pPr>
              <a:defRPr sz="3225" b="0">
                <a:solidFill>
                  <a:srgbClr val="F4F3EB"/>
                </a:solidFill>
                <a:latin typeface="Helvetica Neue"/>
                <a:ea typeface="Helvetica Neue"/>
                <a:cs typeface="Helvetica Neue"/>
              </a:defRPr>
            </a:lvl1pPr>
            <a:lvl2pPr>
              <a:defRPr sz="3225" b="0">
                <a:solidFill>
                  <a:srgbClr val="F4F3EB"/>
                </a:solidFill>
                <a:latin typeface="Helvetica Neue"/>
                <a:ea typeface="Helvetica Neue"/>
                <a:cs typeface="Helvetica Neue"/>
              </a:defRPr>
            </a:lvl2pPr>
            <a:lvl3pPr>
              <a:defRPr sz="3225" b="0">
                <a:solidFill>
                  <a:srgbClr val="F4F3EB"/>
                </a:solidFill>
                <a:latin typeface="Helvetica Neue"/>
                <a:ea typeface="Helvetica Neue"/>
                <a:cs typeface="Helvetica Neue"/>
              </a:defRPr>
            </a:lvl3pPr>
            <a:lvl4pPr>
              <a:defRPr sz="3225" b="0">
                <a:solidFill>
                  <a:srgbClr val="F4F3EB"/>
                </a:solidFill>
                <a:latin typeface="Helvetica Neue"/>
                <a:ea typeface="Helvetica Neue"/>
                <a:cs typeface="Helvetica Neue"/>
              </a:defRPr>
            </a:lvl4pPr>
            <a:lvl5pPr>
              <a:defRPr sz="3225" b="0">
                <a:solidFill>
                  <a:srgbClr val="F4F3EB"/>
                </a:solidFill>
                <a:latin typeface="Helvetica Neue"/>
                <a:ea typeface="Helvetica Neue"/>
                <a:cs typeface="Helvetica Neue"/>
              </a:defRPr>
            </a:lvl5pPr>
            <a:lvl6pPr>
              <a:defRPr sz="3225" b="0">
                <a:solidFill>
                  <a:srgbClr val="F4F3EB"/>
                </a:solidFill>
                <a:latin typeface="Helvetica Neue"/>
                <a:ea typeface="Helvetica Neue"/>
                <a:cs typeface="Helvetica Neue"/>
              </a:defRPr>
            </a:lvl6pPr>
            <a:lvl7pPr>
              <a:defRPr sz="3225" b="0">
                <a:solidFill>
                  <a:srgbClr val="F4F3EB"/>
                </a:solidFill>
                <a:latin typeface="Helvetica Neue"/>
                <a:ea typeface="Helvetica Neue"/>
                <a:cs typeface="Helvetica Neue"/>
              </a:defRPr>
            </a:lvl7pPr>
            <a:lvl8pPr>
              <a:defRPr sz="3225" b="0">
                <a:solidFill>
                  <a:srgbClr val="F4F3EB"/>
                </a:solidFill>
                <a:latin typeface="Helvetica Neue"/>
                <a:ea typeface="Helvetica Neue"/>
                <a:cs typeface="Helvetica Neue"/>
              </a:defRPr>
            </a:lvl8pPr>
            <a:lvl9pPr>
              <a:defRPr sz="3225" b="0">
                <a:solidFill>
                  <a:srgbClr val="F4F3EB"/>
                </a:solidFill>
                <a:latin typeface="Helvetica Neue"/>
                <a:ea typeface="Helvetica Neue"/>
                <a:cs typeface="Helvetica Neue"/>
              </a:defRPr>
            </a:lvl9pPr>
          </a:lstStyle>
          <a:p xmlns:a="http://schemas.openxmlformats.org/drawingml/2006/main">
            <a:pPr>
              <a:defRPr sz="3225" b="0">
                <a:solidFill>
                  <a:srgbClr val="F4F3EB"/>
                </a:solidFill>
                <a:latin typeface="Helvetica Neue"/>
                <a:ea typeface="Helvetica Neue"/>
                <a:cs typeface="Helvetica Neue"/>
              </a:defRPr>
            </a:pPr>
            <a:r>
              <a:rPr sz="3225" b="0">
                <a:solidFill>
                  <a:srgbClr val="F4F3EB"/>
                </a:solidFill>
                <a:latin typeface="Helvetica Neue"/>
                <a:ea typeface="Helvetica Neue"/>
                <a:cs typeface="Helvetica Neue"/>
              </a:rPr>
              <a:t>Current diagnostics</a:t>
            </a:r>
          </a:p>
          <a:p xmlns:a="http://schemas.openxmlformats.org/drawingml/2006/main">
            <a:pPr>
              <a:defRPr sz="3225" b="0">
                <a:solidFill>
                  <a:srgbClr val="F4F3EB"/>
                </a:solidFill>
                <a:latin typeface="Helvetica Neue"/>
                <a:ea typeface="Helvetica Neue"/>
                <a:cs typeface="Helvetica Neue"/>
              </a:defRPr>
            </a:pPr>
            <a:r>
              <a:rPr sz="3225" b="0">
                <a:solidFill>
                  <a:srgbClr val="F4F3EB"/>
                </a:solidFill>
                <a:latin typeface="Helvetica Neue"/>
                <a:ea typeface="Helvetica Neue"/>
                <a:cs typeface="Helvetica Neue"/>
              </a:rPr>
              <a:t>and energy measurement</a:t>
            </a:r>
          </a:p>
        </p:txBody>
      </p:sp>
      <p:sp>
        <p:nvSpPr>
          <p:cNvPr id="4" name="">
            <a:extLst xmlns:a="http://schemas.openxmlformats.org/drawingml/2006/main">
              <a:ext uri="{FF2B5EF4-FFF2-40B4-BE49-F238E27FC236}">
                <a16:creationId xmlns:a16="http://schemas.microsoft.com/office/drawing/2014/main" id="{54FA6EC1-18B4-43B5-9D90-414452619AF3}"/>
              </a:ext>
            </a:extLst>
          </p:cNvPr>
          <p:cNvSpPr>
            <a:spLocks xmlns:a="http://schemas.openxmlformats.org/drawingml/2006/main" noGrp="1"/>
          </p:cNvSpPr>
          <p:nvPr/>
        </p:nvSpPr>
        <p:spPr>
          <a:xfrm xmlns:a="http://schemas.openxmlformats.org/drawingml/2006/main">
            <a:off x="609600" y="2781300"/>
            <a:ext cx="500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FFDB24"/>
                </a:solidFill>
                <a:latin typeface="Helvetica Neue"/>
                <a:ea typeface="Helvetica Neue"/>
                <a:cs typeface="Helvetica Neue"/>
              </a:defRPr>
            </a:defPPr>
            <a:lvl1pPr>
              <a:defRPr sz="2250" b="1">
                <a:solidFill>
                  <a:srgbClr val="FFDB24"/>
                </a:solidFill>
                <a:latin typeface="Helvetica Neue"/>
                <a:ea typeface="Helvetica Neue"/>
                <a:cs typeface="Helvetica Neue"/>
              </a:defRPr>
            </a:lvl1pPr>
            <a:lvl2pPr>
              <a:defRPr sz="2250" b="1">
                <a:solidFill>
                  <a:srgbClr val="FFDB24"/>
                </a:solidFill>
                <a:latin typeface="Helvetica Neue"/>
                <a:ea typeface="Helvetica Neue"/>
                <a:cs typeface="Helvetica Neue"/>
              </a:defRPr>
            </a:lvl2pPr>
            <a:lvl3pPr>
              <a:defRPr sz="2250" b="1">
                <a:solidFill>
                  <a:srgbClr val="FFDB24"/>
                </a:solidFill>
                <a:latin typeface="Helvetica Neue"/>
                <a:ea typeface="Helvetica Neue"/>
                <a:cs typeface="Helvetica Neue"/>
              </a:defRPr>
            </a:lvl3pPr>
            <a:lvl4pPr>
              <a:defRPr sz="2250" b="1">
                <a:solidFill>
                  <a:srgbClr val="FFDB24"/>
                </a:solidFill>
                <a:latin typeface="Helvetica Neue"/>
                <a:ea typeface="Helvetica Neue"/>
                <a:cs typeface="Helvetica Neue"/>
              </a:defRPr>
            </a:lvl4pPr>
            <a:lvl5pPr>
              <a:defRPr sz="2250" b="1">
                <a:solidFill>
                  <a:srgbClr val="FFDB24"/>
                </a:solidFill>
                <a:latin typeface="Helvetica Neue"/>
                <a:ea typeface="Helvetica Neue"/>
                <a:cs typeface="Helvetica Neue"/>
              </a:defRPr>
            </a:lvl5pPr>
            <a:lvl6pPr>
              <a:defRPr sz="2250" b="1">
                <a:solidFill>
                  <a:srgbClr val="FFDB24"/>
                </a:solidFill>
                <a:latin typeface="Helvetica Neue"/>
                <a:ea typeface="Helvetica Neue"/>
                <a:cs typeface="Helvetica Neue"/>
              </a:defRPr>
            </a:lvl6pPr>
            <a:lvl7pPr>
              <a:defRPr sz="2250" b="1">
                <a:solidFill>
                  <a:srgbClr val="FFDB24"/>
                </a:solidFill>
                <a:latin typeface="Helvetica Neue"/>
                <a:ea typeface="Helvetica Neue"/>
                <a:cs typeface="Helvetica Neue"/>
              </a:defRPr>
            </a:lvl7pPr>
            <a:lvl8pPr>
              <a:defRPr sz="2250" b="1">
                <a:solidFill>
                  <a:srgbClr val="FFDB24"/>
                </a:solidFill>
                <a:latin typeface="Helvetica Neue"/>
                <a:ea typeface="Helvetica Neue"/>
                <a:cs typeface="Helvetica Neue"/>
              </a:defRPr>
            </a:lvl8pPr>
            <a:lvl9pPr>
              <a:defRPr sz="2250" b="1">
                <a:solidFill>
                  <a:srgbClr val="FFDB24"/>
                </a:solidFill>
                <a:latin typeface="Helvetica Neue"/>
                <a:ea typeface="Helvetica Neue"/>
                <a:cs typeface="Helvetica Neue"/>
              </a:defRPr>
            </a:lvl9pPr>
          </a:lstStyle>
          <a:p xmlns:a="http://schemas.openxmlformats.org/drawingml/2006/main">
            <a:pPr>
              <a:defRPr sz="2250" b="1">
                <a:solidFill>
                  <a:srgbClr val="FFDB24"/>
                </a:solidFill>
                <a:latin typeface="Helvetica Neue"/>
                <a:ea typeface="Helvetica Neue"/>
                <a:cs typeface="Helvetica Neue"/>
              </a:defRPr>
            </a:pPr>
            <a:r>
              <a:rPr sz="2250" b="1">
                <a:solidFill>
                  <a:srgbClr val="FFDB24"/>
                </a:solidFill>
                <a:latin typeface="Helvetica Neue"/>
                <a:ea typeface="Helvetica Neue"/>
                <a:cs typeface="Helvetica Neue"/>
              </a:rPr>
              <a:t>Fluke 376 FC</a:t>
            </a:r>
          </a:p>
        </p:txBody>
      </p:sp>
      <p:sp>
        <p:nvSpPr>
          <p:cNvPr id="5" name="">
            <a:extLst xmlns:a="http://schemas.openxmlformats.org/drawingml/2006/main">
              <a:ext uri="{FF2B5EF4-FFF2-40B4-BE49-F238E27FC236}">
                <a16:creationId xmlns:a16="http://schemas.microsoft.com/office/drawing/2014/main" id="{A9F88B1D-390F-4C28-80AF-A348DDE51E39}"/>
              </a:ext>
            </a:extLst>
          </p:cNvPr>
          <p:cNvSpPr>
            <a:spLocks xmlns:a="http://schemas.openxmlformats.org/drawingml/2006/main" noGrp="1"/>
          </p:cNvSpPr>
          <p:nvPr/>
        </p:nvSpPr>
        <p:spPr>
          <a:xfrm xmlns:a="http://schemas.openxmlformats.org/drawingml/2006/main">
            <a:off x="609600" y="3238500"/>
            <a:ext cx="485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F4F3EB"/>
                </a:solidFill>
                <a:latin typeface="Helvetica Neue"/>
                <a:ea typeface="Helvetica Neue"/>
                <a:cs typeface="Helvetica Neue"/>
              </a:defRPr>
            </a:defPPr>
            <a:lvl1pPr>
              <a:defRPr sz="1875" b="0">
                <a:solidFill>
                  <a:srgbClr val="F4F3EB"/>
                </a:solidFill>
                <a:latin typeface="Helvetica Neue"/>
                <a:ea typeface="Helvetica Neue"/>
                <a:cs typeface="Helvetica Neue"/>
              </a:defRPr>
            </a:lvl1pPr>
            <a:lvl2pPr>
              <a:defRPr sz="1875" b="0">
                <a:solidFill>
                  <a:srgbClr val="F4F3EB"/>
                </a:solidFill>
                <a:latin typeface="Helvetica Neue"/>
                <a:ea typeface="Helvetica Neue"/>
                <a:cs typeface="Helvetica Neue"/>
              </a:defRPr>
            </a:lvl2pPr>
            <a:lvl3pPr>
              <a:defRPr sz="1875" b="0">
                <a:solidFill>
                  <a:srgbClr val="F4F3EB"/>
                </a:solidFill>
                <a:latin typeface="Helvetica Neue"/>
                <a:ea typeface="Helvetica Neue"/>
                <a:cs typeface="Helvetica Neue"/>
              </a:defRPr>
            </a:lvl3pPr>
            <a:lvl4pPr>
              <a:defRPr sz="1875" b="0">
                <a:solidFill>
                  <a:srgbClr val="F4F3EB"/>
                </a:solidFill>
                <a:latin typeface="Helvetica Neue"/>
                <a:ea typeface="Helvetica Neue"/>
                <a:cs typeface="Helvetica Neue"/>
              </a:defRPr>
            </a:lvl4pPr>
            <a:lvl5pPr>
              <a:defRPr sz="1875" b="0">
                <a:solidFill>
                  <a:srgbClr val="F4F3EB"/>
                </a:solidFill>
                <a:latin typeface="Helvetica Neue"/>
                <a:ea typeface="Helvetica Neue"/>
                <a:cs typeface="Helvetica Neue"/>
              </a:defRPr>
            </a:lvl5pPr>
            <a:lvl6pPr>
              <a:defRPr sz="1875" b="0">
                <a:solidFill>
                  <a:srgbClr val="F4F3EB"/>
                </a:solidFill>
                <a:latin typeface="Helvetica Neue"/>
                <a:ea typeface="Helvetica Neue"/>
                <a:cs typeface="Helvetica Neue"/>
              </a:defRPr>
            </a:lvl6pPr>
            <a:lvl7pPr>
              <a:defRPr sz="1875" b="0">
                <a:solidFill>
                  <a:srgbClr val="F4F3EB"/>
                </a:solidFill>
                <a:latin typeface="Helvetica Neue"/>
                <a:ea typeface="Helvetica Neue"/>
                <a:cs typeface="Helvetica Neue"/>
              </a:defRPr>
            </a:lvl7pPr>
            <a:lvl8pPr>
              <a:defRPr sz="1875" b="0">
                <a:solidFill>
                  <a:srgbClr val="F4F3EB"/>
                </a:solidFill>
                <a:latin typeface="Helvetica Neue"/>
                <a:ea typeface="Helvetica Neue"/>
                <a:cs typeface="Helvetica Neue"/>
              </a:defRPr>
            </a:lvl8pPr>
            <a:lvl9pPr>
              <a:defRPr sz="1875" b="0">
                <a:solidFill>
                  <a:srgbClr val="F4F3EB"/>
                </a:solidFill>
                <a:latin typeface="Helvetica Neue"/>
                <a:ea typeface="Helvetica Neue"/>
                <a:cs typeface="Helvetica Neue"/>
              </a:defRPr>
            </a:lvl9pPr>
          </a:lstStyle>
          <a:p xmlns:a="http://schemas.openxmlformats.org/drawingml/2006/main">
            <a:pPr>
              <a:defRPr sz="1875" b="0">
                <a:solidFill>
                  <a:srgbClr val="F4F3EB"/>
                </a:solidFill>
                <a:latin typeface="Helvetica Neue"/>
                <a:ea typeface="Helvetica Neue"/>
                <a:cs typeface="Helvetica Neue"/>
              </a:defRPr>
            </a:pPr>
            <a:r>
              <a:rPr sz="1875" b="0">
                <a:solidFill>
                  <a:srgbClr val="F4F3EB"/>
                </a:solidFill>
                <a:latin typeface="Helvetica Neue"/>
                <a:ea typeface="Helvetica Neue"/>
                <a:cs typeface="Helvetica Neue"/>
              </a:rPr>
              <a:t>Clamp current diagnostics.</a:t>
            </a:r>
          </a:p>
          <a:p xmlns:a="http://schemas.openxmlformats.org/drawingml/2006/main">
            <a:pPr>
              <a:defRPr sz="1875" b="0">
                <a:solidFill>
                  <a:srgbClr val="F4F3EB"/>
                </a:solidFill>
                <a:latin typeface="Helvetica Neue"/>
                <a:ea typeface="Helvetica Neue"/>
                <a:cs typeface="Helvetica Neue"/>
              </a:defRPr>
            </a:pPr>
            <a:r>
              <a:rPr sz="1875" b="0">
                <a:solidFill>
                  <a:srgbClr val="F4F3EB"/>
                </a:solidFill>
                <a:latin typeface="Helvetica Neue"/>
                <a:ea typeface="Helvetica Neue"/>
                <a:cs typeface="Helvetica Neue"/>
              </a:rPr>
              <a:t>True-RMS AC response.</a:t>
            </a:r>
          </a:p>
        </p:txBody>
      </p:sp>
      <p:sp>
        <p:nvSpPr>
          <p:cNvPr id="6" name="">
            <a:extLst xmlns:a="http://schemas.openxmlformats.org/drawingml/2006/main">
              <a:ext uri="{FF2B5EF4-FFF2-40B4-BE49-F238E27FC236}">
                <a16:creationId xmlns:a16="http://schemas.microsoft.com/office/drawing/2014/main" id="{4E5FECFE-BCC8-429A-B74C-1DDC02E8E856}"/>
              </a:ext>
            </a:extLst>
          </p:cNvPr>
          <p:cNvSpPr>
            <a:spLocks xmlns:a="http://schemas.openxmlformats.org/drawingml/2006/main" noGrp="1"/>
          </p:cNvSpPr>
          <p:nvPr/>
        </p:nvSpPr>
        <p:spPr>
          <a:xfrm xmlns:a="http://schemas.openxmlformats.org/drawingml/2006/main">
            <a:off x="609600" y="4191000"/>
            <a:ext cx="500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EE6758"/>
                </a:solidFill>
                <a:latin typeface="Helvetica Neue"/>
                <a:ea typeface="Helvetica Neue"/>
                <a:cs typeface="Helvetica Neue"/>
              </a:defRPr>
            </a:defPPr>
            <a:lvl1pPr>
              <a:defRPr sz="2250" b="1">
                <a:solidFill>
                  <a:srgbClr val="EE6758"/>
                </a:solidFill>
                <a:latin typeface="Helvetica Neue"/>
                <a:ea typeface="Helvetica Neue"/>
                <a:cs typeface="Helvetica Neue"/>
              </a:defRPr>
            </a:lvl1pPr>
            <a:lvl2pPr>
              <a:defRPr sz="2250" b="1">
                <a:solidFill>
                  <a:srgbClr val="EE6758"/>
                </a:solidFill>
                <a:latin typeface="Helvetica Neue"/>
                <a:ea typeface="Helvetica Neue"/>
                <a:cs typeface="Helvetica Neue"/>
              </a:defRPr>
            </a:lvl2pPr>
            <a:lvl3pPr>
              <a:defRPr sz="2250" b="1">
                <a:solidFill>
                  <a:srgbClr val="EE6758"/>
                </a:solidFill>
                <a:latin typeface="Helvetica Neue"/>
                <a:ea typeface="Helvetica Neue"/>
                <a:cs typeface="Helvetica Neue"/>
              </a:defRPr>
            </a:lvl3pPr>
            <a:lvl4pPr>
              <a:defRPr sz="2250" b="1">
                <a:solidFill>
                  <a:srgbClr val="EE6758"/>
                </a:solidFill>
                <a:latin typeface="Helvetica Neue"/>
                <a:ea typeface="Helvetica Neue"/>
                <a:cs typeface="Helvetica Neue"/>
              </a:defRPr>
            </a:lvl4pPr>
            <a:lvl5pPr>
              <a:defRPr sz="2250" b="1">
                <a:solidFill>
                  <a:srgbClr val="EE6758"/>
                </a:solidFill>
                <a:latin typeface="Helvetica Neue"/>
                <a:ea typeface="Helvetica Neue"/>
                <a:cs typeface="Helvetica Neue"/>
              </a:defRPr>
            </a:lvl5pPr>
            <a:lvl6pPr>
              <a:defRPr sz="2250" b="1">
                <a:solidFill>
                  <a:srgbClr val="EE6758"/>
                </a:solidFill>
                <a:latin typeface="Helvetica Neue"/>
                <a:ea typeface="Helvetica Neue"/>
                <a:cs typeface="Helvetica Neue"/>
              </a:defRPr>
            </a:lvl6pPr>
            <a:lvl7pPr>
              <a:defRPr sz="2250" b="1">
                <a:solidFill>
                  <a:srgbClr val="EE6758"/>
                </a:solidFill>
                <a:latin typeface="Helvetica Neue"/>
                <a:ea typeface="Helvetica Neue"/>
                <a:cs typeface="Helvetica Neue"/>
              </a:defRPr>
            </a:lvl7pPr>
            <a:lvl8pPr>
              <a:defRPr sz="2250" b="1">
                <a:solidFill>
                  <a:srgbClr val="EE6758"/>
                </a:solidFill>
                <a:latin typeface="Helvetica Neue"/>
                <a:ea typeface="Helvetica Neue"/>
                <a:cs typeface="Helvetica Neue"/>
              </a:defRPr>
            </a:lvl8pPr>
            <a:lvl9pPr>
              <a:defRPr sz="2250" b="1">
                <a:solidFill>
                  <a:srgbClr val="EE6758"/>
                </a:solidFill>
                <a:latin typeface="Helvetica Neue"/>
                <a:ea typeface="Helvetica Neue"/>
                <a:cs typeface="Helvetica Neue"/>
              </a:defRPr>
            </a:lvl9pPr>
          </a:lstStyle>
          <a:p xmlns:a="http://schemas.openxmlformats.org/drawingml/2006/main">
            <a:pPr>
              <a:defRPr sz="2250" b="1">
                <a:solidFill>
                  <a:srgbClr val="EE6758"/>
                </a:solidFill>
                <a:latin typeface="Helvetica Neue"/>
                <a:ea typeface="Helvetica Neue"/>
                <a:cs typeface="Helvetica Neue"/>
              </a:defRPr>
            </a:pPr>
            <a:r>
              <a:rPr sz="2250" b="1">
                <a:solidFill>
                  <a:srgbClr val="EE6758"/>
                </a:solidFill>
                <a:latin typeface="Helvetica Neue"/>
                <a:ea typeface="Helvetica Neue"/>
                <a:cs typeface="Helvetica Neue"/>
              </a:rPr>
              <a:t>Original UNI-T UT61B</a:t>
            </a:r>
          </a:p>
        </p:txBody>
      </p:sp>
      <p:sp>
        <p:nvSpPr>
          <p:cNvPr id="7" name="">
            <a:extLst xmlns:a="http://schemas.openxmlformats.org/drawingml/2006/main">
              <a:ext uri="{FF2B5EF4-FFF2-40B4-BE49-F238E27FC236}">
                <a16:creationId xmlns:a16="http://schemas.microsoft.com/office/drawing/2014/main" id="{F8609FD1-996D-4788-9E03-B0547A3C7064}"/>
              </a:ext>
            </a:extLst>
          </p:cNvPr>
          <p:cNvSpPr>
            <a:spLocks xmlns:a="http://schemas.openxmlformats.org/drawingml/2006/main" noGrp="1"/>
          </p:cNvSpPr>
          <p:nvPr/>
        </p:nvSpPr>
        <p:spPr>
          <a:xfrm xmlns:a="http://schemas.openxmlformats.org/drawingml/2006/main">
            <a:off x="609600" y="4648200"/>
            <a:ext cx="485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F4F3EB"/>
                </a:solidFill>
                <a:latin typeface="Helvetica Neue"/>
                <a:ea typeface="Helvetica Neue"/>
                <a:cs typeface="Helvetica Neue"/>
              </a:defRPr>
            </a:defPPr>
            <a:lvl1pPr>
              <a:defRPr sz="1875" b="0">
                <a:solidFill>
                  <a:srgbClr val="F4F3EB"/>
                </a:solidFill>
                <a:latin typeface="Helvetica Neue"/>
                <a:ea typeface="Helvetica Neue"/>
                <a:cs typeface="Helvetica Neue"/>
              </a:defRPr>
            </a:lvl1pPr>
            <a:lvl2pPr>
              <a:defRPr sz="1875" b="0">
                <a:solidFill>
                  <a:srgbClr val="F4F3EB"/>
                </a:solidFill>
                <a:latin typeface="Helvetica Neue"/>
                <a:ea typeface="Helvetica Neue"/>
                <a:cs typeface="Helvetica Neue"/>
              </a:defRPr>
            </a:lvl2pPr>
            <a:lvl3pPr>
              <a:defRPr sz="1875" b="0">
                <a:solidFill>
                  <a:srgbClr val="F4F3EB"/>
                </a:solidFill>
                <a:latin typeface="Helvetica Neue"/>
                <a:ea typeface="Helvetica Neue"/>
                <a:cs typeface="Helvetica Neue"/>
              </a:defRPr>
            </a:lvl3pPr>
            <a:lvl4pPr>
              <a:defRPr sz="1875" b="0">
                <a:solidFill>
                  <a:srgbClr val="F4F3EB"/>
                </a:solidFill>
                <a:latin typeface="Helvetica Neue"/>
                <a:ea typeface="Helvetica Neue"/>
                <a:cs typeface="Helvetica Neue"/>
              </a:defRPr>
            </a:lvl4pPr>
            <a:lvl5pPr>
              <a:defRPr sz="1875" b="0">
                <a:solidFill>
                  <a:srgbClr val="F4F3EB"/>
                </a:solidFill>
                <a:latin typeface="Helvetica Neue"/>
                <a:ea typeface="Helvetica Neue"/>
                <a:cs typeface="Helvetica Neue"/>
              </a:defRPr>
            </a:lvl5pPr>
            <a:lvl6pPr>
              <a:defRPr sz="1875" b="0">
                <a:solidFill>
                  <a:srgbClr val="F4F3EB"/>
                </a:solidFill>
                <a:latin typeface="Helvetica Neue"/>
                <a:ea typeface="Helvetica Neue"/>
                <a:cs typeface="Helvetica Neue"/>
              </a:defRPr>
            </a:lvl6pPr>
            <a:lvl7pPr>
              <a:defRPr sz="1875" b="0">
                <a:solidFill>
                  <a:srgbClr val="F4F3EB"/>
                </a:solidFill>
                <a:latin typeface="Helvetica Neue"/>
                <a:ea typeface="Helvetica Neue"/>
                <a:cs typeface="Helvetica Neue"/>
              </a:defRPr>
            </a:lvl7pPr>
            <a:lvl8pPr>
              <a:defRPr sz="1875" b="0">
                <a:solidFill>
                  <a:srgbClr val="F4F3EB"/>
                </a:solidFill>
                <a:latin typeface="Helvetica Neue"/>
                <a:ea typeface="Helvetica Neue"/>
                <a:cs typeface="Helvetica Neue"/>
              </a:defRPr>
            </a:lvl8pPr>
            <a:lvl9pPr>
              <a:defRPr sz="1875" b="0">
                <a:solidFill>
                  <a:srgbClr val="F4F3EB"/>
                </a:solidFill>
                <a:latin typeface="Helvetica Neue"/>
                <a:ea typeface="Helvetica Neue"/>
                <a:cs typeface="Helvetica Neue"/>
              </a:defRPr>
            </a:lvl9pPr>
          </a:lstStyle>
          <a:p xmlns:a="http://schemas.openxmlformats.org/drawingml/2006/main">
            <a:pPr>
              <a:defRPr sz="1875" b="0">
                <a:solidFill>
                  <a:srgbClr val="F4F3EB"/>
                </a:solidFill>
                <a:latin typeface="Helvetica Neue"/>
                <a:ea typeface="Helvetica Neue"/>
                <a:cs typeface="Helvetica Neue"/>
              </a:defRPr>
            </a:pPr>
            <a:r>
              <a:rPr sz="1875" b="0">
                <a:solidFill>
                  <a:srgbClr val="F4F3EB"/>
                </a:solidFill>
                <a:latin typeface="Helvetica Neue"/>
                <a:ea typeface="Helvetica Neue"/>
                <a:cs typeface="Helvetica Neue"/>
              </a:rPr>
              <a:t>10 A terminal input, no clamp.</a:t>
            </a:r>
          </a:p>
          <a:p xmlns:a="http://schemas.openxmlformats.org/drawingml/2006/main">
            <a:pPr>
              <a:defRPr sz="1875" b="0">
                <a:solidFill>
                  <a:srgbClr val="F4F3EB"/>
                </a:solidFill>
                <a:latin typeface="Helvetica Neue"/>
                <a:ea typeface="Helvetica Neue"/>
                <a:cs typeface="Helvetica Neue"/>
              </a:defRPr>
            </a:pPr>
            <a:r>
              <a:rPr sz="1875" b="0">
                <a:solidFill>
                  <a:srgbClr val="F4F3EB"/>
                </a:solidFill>
                <a:latin typeface="Helvetica Neue"/>
                <a:ea typeface="Helvetica Neue"/>
                <a:cs typeface="Helvetica Neue"/>
              </a:rPr>
              <a:t>Discontinued. Not True-RMS.</a:t>
            </a:r>
          </a:p>
        </p:txBody>
      </p:sp>
      <p:sp>
        <p:nvSpPr>
          <p:cNvPr id="8" name="">
            <a:extLst xmlns:a="http://schemas.openxmlformats.org/drawingml/2006/main">
              <a:ext uri="{FF2B5EF4-FFF2-40B4-BE49-F238E27FC236}">
                <a16:creationId xmlns:a16="http://schemas.microsoft.com/office/drawing/2014/main" id="{4DB7C5B9-73F6-43F7-A555-881218233A32}"/>
              </a:ext>
            </a:extLst>
          </p:cNvPr>
          <p:cNvSpPr>
            <a:spLocks xmlns:a="http://schemas.openxmlformats.org/drawingml/2006/main" noGrp="1"/>
          </p:cNvSpPr>
          <p:nvPr/>
        </p:nvSpPr>
        <p:spPr>
          <a:xfrm xmlns:a="http://schemas.openxmlformats.org/drawingml/2006/main">
            <a:off x="609600" y="550545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BABDB0"/>
                </a:solidFill>
                <a:latin typeface="Helvetica Neue"/>
                <a:ea typeface="Helvetica Neue"/>
                <a:cs typeface="Helvetica Neue"/>
              </a:defRPr>
            </a:defPPr>
            <a:lvl1pPr>
              <a:defRPr sz="1575" b="0">
                <a:solidFill>
                  <a:srgbClr val="BABDB0"/>
                </a:solidFill>
                <a:latin typeface="Helvetica Neue"/>
                <a:ea typeface="Helvetica Neue"/>
                <a:cs typeface="Helvetica Neue"/>
              </a:defRPr>
            </a:lvl1pPr>
            <a:lvl2pPr>
              <a:defRPr sz="1575" b="0">
                <a:solidFill>
                  <a:srgbClr val="BABDB0"/>
                </a:solidFill>
                <a:latin typeface="Helvetica Neue"/>
                <a:ea typeface="Helvetica Neue"/>
                <a:cs typeface="Helvetica Neue"/>
              </a:defRPr>
            </a:lvl2pPr>
            <a:lvl3pPr>
              <a:defRPr sz="1575" b="0">
                <a:solidFill>
                  <a:srgbClr val="BABDB0"/>
                </a:solidFill>
                <a:latin typeface="Helvetica Neue"/>
                <a:ea typeface="Helvetica Neue"/>
                <a:cs typeface="Helvetica Neue"/>
              </a:defRPr>
            </a:lvl3pPr>
            <a:lvl4pPr>
              <a:defRPr sz="1575" b="0">
                <a:solidFill>
                  <a:srgbClr val="BABDB0"/>
                </a:solidFill>
                <a:latin typeface="Helvetica Neue"/>
                <a:ea typeface="Helvetica Neue"/>
                <a:cs typeface="Helvetica Neue"/>
              </a:defRPr>
            </a:lvl4pPr>
            <a:lvl5pPr>
              <a:defRPr sz="1575" b="0">
                <a:solidFill>
                  <a:srgbClr val="BABDB0"/>
                </a:solidFill>
                <a:latin typeface="Helvetica Neue"/>
                <a:ea typeface="Helvetica Neue"/>
                <a:cs typeface="Helvetica Neue"/>
              </a:defRPr>
            </a:lvl5pPr>
            <a:lvl6pPr>
              <a:defRPr sz="1575" b="0">
                <a:solidFill>
                  <a:srgbClr val="BABDB0"/>
                </a:solidFill>
                <a:latin typeface="Helvetica Neue"/>
                <a:ea typeface="Helvetica Neue"/>
                <a:cs typeface="Helvetica Neue"/>
              </a:defRPr>
            </a:lvl6pPr>
            <a:lvl7pPr>
              <a:defRPr sz="1575" b="0">
                <a:solidFill>
                  <a:srgbClr val="BABDB0"/>
                </a:solidFill>
                <a:latin typeface="Helvetica Neue"/>
                <a:ea typeface="Helvetica Neue"/>
                <a:cs typeface="Helvetica Neue"/>
              </a:defRPr>
            </a:lvl7pPr>
            <a:lvl8pPr>
              <a:defRPr sz="1575" b="0">
                <a:solidFill>
                  <a:srgbClr val="BABDB0"/>
                </a:solidFill>
                <a:latin typeface="Helvetica Neue"/>
                <a:ea typeface="Helvetica Neue"/>
                <a:cs typeface="Helvetica Neue"/>
              </a:defRPr>
            </a:lvl8pPr>
            <a:lvl9pPr>
              <a:defRPr sz="1575" b="0">
                <a:solidFill>
                  <a:srgbClr val="BABDB0"/>
                </a:solidFill>
                <a:latin typeface="Helvetica Neue"/>
                <a:ea typeface="Helvetica Neue"/>
                <a:cs typeface="Helvetica Neue"/>
              </a:defRPr>
            </a:lvl9pPr>
          </a:lstStyle>
          <a:p xmlns:a="http://schemas.openxmlformats.org/drawingml/2006/main">
            <a:pPr>
              <a:defRPr sz="1575" b="0">
                <a:solidFill>
                  <a:srgbClr val="BABDB0"/>
                </a:solidFill>
                <a:latin typeface="Helvetica Neue"/>
                <a:ea typeface="Helvetica Neue"/>
                <a:cs typeface="Helvetica Neue"/>
              </a:defRPr>
            </a:pPr>
            <a:r>
              <a:rPr sz="1575" b="0">
                <a:solidFill>
                  <a:srgbClr val="BABDB0"/>
                </a:solidFill>
                <a:latin typeface="Helvetica Neue"/>
                <a:ea typeface="Helvetica Neue"/>
                <a:cs typeface="Helvetica Neue"/>
              </a:rPr>
              <a:t>Neither listing specifies direct W or Wh measurement.</a:t>
            </a:r>
          </a:p>
        </p:txBody>
      </p:sp>
      <p:sp>
        <p:nvSpPr>
          <p:cNvPr id="9" name="">
            <a:extLst xmlns:a="http://schemas.openxmlformats.org/drawingml/2006/main">
              <a:ext uri="{FF2B5EF4-FFF2-40B4-BE49-F238E27FC236}">
                <a16:creationId xmlns:a16="http://schemas.microsoft.com/office/drawing/2014/main" id="{BE958877-30B0-42ED-A8EF-401F6B3FAF74}"/>
              </a:ext>
            </a:extLst>
          </p:cNvPr>
          <p:cNvSpPr>
            <a:spLocks xmlns:a="http://schemas.openxmlformats.org/drawingml/2006/main" noGrp="1"/>
          </p:cNvSpPr>
          <p:nvPr/>
        </p:nvSpPr>
        <p:spPr>
          <a:xfrm xmlns:a="http://schemas.openxmlformats.org/drawingml/2006/main">
            <a:off x="609600" y="59721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BABDB0"/>
                </a:solidFill>
                <a:latin typeface="Helvetica Neue"/>
                <a:ea typeface="Helvetica Neue"/>
                <a:cs typeface="Helvetica Neue"/>
              </a:defRPr>
            </a:defPPr>
            <a:lvl1pPr>
              <a:defRPr sz="1200" b="0">
                <a:solidFill>
                  <a:srgbClr val="BABDB0"/>
                </a:solidFill>
                <a:latin typeface="Helvetica Neue"/>
                <a:ea typeface="Helvetica Neue"/>
                <a:cs typeface="Helvetica Neue"/>
              </a:defRPr>
            </a:lvl1pPr>
            <a:lvl2pPr>
              <a:defRPr sz="1200" b="0">
                <a:solidFill>
                  <a:srgbClr val="BABDB0"/>
                </a:solidFill>
                <a:latin typeface="Helvetica Neue"/>
                <a:ea typeface="Helvetica Neue"/>
                <a:cs typeface="Helvetica Neue"/>
              </a:defRPr>
            </a:lvl2pPr>
            <a:lvl3pPr>
              <a:defRPr sz="1200" b="0">
                <a:solidFill>
                  <a:srgbClr val="BABDB0"/>
                </a:solidFill>
                <a:latin typeface="Helvetica Neue"/>
                <a:ea typeface="Helvetica Neue"/>
                <a:cs typeface="Helvetica Neue"/>
              </a:defRPr>
            </a:lvl3pPr>
            <a:lvl4pPr>
              <a:defRPr sz="1200" b="0">
                <a:solidFill>
                  <a:srgbClr val="BABDB0"/>
                </a:solidFill>
                <a:latin typeface="Helvetica Neue"/>
                <a:ea typeface="Helvetica Neue"/>
                <a:cs typeface="Helvetica Neue"/>
              </a:defRPr>
            </a:lvl4pPr>
            <a:lvl5pPr>
              <a:defRPr sz="1200" b="0">
                <a:solidFill>
                  <a:srgbClr val="BABDB0"/>
                </a:solidFill>
                <a:latin typeface="Helvetica Neue"/>
                <a:ea typeface="Helvetica Neue"/>
                <a:cs typeface="Helvetica Neue"/>
              </a:defRPr>
            </a:lvl5pPr>
            <a:lvl6pPr>
              <a:defRPr sz="1200" b="0">
                <a:solidFill>
                  <a:srgbClr val="BABDB0"/>
                </a:solidFill>
                <a:latin typeface="Helvetica Neue"/>
                <a:ea typeface="Helvetica Neue"/>
                <a:cs typeface="Helvetica Neue"/>
              </a:defRPr>
            </a:lvl6pPr>
            <a:lvl7pPr>
              <a:defRPr sz="1200" b="0">
                <a:solidFill>
                  <a:srgbClr val="BABDB0"/>
                </a:solidFill>
                <a:latin typeface="Helvetica Neue"/>
                <a:ea typeface="Helvetica Neue"/>
                <a:cs typeface="Helvetica Neue"/>
              </a:defRPr>
            </a:lvl7pPr>
            <a:lvl8pPr>
              <a:defRPr sz="1200" b="0">
                <a:solidFill>
                  <a:srgbClr val="BABDB0"/>
                </a:solidFill>
                <a:latin typeface="Helvetica Neue"/>
                <a:ea typeface="Helvetica Neue"/>
                <a:cs typeface="Helvetica Neue"/>
              </a:defRPr>
            </a:lvl8pPr>
            <a:lvl9pPr>
              <a:defRPr sz="1200" b="0">
                <a:solidFill>
                  <a:srgbClr val="BABDB0"/>
                </a:solidFill>
                <a:latin typeface="Helvetica Neue"/>
                <a:ea typeface="Helvetica Neue"/>
                <a:cs typeface="Helvetica Neue"/>
              </a:defRPr>
            </a:lvl9pPr>
          </a:lstStyle>
          <a:p xmlns:a="http://schemas.openxmlformats.org/drawingml/2006/main">
            <a:pPr>
              <a:defRPr sz="1200" b="0">
                <a:solidFill>
                  <a:srgbClr val="BABDB0"/>
                </a:solidFill>
                <a:latin typeface="Helvetica Neue"/>
                <a:ea typeface="Helvetica Neue"/>
                <a:cs typeface="Helvetica Neue"/>
              </a:defRPr>
            </a:pPr>
            <a:r>
              <a:rPr sz="1200" b="0">
                <a:solidFill>
                  <a:srgbClr val="BABDB0"/>
                </a:solidFill>
                <a:latin typeface="Helvetica Neue"/>
                <a:ea typeface="Helvetica Neue"/>
                <a:cs typeface="Helvetica Neue"/>
              </a:rPr>
              <a:t>Illustrative AI product concept</a:t>
            </a:r>
          </a:p>
        </p:txBody>
      </p:sp>
    </p:spTree>
    <p:extLst>
      <p:ext uri="{BB962C8B-B14F-4D97-AF65-F5344CB8AC3E}">
        <p14:creationId xmlns:p14="http://schemas.microsoft.com/office/powerpoint/2010/main" val="1844960244"/>
      </p:ext>
    </p:extLst>
  </p:cSld>
</p:sld>
</file>

<file path=ppt/slides/slide15.xml><?xml version="1.0" encoding="utf-8"?>
<p:sld xmlns:p="http://schemas.openxmlformats.org/presentationml/2006/main">
  <p:cSld>
    <p:bg>
      <p:bgPr>
        <a:solidFill xmlns:a="http://schemas.openxmlformats.org/drawingml/2006/main">
          <a:srgbClr val="EEEEE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26B79FC-B666-43B5-A9B2-F5A465ACCB72}"/>
              </a:ext>
            </a:extLst>
          </p:cNvPr>
          <p:cNvSpPr>
            <a:spLocks xmlns:a="http://schemas.openxmlformats.org/drawingml/2006/main" noGrp="1"/>
          </p:cNvSpPr>
          <p:nvPr/>
        </p:nvSpPr>
        <p:spPr>
          <a:xfrm xmlns:a="http://schemas.openxmlformats.org/drawingml/2006/main">
            <a:off x="609600" y="3429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575E43"/>
                </a:solidFill>
                <a:latin typeface="Helvetica Neue"/>
                <a:ea typeface="Helvetica Neue"/>
                <a:cs typeface="Helvetica Neue"/>
              </a:defRPr>
            </a:defPPr>
            <a:lvl1pPr>
              <a:defRPr sz="1125" b="1">
                <a:solidFill>
                  <a:srgbClr val="575E43"/>
                </a:solidFill>
                <a:latin typeface="Helvetica Neue"/>
                <a:ea typeface="Helvetica Neue"/>
                <a:cs typeface="Helvetica Neue"/>
              </a:defRPr>
            </a:lvl1pPr>
            <a:lvl2pPr>
              <a:defRPr sz="1125" b="1">
                <a:solidFill>
                  <a:srgbClr val="575E43"/>
                </a:solidFill>
                <a:latin typeface="Helvetica Neue"/>
                <a:ea typeface="Helvetica Neue"/>
                <a:cs typeface="Helvetica Neue"/>
              </a:defRPr>
            </a:lvl2pPr>
            <a:lvl3pPr>
              <a:defRPr sz="1125" b="1">
                <a:solidFill>
                  <a:srgbClr val="575E43"/>
                </a:solidFill>
                <a:latin typeface="Helvetica Neue"/>
                <a:ea typeface="Helvetica Neue"/>
                <a:cs typeface="Helvetica Neue"/>
              </a:defRPr>
            </a:lvl3pPr>
            <a:lvl4pPr>
              <a:defRPr sz="1125" b="1">
                <a:solidFill>
                  <a:srgbClr val="575E43"/>
                </a:solidFill>
                <a:latin typeface="Helvetica Neue"/>
                <a:ea typeface="Helvetica Neue"/>
                <a:cs typeface="Helvetica Neue"/>
              </a:defRPr>
            </a:lvl4pPr>
            <a:lvl5pPr>
              <a:defRPr sz="1125" b="1">
                <a:solidFill>
                  <a:srgbClr val="575E43"/>
                </a:solidFill>
                <a:latin typeface="Helvetica Neue"/>
                <a:ea typeface="Helvetica Neue"/>
                <a:cs typeface="Helvetica Neue"/>
              </a:defRPr>
            </a:lvl5pPr>
            <a:lvl6pPr>
              <a:defRPr sz="1125" b="1">
                <a:solidFill>
                  <a:srgbClr val="575E43"/>
                </a:solidFill>
                <a:latin typeface="Helvetica Neue"/>
                <a:ea typeface="Helvetica Neue"/>
                <a:cs typeface="Helvetica Neue"/>
              </a:defRPr>
            </a:lvl6pPr>
            <a:lvl7pPr>
              <a:defRPr sz="1125" b="1">
                <a:solidFill>
                  <a:srgbClr val="575E43"/>
                </a:solidFill>
                <a:latin typeface="Helvetica Neue"/>
                <a:ea typeface="Helvetica Neue"/>
                <a:cs typeface="Helvetica Neue"/>
              </a:defRPr>
            </a:lvl7pPr>
            <a:lvl8pPr>
              <a:defRPr sz="1125" b="1">
                <a:solidFill>
                  <a:srgbClr val="575E43"/>
                </a:solidFill>
                <a:latin typeface="Helvetica Neue"/>
                <a:ea typeface="Helvetica Neue"/>
                <a:cs typeface="Helvetica Neue"/>
              </a:defRPr>
            </a:lvl8pPr>
            <a:lvl9pPr>
              <a:defRPr sz="1125" b="1">
                <a:solidFill>
                  <a:srgbClr val="575E43"/>
                </a:solidFill>
                <a:latin typeface="Helvetica Neue"/>
                <a:ea typeface="Helvetica Neue"/>
                <a:cs typeface="Helvetica Neue"/>
              </a:defRPr>
            </a:lvl9pPr>
          </a:lstStyle>
          <a:p xmlns:a="http://schemas.openxmlformats.org/drawingml/2006/main">
            <a:pPr>
              <a:defRPr sz="1125" b="1">
                <a:solidFill>
                  <a:srgbClr val="575E43"/>
                </a:solidFill>
                <a:latin typeface="Helvetica Neue"/>
                <a:ea typeface="Helvetica Neue"/>
                <a:cs typeface="Helvetica Neue"/>
              </a:defRPr>
            </a:pPr>
            <a:r>
              <a:rPr sz="1125" b="1">
                <a:solidFill>
                  <a:srgbClr val="575E43"/>
                </a:solidFill>
                <a:latin typeface="Helvetica Neue"/>
                <a:ea typeface="Helvetica Neue"/>
                <a:cs typeface="Helvetica Neue"/>
              </a:rPr>
              <a:t>APPENDIX / HYPOTHETICAL SENSITIVITY / NOT RESULTS</a:t>
            </a:r>
          </a:p>
        </p:txBody>
      </p:sp>
      <p:sp>
        <p:nvSpPr>
          <p:cNvPr id="2" name="">
            <a:extLst xmlns:a="http://schemas.openxmlformats.org/drawingml/2006/main">
              <a:ext uri="{FF2B5EF4-FFF2-40B4-BE49-F238E27FC236}">
                <a16:creationId xmlns:a16="http://schemas.microsoft.com/office/drawing/2014/main" id="{55EF5102-8D02-4C25-A61E-D8E4F27BAFDD}"/>
              </a:ext>
            </a:extLst>
          </p:cNvPr>
          <p:cNvSpPr>
            <a:spLocks xmlns:a="http://schemas.openxmlformats.org/drawingml/2006/main" noGrp="1"/>
          </p:cNvSpPr>
          <p:nvPr/>
        </p:nvSpPr>
        <p:spPr>
          <a:xfrm xmlns:a="http://schemas.openxmlformats.org/drawingml/2006/main">
            <a:off x="609600" y="914400"/>
            <a:ext cx="109728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171A12"/>
                </a:solidFill>
                <a:latin typeface="Helvetica Neue"/>
                <a:ea typeface="Helvetica Neue"/>
                <a:cs typeface="Helvetica Neue"/>
              </a:defRPr>
            </a:defPPr>
            <a:lvl1pPr>
              <a:defRPr sz="3900" b="0">
                <a:solidFill>
                  <a:srgbClr val="171A12"/>
                </a:solidFill>
                <a:latin typeface="Helvetica Neue"/>
                <a:ea typeface="Helvetica Neue"/>
                <a:cs typeface="Helvetica Neue"/>
              </a:defRPr>
            </a:lvl1pPr>
            <a:lvl2pPr>
              <a:defRPr sz="3900" b="0">
                <a:solidFill>
                  <a:srgbClr val="171A12"/>
                </a:solidFill>
                <a:latin typeface="Helvetica Neue"/>
                <a:ea typeface="Helvetica Neue"/>
                <a:cs typeface="Helvetica Neue"/>
              </a:defRPr>
            </a:lvl2pPr>
            <a:lvl3pPr>
              <a:defRPr sz="3900" b="0">
                <a:solidFill>
                  <a:srgbClr val="171A12"/>
                </a:solidFill>
                <a:latin typeface="Helvetica Neue"/>
                <a:ea typeface="Helvetica Neue"/>
                <a:cs typeface="Helvetica Neue"/>
              </a:defRPr>
            </a:lvl3pPr>
            <a:lvl4pPr>
              <a:defRPr sz="3900" b="0">
                <a:solidFill>
                  <a:srgbClr val="171A12"/>
                </a:solidFill>
                <a:latin typeface="Helvetica Neue"/>
                <a:ea typeface="Helvetica Neue"/>
                <a:cs typeface="Helvetica Neue"/>
              </a:defRPr>
            </a:lvl4pPr>
            <a:lvl5pPr>
              <a:defRPr sz="3900" b="0">
                <a:solidFill>
                  <a:srgbClr val="171A12"/>
                </a:solidFill>
                <a:latin typeface="Helvetica Neue"/>
                <a:ea typeface="Helvetica Neue"/>
                <a:cs typeface="Helvetica Neue"/>
              </a:defRPr>
            </a:lvl5pPr>
            <a:lvl6pPr>
              <a:defRPr sz="3900" b="0">
                <a:solidFill>
                  <a:srgbClr val="171A12"/>
                </a:solidFill>
                <a:latin typeface="Helvetica Neue"/>
                <a:ea typeface="Helvetica Neue"/>
                <a:cs typeface="Helvetica Neue"/>
              </a:defRPr>
            </a:lvl6pPr>
            <a:lvl7pPr>
              <a:defRPr sz="3900" b="0">
                <a:solidFill>
                  <a:srgbClr val="171A12"/>
                </a:solidFill>
                <a:latin typeface="Helvetica Neue"/>
                <a:ea typeface="Helvetica Neue"/>
                <a:cs typeface="Helvetica Neue"/>
              </a:defRPr>
            </a:lvl7pPr>
            <a:lvl8pPr>
              <a:defRPr sz="3900" b="0">
                <a:solidFill>
                  <a:srgbClr val="171A12"/>
                </a:solidFill>
                <a:latin typeface="Helvetica Neue"/>
                <a:ea typeface="Helvetica Neue"/>
                <a:cs typeface="Helvetica Neue"/>
              </a:defRPr>
            </a:lvl8pPr>
            <a:lvl9pPr>
              <a:defRPr sz="3900" b="0">
                <a:solidFill>
                  <a:srgbClr val="171A12"/>
                </a:solidFill>
                <a:latin typeface="Helvetica Neue"/>
                <a:ea typeface="Helvetica Neue"/>
                <a:cs typeface="Helvetica Neue"/>
              </a:defRPr>
            </a:lvl9pPr>
          </a:lstStyle>
          <a:p xmlns:a="http://schemas.openxmlformats.org/drawingml/2006/main">
            <a:pPr>
              <a:defRPr sz="3900" b="0">
                <a:solidFill>
                  <a:srgbClr val="171A12"/>
                </a:solidFill>
                <a:latin typeface="Helvetica Neue"/>
                <a:ea typeface="Helvetica Neue"/>
                <a:cs typeface="Helvetica Neue"/>
              </a:defRPr>
            </a:pPr>
            <a:r>
              <a:rPr sz="3900" b="0">
                <a:solidFill>
                  <a:srgbClr val="171A12"/>
                </a:solidFill>
                <a:latin typeface="Helvetica Neue"/>
                <a:ea typeface="Helvetica Neue"/>
                <a:cs typeface="Helvetica Neue"/>
              </a:rPr>
              <a:t>Electricity savings scale with measured load</a:t>
            </a:r>
          </a:p>
        </p:txBody>
      </p:sp>
      <p:sp>
        <p:nvSpPr>
          <p:cNvPr id="3" name="">
            <a:extLst xmlns:a="http://schemas.openxmlformats.org/drawingml/2006/main">
              <a:ext uri="{FF2B5EF4-FFF2-40B4-BE49-F238E27FC236}">
                <a16:creationId xmlns:a16="http://schemas.microsoft.com/office/drawing/2014/main" id="{54222804-04CD-4AA4-AD8B-B7FB55923858}"/>
              </a:ext>
            </a:extLst>
          </p:cNvPr>
          <p:cNvSpPr>
            <a:spLocks xmlns:a="http://schemas.openxmlformats.org/drawingml/2006/main" noGrp="1"/>
          </p:cNvSpPr>
          <p:nvPr/>
        </p:nvSpPr>
        <p:spPr>
          <a:xfrm xmlns:a="http://schemas.openxmlformats.org/drawingml/2006/main">
            <a:off x="609600" y="644842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575E43"/>
                </a:solidFill>
                <a:latin typeface="Helvetica Neue"/>
                <a:ea typeface="Helvetica Neue"/>
                <a:cs typeface="Helvetica Neue"/>
              </a:defRPr>
            </a:defPPr>
            <a:lvl1pPr>
              <a:defRPr sz="900" b="0">
                <a:solidFill>
                  <a:srgbClr val="575E43"/>
                </a:solidFill>
                <a:latin typeface="Helvetica Neue"/>
                <a:ea typeface="Helvetica Neue"/>
                <a:cs typeface="Helvetica Neue"/>
              </a:defRPr>
            </a:lvl1pPr>
            <a:lvl2pPr>
              <a:defRPr sz="900" b="0">
                <a:solidFill>
                  <a:srgbClr val="575E43"/>
                </a:solidFill>
                <a:latin typeface="Helvetica Neue"/>
                <a:ea typeface="Helvetica Neue"/>
                <a:cs typeface="Helvetica Neue"/>
              </a:defRPr>
            </a:lvl2pPr>
            <a:lvl3pPr>
              <a:defRPr sz="900" b="0">
                <a:solidFill>
                  <a:srgbClr val="575E43"/>
                </a:solidFill>
                <a:latin typeface="Helvetica Neue"/>
                <a:ea typeface="Helvetica Neue"/>
                <a:cs typeface="Helvetica Neue"/>
              </a:defRPr>
            </a:lvl3pPr>
            <a:lvl4pPr>
              <a:defRPr sz="900" b="0">
                <a:solidFill>
                  <a:srgbClr val="575E43"/>
                </a:solidFill>
                <a:latin typeface="Helvetica Neue"/>
                <a:ea typeface="Helvetica Neue"/>
                <a:cs typeface="Helvetica Neue"/>
              </a:defRPr>
            </a:lvl4pPr>
            <a:lvl5pPr>
              <a:defRPr sz="900" b="0">
                <a:solidFill>
                  <a:srgbClr val="575E43"/>
                </a:solidFill>
                <a:latin typeface="Helvetica Neue"/>
                <a:ea typeface="Helvetica Neue"/>
                <a:cs typeface="Helvetica Neue"/>
              </a:defRPr>
            </a:lvl5pPr>
            <a:lvl6pPr>
              <a:defRPr sz="900" b="0">
                <a:solidFill>
                  <a:srgbClr val="575E43"/>
                </a:solidFill>
                <a:latin typeface="Helvetica Neue"/>
                <a:ea typeface="Helvetica Neue"/>
                <a:cs typeface="Helvetica Neue"/>
              </a:defRPr>
            </a:lvl6pPr>
            <a:lvl7pPr>
              <a:defRPr sz="900" b="0">
                <a:solidFill>
                  <a:srgbClr val="575E43"/>
                </a:solidFill>
                <a:latin typeface="Helvetica Neue"/>
                <a:ea typeface="Helvetica Neue"/>
                <a:cs typeface="Helvetica Neue"/>
              </a:defRPr>
            </a:lvl7pPr>
            <a:lvl8pPr>
              <a:defRPr sz="900" b="0">
                <a:solidFill>
                  <a:srgbClr val="575E43"/>
                </a:solidFill>
                <a:latin typeface="Helvetica Neue"/>
                <a:ea typeface="Helvetica Neue"/>
                <a:cs typeface="Helvetica Neue"/>
              </a:defRPr>
            </a:lvl8pPr>
            <a:lvl9pPr>
              <a:defRPr sz="900" b="0">
                <a:solidFill>
                  <a:srgbClr val="575E43"/>
                </a:solidFill>
                <a:latin typeface="Helvetica Neue"/>
                <a:ea typeface="Helvetica Neue"/>
                <a:cs typeface="Helvetica Neue"/>
              </a:defRPr>
            </a:lvl9pPr>
          </a:lstStyle>
          <a:p xmlns:a="http://schemas.openxmlformats.org/drawingml/2006/main">
            <a:pPr>
              <a:defRPr sz="900" b="0">
                <a:solidFill>
                  <a:srgbClr val="575E43"/>
                </a:solidFill>
                <a:latin typeface="Helvetica Neue"/>
                <a:ea typeface="Helvetica Neue"/>
                <a:cs typeface="Helvetica Neue"/>
              </a:defRPr>
            </a:pPr>
            <a:r>
              <a:rPr sz="900" b="0">
                <a:solidFill>
                  <a:srgbClr val="575E43"/>
                </a:solidFill>
                <a:latin typeface="Helvetica Neue"/>
                <a:ea typeface="Helvetica Neue"/>
                <a:cs typeface="Helvetica Neue"/>
              </a:rPr>
              <a:t>E FOR ENERGY</a:t>
            </a:r>
          </a:p>
        </p:txBody>
      </p:sp>
      <p:sp>
        <p:nvSpPr>
          <p:cNvPr id="4" name="">
            <a:extLst xmlns:a="http://schemas.openxmlformats.org/drawingml/2006/main">
              <a:ext uri="{FF2B5EF4-FFF2-40B4-BE49-F238E27FC236}">
                <a16:creationId xmlns:a16="http://schemas.microsoft.com/office/drawing/2014/main" id="{7C0B0078-BBC1-43E2-9F89-B5698D667D1B}"/>
              </a:ext>
            </a:extLst>
          </p:cNvPr>
          <p:cNvSpPr>
            <a:spLocks xmlns:a="http://schemas.openxmlformats.org/drawingml/2006/main" noGrp="1"/>
          </p:cNvSpPr>
          <p:nvPr/>
        </p:nvSpPr>
        <p:spPr>
          <a:xfrm xmlns:a="http://schemas.openxmlformats.org/drawingml/2006/main">
            <a:off x="11049000" y="64198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5E43"/>
                </a:solidFill>
                <a:latin typeface="Helvetica Neue"/>
                <a:ea typeface="Helvetica Neue"/>
                <a:cs typeface="Helvetica Neue"/>
              </a:defRPr>
            </a:defPPr>
            <a:lvl1pPr>
              <a:defRPr sz="1200" b="0">
                <a:solidFill>
                  <a:srgbClr val="575E43"/>
                </a:solidFill>
                <a:latin typeface="Helvetica Neue"/>
                <a:ea typeface="Helvetica Neue"/>
                <a:cs typeface="Helvetica Neue"/>
              </a:defRPr>
            </a:lvl1pPr>
            <a:lvl2pPr>
              <a:defRPr sz="1200" b="0">
                <a:solidFill>
                  <a:srgbClr val="575E43"/>
                </a:solidFill>
                <a:latin typeface="Helvetica Neue"/>
                <a:ea typeface="Helvetica Neue"/>
                <a:cs typeface="Helvetica Neue"/>
              </a:defRPr>
            </a:lvl2pPr>
            <a:lvl3pPr>
              <a:defRPr sz="1200" b="0">
                <a:solidFill>
                  <a:srgbClr val="575E43"/>
                </a:solidFill>
                <a:latin typeface="Helvetica Neue"/>
                <a:ea typeface="Helvetica Neue"/>
                <a:cs typeface="Helvetica Neue"/>
              </a:defRPr>
            </a:lvl3pPr>
            <a:lvl4pPr>
              <a:defRPr sz="1200" b="0">
                <a:solidFill>
                  <a:srgbClr val="575E43"/>
                </a:solidFill>
                <a:latin typeface="Helvetica Neue"/>
                <a:ea typeface="Helvetica Neue"/>
                <a:cs typeface="Helvetica Neue"/>
              </a:defRPr>
            </a:lvl4pPr>
            <a:lvl5pPr>
              <a:defRPr sz="1200" b="0">
                <a:solidFill>
                  <a:srgbClr val="575E43"/>
                </a:solidFill>
                <a:latin typeface="Helvetica Neue"/>
                <a:ea typeface="Helvetica Neue"/>
                <a:cs typeface="Helvetica Neue"/>
              </a:defRPr>
            </a:lvl5pPr>
            <a:lvl6pPr>
              <a:defRPr sz="1200" b="0">
                <a:solidFill>
                  <a:srgbClr val="575E43"/>
                </a:solidFill>
                <a:latin typeface="Helvetica Neue"/>
                <a:ea typeface="Helvetica Neue"/>
                <a:cs typeface="Helvetica Neue"/>
              </a:defRPr>
            </a:lvl6pPr>
            <a:lvl7pPr>
              <a:defRPr sz="1200" b="0">
                <a:solidFill>
                  <a:srgbClr val="575E43"/>
                </a:solidFill>
                <a:latin typeface="Helvetica Neue"/>
                <a:ea typeface="Helvetica Neue"/>
                <a:cs typeface="Helvetica Neue"/>
              </a:defRPr>
            </a:lvl7pPr>
            <a:lvl8pPr>
              <a:defRPr sz="1200" b="0">
                <a:solidFill>
                  <a:srgbClr val="575E43"/>
                </a:solidFill>
                <a:latin typeface="Helvetica Neue"/>
                <a:ea typeface="Helvetica Neue"/>
                <a:cs typeface="Helvetica Neue"/>
              </a:defRPr>
            </a:lvl8pPr>
            <a:lvl9pPr>
              <a:defRPr sz="1200" b="0">
                <a:solidFill>
                  <a:srgbClr val="575E43"/>
                </a:solidFill>
                <a:latin typeface="Helvetica Neue"/>
                <a:ea typeface="Helvetica Neue"/>
                <a:cs typeface="Helvetica Neue"/>
              </a:defRPr>
            </a:lvl9pPr>
          </a:lstStyle>
          <a:p xmlns:a="http://schemas.openxmlformats.org/drawingml/2006/main">
            <a:pPr>
              <a:defRPr sz="1200" b="0">
                <a:solidFill>
                  <a:srgbClr val="575E43"/>
                </a:solidFill>
                <a:latin typeface="Helvetica Neue"/>
                <a:ea typeface="Helvetica Neue"/>
                <a:cs typeface="Helvetica Neue"/>
              </a:defRPr>
            </a:pPr>
            <a:r>
              <a:rPr sz="1200" b="0">
                <a:solidFill>
                  <a:srgbClr val="575E43"/>
                </a:solidFill>
                <a:latin typeface="Helvetica Neue"/>
                <a:ea typeface="Helvetica Neue"/>
                <a:cs typeface="Helvetica Neue"/>
              </a:rPr>
              <a:t>15</a:t>
            </a:r>
          </a:p>
        </p:txBody>
      </p:sp>
      <p:graphicFrame>
        <p:nvGraphicFramePr>
          <p:cNvPr id="5" name="">
            <a:extLst xmlns:a="http://schemas.openxmlformats.org/drawingml/2006/main">
              <a:ext uri="{FF2B5EF4-FFF2-40B4-BE49-F238E27FC236}">
                <a16:creationId xmlns:a16="http://schemas.microsoft.com/office/drawing/2014/main" id="{5A3F6461-8BA2-4EFD-A8AC-1B18A94520A2}"/>
              </a:ext>
            </a:extLst>
          </p:cNvPr>
          <p:cNvGraphicFramePr/>
          <p:nvPr/>
        </p:nvGraphicFramePr>
        <p:xfrm>
          <a:off xmlns:a="http://schemas.openxmlformats.org/drawingml/2006/main" x="609600" y="2476500"/>
          <a:ext xmlns:a="http://schemas.openxmlformats.org/drawingml/2006/main" cx="10972800" cy="3000375"/>
        </p:xfrm>
        <a:graphic xmlns:a="http://schemas.openxmlformats.org/drawingml/2006/main">
          <a:graphicData uri="http://schemas.openxmlformats.org/drawingml/2006/table">
            <a:tbl>
              <a:tblPr/>
              <a:tblGrid>
                <a:gridCol w="4381500"/>
                <a:gridCol w="3295650"/>
                <a:gridCol w="3295650"/>
              </a:tblGrid>
              <a:tr h="500063">
                <a:tc>
                  <a:txBody>
                    <a:bodyPr/>
                    <a:lstStyle/>
                    <a:p>
                      <a:r>
                        <a:rPr sz="1500" b="1">
                          <a:solidFill>
                            <a:srgbClr val="F4F3EB"/>
                          </a:solidFill>
                          <a:latin typeface="Helvetica Neue"/>
                          <a:ea typeface="Helvetica Neue"/>
                          <a:cs typeface="Helvetica Neue"/>
                        </a:rPr>
                        <a:t>Illustrative annual result</a:t>
                      </a:r>
                    </a:p>
                  </a:txBody>
                  <a:tcPr marL="91440" marR="91440" marT="45720" marB="45720">
                    <a:lnL w="4763">
                      <a:solidFill>
                        <a:srgbClr val="C5C8B9"/>
                      </a:solidFill>
                      <a:prstDash val="solid"/>
                    </a:lnL>
                    <a:lnR w="4763">
                      <a:solidFill>
                        <a:srgbClr val="C5C8B9"/>
                      </a:solidFill>
                      <a:prstDash val="solid"/>
                    </a:lnR>
                    <a:lnT w="4763">
                      <a:solidFill>
                        <a:srgbClr val="C5C8B9"/>
                      </a:solidFill>
                      <a:prstDash val="solid"/>
                    </a:lnT>
                    <a:lnB w="4763">
                      <a:solidFill>
                        <a:srgbClr val="C5C8B9"/>
                      </a:solidFill>
                      <a:prstDash val="solid"/>
                    </a:lnB>
                    <a:solidFill>
                      <a:srgbClr val="24271D"/>
                    </a:solidFill>
                  </a:tcPr>
                </a:tc>
                <a:tc>
                  <a:txBody>
                    <a:bodyPr/>
                    <a:lstStyle/>
                    <a:p>
                      <a:r>
                        <a:rPr sz="1500" b="1">
                          <a:solidFill>
                            <a:srgbClr val="F4F3EB"/>
                          </a:solidFill>
                          <a:latin typeface="Helvetica Neue"/>
                          <a:ea typeface="Helvetica Neue"/>
                          <a:cs typeface="Helvetica Neue"/>
                        </a:rPr>
                        <a:t>100 kW baseline</a:t>
                      </a:r>
                    </a:p>
                  </a:txBody>
                  <a:tcPr marL="91440" marR="91440" marT="45720" marB="45720">
                    <a:lnR w="4763">
                      <a:solidFill>
                        <a:srgbClr val="C5C8B9"/>
                      </a:solidFill>
                      <a:prstDash val="solid"/>
                    </a:lnR>
                    <a:lnT w="4763">
                      <a:solidFill>
                        <a:srgbClr val="C5C8B9"/>
                      </a:solidFill>
                      <a:prstDash val="solid"/>
                    </a:lnT>
                    <a:lnB w="4763">
                      <a:solidFill>
                        <a:srgbClr val="C5C8B9"/>
                      </a:solidFill>
                      <a:prstDash val="solid"/>
                    </a:lnB>
                    <a:solidFill>
                      <a:srgbClr val="24271D"/>
                    </a:solidFill>
                  </a:tcPr>
                </a:tc>
                <a:tc>
                  <a:txBody>
                    <a:bodyPr/>
                    <a:lstStyle/>
                    <a:p>
                      <a:r>
                        <a:rPr sz="1500" b="1">
                          <a:solidFill>
                            <a:srgbClr val="F4F3EB"/>
                          </a:solidFill>
                          <a:latin typeface="Helvetica Neue"/>
                          <a:ea typeface="Helvetica Neue"/>
                          <a:cs typeface="Helvetica Neue"/>
                        </a:rPr>
                        <a:t>1 MW baseline</a:t>
                      </a:r>
                    </a:p>
                  </a:txBody>
                  <a:tcPr marL="91440" marR="91440" marT="45720" marB="45720">
                    <a:lnR w="4763">
                      <a:solidFill>
                        <a:srgbClr val="C5C8B9"/>
                      </a:solidFill>
                      <a:prstDash val="solid"/>
                    </a:lnR>
                    <a:lnT w="4763">
                      <a:solidFill>
                        <a:srgbClr val="C5C8B9"/>
                      </a:solidFill>
                      <a:prstDash val="solid"/>
                    </a:lnT>
                    <a:lnB w="4763">
                      <a:solidFill>
                        <a:srgbClr val="C5C8B9"/>
                      </a:solidFill>
                      <a:prstDash val="solid"/>
                    </a:lnB>
                    <a:solidFill>
                      <a:srgbClr val="24271D"/>
                    </a:solidFill>
                  </a:tcPr>
                </a:tc>
              </a:tr>
              <a:tr h="500063">
                <a:tc>
                  <a:txBody>
                    <a:bodyPr/>
                    <a:lstStyle/>
                    <a:p>
                      <a:r>
                        <a:rPr sz="1650" b="0">
                          <a:solidFill>
                            <a:srgbClr val="171A12"/>
                          </a:solidFill>
                          <a:latin typeface="Helvetica Neue"/>
                          <a:ea typeface="Helvetica Neue"/>
                          <a:cs typeface="Helvetica Neue"/>
                        </a:rPr>
                        <a:t>Operation and tariff</a:t>
                      </a:r>
                    </a:p>
                  </a:txBody>
                  <a:tcPr marL="91440" marR="91440" marT="45720" marB="45720">
                    <a:lnL w="4763">
                      <a:solidFill>
                        <a:srgbClr val="C5C8B9"/>
                      </a:solidFill>
                      <a:prstDash val="solid"/>
                    </a:lnL>
                    <a:lnR w="4763">
                      <a:solidFill>
                        <a:srgbClr val="C5C8B9"/>
                      </a:solidFill>
                      <a:prstDash val="solid"/>
                    </a:lnR>
                    <a:lnB w="4763">
                      <a:solidFill>
                        <a:srgbClr val="C5C8B9"/>
                      </a:solidFill>
                      <a:prstDash val="solid"/>
                    </a:lnB>
                    <a:solidFill>
                      <a:srgbClr val="EEEEE4"/>
                    </a:solidFill>
                  </a:tcPr>
                </a:tc>
                <a:tc>
                  <a:txBody>
                    <a:bodyPr/>
                    <a:lstStyle/>
                    <a:p>
                      <a:r>
                        <a:rPr sz="1650" b="0">
                          <a:solidFill>
                            <a:srgbClr val="171A12"/>
                          </a:solidFill>
                          <a:latin typeface="Helvetica Neue"/>
                          <a:ea typeface="Helvetica Neue"/>
                          <a:cs typeface="Helvetica Neue"/>
                        </a:rPr>
                        <a:t>8,000 h at $0.10/kWh</a:t>
                      </a:r>
                    </a:p>
                  </a:txBody>
                  <a:tcPr marL="91440" marR="91440" marT="45720" marB="45720">
                    <a:lnR w="4763">
                      <a:solidFill>
                        <a:srgbClr val="C5C8B9"/>
                      </a:solidFill>
                      <a:prstDash val="solid"/>
                    </a:lnR>
                    <a:lnB w="4763">
                      <a:solidFill>
                        <a:srgbClr val="C5C8B9"/>
                      </a:solidFill>
                      <a:prstDash val="solid"/>
                    </a:lnB>
                    <a:solidFill>
                      <a:srgbClr val="EEEEE4"/>
                    </a:solidFill>
                  </a:tcPr>
                </a:tc>
                <a:tc>
                  <a:txBody>
                    <a:bodyPr/>
                    <a:lstStyle/>
                    <a:p>
                      <a:r>
                        <a:rPr sz="1650" b="0">
                          <a:solidFill>
                            <a:srgbClr val="171A12"/>
                          </a:solidFill>
                          <a:latin typeface="Helvetica Neue"/>
                          <a:ea typeface="Helvetica Neue"/>
                          <a:cs typeface="Helvetica Neue"/>
                        </a:rPr>
                        <a:t>8,000 h at $0.10/kWh</a:t>
                      </a:r>
                    </a:p>
                  </a:txBody>
                  <a:tcPr marL="91440" marR="91440" marT="45720" marB="45720">
                    <a:lnR w="4763">
                      <a:solidFill>
                        <a:srgbClr val="C5C8B9"/>
                      </a:solidFill>
                      <a:prstDash val="solid"/>
                    </a:lnR>
                    <a:lnB w="4763">
                      <a:solidFill>
                        <a:srgbClr val="C5C8B9"/>
                      </a:solidFill>
                      <a:prstDash val="solid"/>
                    </a:lnB>
                    <a:solidFill>
                      <a:srgbClr val="EEEEE4"/>
                    </a:solidFill>
                  </a:tcPr>
                </a:tc>
              </a:tr>
              <a:tr h="500063">
                <a:tc>
                  <a:txBody>
                    <a:bodyPr/>
                    <a:lstStyle/>
                    <a:p>
                      <a:r>
                        <a:rPr sz="1650" b="0">
                          <a:solidFill>
                            <a:srgbClr val="171A12"/>
                          </a:solidFill>
                          <a:latin typeface="Helvetica Neue"/>
                          <a:ea typeface="Helvetica Neue"/>
                          <a:cs typeface="Helvetica Neue"/>
                        </a:rPr>
                        <a:t>Baseline electricity cost</a:t>
                      </a:r>
                    </a:p>
                  </a:txBody>
                  <a:tcPr marL="91440" marR="91440" marT="45720" marB="45720">
                    <a:lnL w="4763">
                      <a:solidFill>
                        <a:srgbClr val="C5C8B9"/>
                      </a:solidFill>
                      <a:prstDash val="solid"/>
                    </a:lnL>
                    <a:lnR w="4763">
                      <a:solidFill>
                        <a:srgbClr val="C5C8B9"/>
                      </a:solidFill>
                      <a:prstDash val="solid"/>
                    </a:lnR>
                    <a:lnB w="4763">
                      <a:solidFill>
                        <a:srgbClr val="C5C8B9"/>
                      </a:solidFill>
                      <a:prstDash val="solid"/>
                    </a:lnB>
                    <a:solidFill>
                      <a:srgbClr val="EEEEE4"/>
                    </a:solidFill>
                  </a:tcPr>
                </a:tc>
                <a:tc>
                  <a:txBody>
                    <a:bodyPr/>
                    <a:lstStyle/>
                    <a:p>
                      <a:r>
                        <a:rPr sz="1650" b="0">
                          <a:solidFill>
                            <a:srgbClr val="171A12"/>
                          </a:solidFill>
                          <a:latin typeface="Helvetica Neue"/>
                          <a:ea typeface="Helvetica Neue"/>
                          <a:cs typeface="Helvetica Neue"/>
                        </a:rPr>
                        <a:t>$80,000</a:t>
                      </a:r>
                    </a:p>
                  </a:txBody>
                  <a:tcPr marL="91440" marR="91440" marT="45720" marB="45720">
                    <a:lnR w="4763">
                      <a:solidFill>
                        <a:srgbClr val="C5C8B9"/>
                      </a:solidFill>
                      <a:prstDash val="solid"/>
                    </a:lnR>
                    <a:lnB w="4763">
                      <a:solidFill>
                        <a:srgbClr val="C5C8B9"/>
                      </a:solidFill>
                      <a:prstDash val="solid"/>
                    </a:lnB>
                    <a:solidFill>
                      <a:srgbClr val="EEEEE4"/>
                    </a:solidFill>
                  </a:tcPr>
                </a:tc>
                <a:tc>
                  <a:txBody>
                    <a:bodyPr/>
                    <a:lstStyle/>
                    <a:p>
                      <a:r>
                        <a:rPr sz="1650" b="0">
                          <a:solidFill>
                            <a:srgbClr val="171A12"/>
                          </a:solidFill>
                          <a:latin typeface="Helvetica Neue"/>
                          <a:ea typeface="Helvetica Neue"/>
                          <a:cs typeface="Helvetica Neue"/>
                        </a:rPr>
                        <a:t>$800,000</a:t>
                      </a:r>
                    </a:p>
                  </a:txBody>
                  <a:tcPr marL="91440" marR="91440" marT="45720" marB="45720">
                    <a:lnR w="4763">
                      <a:solidFill>
                        <a:srgbClr val="C5C8B9"/>
                      </a:solidFill>
                      <a:prstDash val="solid"/>
                    </a:lnR>
                    <a:lnB w="4763">
                      <a:solidFill>
                        <a:srgbClr val="C5C8B9"/>
                      </a:solidFill>
                      <a:prstDash val="solid"/>
                    </a:lnB>
                    <a:solidFill>
                      <a:srgbClr val="EEEEE4"/>
                    </a:solidFill>
                  </a:tcPr>
                </a:tc>
              </a:tr>
              <a:tr h="500063">
                <a:tc>
                  <a:txBody>
                    <a:bodyPr/>
                    <a:lstStyle/>
                    <a:p>
                      <a:r>
                        <a:rPr sz="1650" b="0">
                          <a:solidFill>
                            <a:srgbClr val="171A12"/>
                          </a:solidFill>
                          <a:latin typeface="Helvetica Neue"/>
                          <a:ea typeface="Helvetica Neue"/>
                          <a:cs typeface="Helvetica Neue"/>
                        </a:rPr>
                        <a:t>5% energy reduction</a:t>
                      </a:r>
                    </a:p>
                  </a:txBody>
                  <a:tcPr marL="91440" marR="91440" marT="45720" marB="45720">
                    <a:lnL w="4763">
                      <a:solidFill>
                        <a:srgbClr val="C5C8B9"/>
                      </a:solidFill>
                      <a:prstDash val="solid"/>
                    </a:lnL>
                    <a:lnR w="4763">
                      <a:solidFill>
                        <a:srgbClr val="C5C8B9"/>
                      </a:solidFill>
                      <a:prstDash val="solid"/>
                    </a:lnR>
                    <a:lnB w="4763">
                      <a:solidFill>
                        <a:srgbClr val="C5C8B9"/>
                      </a:solidFill>
                      <a:prstDash val="solid"/>
                    </a:lnB>
                    <a:solidFill>
                      <a:srgbClr val="EEEEE4"/>
                    </a:solidFill>
                  </a:tcPr>
                </a:tc>
                <a:tc>
                  <a:txBody>
                    <a:bodyPr/>
                    <a:lstStyle/>
                    <a:p>
                      <a:r>
                        <a:rPr sz="1650" b="0">
                          <a:solidFill>
                            <a:srgbClr val="171A12"/>
                          </a:solidFill>
                          <a:latin typeface="Helvetica Neue"/>
                          <a:ea typeface="Helvetica Neue"/>
                          <a:cs typeface="Helvetica Neue"/>
                        </a:rPr>
                        <a:t>$4,000 gross saving</a:t>
                      </a:r>
                    </a:p>
                  </a:txBody>
                  <a:tcPr marL="91440" marR="91440" marT="45720" marB="45720">
                    <a:lnR w="4763">
                      <a:solidFill>
                        <a:srgbClr val="C5C8B9"/>
                      </a:solidFill>
                      <a:prstDash val="solid"/>
                    </a:lnR>
                    <a:lnB w="4763">
                      <a:solidFill>
                        <a:srgbClr val="C5C8B9"/>
                      </a:solidFill>
                      <a:prstDash val="solid"/>
                    </a:lnB>
                    <a:solidFill>
                      <a:srgbClr val="EEEEE4"/>
                    </a:solidFill>
                  </a:tcPr>
                </a:tc>
                <a:tc>
                  <a:txBody>
                    <a:bodyPr/>
                    <a:lstStyle/>
                    <a:p>
                      <a:r>
                        <a:rPr sz="1650" b="0">
                          <a:solidFill>
                            <a:srgbClr val="171A12"/>
                          </a:solidFill>
                          <a:latin typeface="Helvetica Neue"/>
                          <a:ea typeface="Helvetica Neue"/>
                          <a:cs typeface="Helvetica Neue"/>
                        </a:rPr>
                        <a:t>$40,000 gross saving</a:t>
                      </a:r>
                    </a:p>
                  </a:txBody>
                  <a:tcPr marL="91440" marR="91440" marT="45720" marB="45720">
                    <a:lnR w="4763">
                      <a:solidFill>
                        <a:srgbClr val="C5C8B9"/>
                      </a:solidFill>
                      <a:prstDash val="solid"/>
                    </a:lnR>
                    <a:lnB w="4763">
                      <a:solidFill>
                        <a:srgbClr val="C5C8B9"/>
                      </a:solidFill>
                      <a:prstDash val="solid"/>
                    </a:lnB>
                    <a:solidFill>
                      <a:srgbClr val="EEEEE4"/>
                    </a:solidFill>
                  </a:tcPr>
                </a:tc>
              </a:tr>
              <a:tr h="500063">
                <a:tc>
                  <a:txBody>
                    <a:bodyPr/>
                    <a:lstStyle/>
                    <a:p>
                      <a:r>
                        <a:rPr sz="1650" b="0">
                          <a:solidFill>
                            <a:srgbClr val="171A12"/>
                          </a:solidFill>
                          <a:latin typeface="Helvetica Neue"/>
                          <a:ea typeface="Helvetica Neue"/>
                          <a:cs typeface="Helvetica Neue"/>
                        </a:rPr>
                        <a:t>10% energy reduction</a:t>
                      </a:r>
                    </a:p>
                  </a:txBody>
                  <a:tcPr marL="91440" marR="91440" marT="45720" marB="45720">
                    <a:lnL w="4763">
                      <a:solidFill>
                        <a:srgbClr val="C5C8B9"/>
                      </a:solidFill>
                      <a:prstDash val="solid"/>
                    </a:lnL>
                    <a:lnR w="4763">
                      <a:solidFill>
                        <a:srgbClr val="C5C8B9"/>
                      </a:solidFill>
                      <a:prstDash val="solid"/>
                    </a:lnR>
                    <a:lnB w="4763">
                      <a:solidFill>
                        <a:srgbClr val="C5C8B9"/>
                      </a:solidFill>
                      <a:prstDash val="solid"/>
                    </a:lnB>
                    <a:solidFill>
                      <a:srgbClr val="EEEEE4"/>
                    </a:solidFill>
                  </a:tcPr>
                </a:tc>
                <a:tc>
                  <a:txBody>
                    <a:bodyPr/>
                    <a:lstStyle/>
                    <a:p>
                      <a:r>
                        <a:rPr sz="1650" b="0">
                          <a:solidFill>
                            <a:srgbClr val="171A12"/>
                          </a:solidFill>
                          <a:latin typeface="Helvetica Neue"/>
                          <a:ea typeface="Helvetica Neue"/>
                          <a:cs typeface="Helvetica Neue"/>
                        </a:rPr>
                        <a:t>$8,000 gross saving</a:t>
                      </a:r>
                    </a:p>
                  </a:txBody>
                  <a:tcPr marL="91440" marR="91440" marT="45720" marB="45720">
                    <a:lnR w="4763">
                      <a:solidFill>
                        <a:srgbClr val="C5C8B9"/>
                      </a:solidFill>
                      <a:prstDash val="solid"/>
                    </a:lnR>
                    <a:lnB w="4763">
                      <a:solidFill>
                        <a:srgbClr val="C5C8B9"/>
                      </a:solidFill>
                      <a:prstDash val="solid"/>
                    </a:lnB>
                    <a:solidFill>
                      <a:srgbClr val="EEEEE4"/>
                    </a:solidFill>
                  </a:tcPr>
                </a:tc>
                <a:tc>
                  <a:txBody>
                    <a:bodyPr/>
                    <a:lstStyle/>
                    <a:p>
                      <a:r>
                        <a:rPr sz="1650" b="0">
                          <a:solidFill>
                            <a:srgbClr val="171A12"/>
                          </a:solidFill>
                          <a:latin typeface="Helvetica Neue"/>
                          <a:ea typeface="Helvetica Neue"/>
                          <a:cs typeface="Helvetica Neue"/>
                        </a:rPr>
                        <a:t>$80,000 gross saving</a:t>
                      </a:r>
                    </a:p>
                  </a:txBody>
                  <a:tcPr marL="91440" marR="91440" marT="45720" marB="45720">
                    <a:lnR w="4763">
                      <a:solidFill>
                        <a:srgbClr val="C5C8B9"/>
                      </a:solidFill>
                      <a:prstDash val="solid"/>
                    </a:lnR>
                    <a:lnB w="4763">
                      <a:solidFill>
                        <a:srgbClr val="C5C8B9"/>
                      </a:solidFill>
                      <a:prstDash val="solid"/>
                    </a:lnB>
                    <a:solidFill>
                      <a:srgbClr val="EEEEE4"/>
                    </a:solidFill>
                  </a:tcPr>
                </a:tc>
              </a:tr>
              <a:tr h="500063">
                <a:tc>
                  <a:txBody>
                    <a:bodyPr/>
                    <a:lstStyle/>
                    <a:p>
                      <a:r>
                        <a:rPr sz="1650" b="0">
                          <a:solidFill>
                            <a:srgbClr val="171A12"/>
                          </a:solidFill>
                          <a:latin typeface="Helvetica Neue"/>
                          <a:ea typeface="Helvetica Neue"/>
                          <a:cs typeface="Helvetica Neue"/>
                        </a:rPr>
                        <a:t>20% energy reduction</a:t>
                      </a:r>
                    </a:p>
                  </a:txBody>
                  <a:tcPr marL="91440" marR="91440" marT="45720" marB="45720">
                    <a:lnL w="4763">
                      <a:solidFill>
                        <a:srgbClr val="C5C8B9"/>
                      </a:solidFill>
                      <a:prstDash val="solid"/>
                    </a:lnL>
                    <a:lnR w="4763">
                      <a:solidFill>
                        <a:srgbClr val="C5C8B9"/>
                      </a:solidFill>
                      <a:prstDash val="solid"/>
                    </a:lnR>
                    <a:lnB w="4763">
                      <a:solidFill>
                        <a:srgbClr val="C5C8B9"/>
                      </a:solidFill>
                      <a:prstDash val="solid"/>
                    </a:lnB>
                    <a:solidFill>
                      <a:srgbClr val="EEEEE4"/>
                    </a:solidFill>
                  </a:tcPr>
                </a:tc>
                <a:tc>
                  <a:txBody>
                    <a:bodyPr/>
                    <a:lstStyle/>
                    <a:p>
                      <a:r>
                        <a:rPr sz="1650" b="0">
                          <a:solidFill>
                            <a:srgbClr val="171A12"/>
                          </a:solidFill>
                          <a:latin typeface="Helvetica Neue"/>
                          <a:ea typeface="Helvetica Neue"/>
                          <a:cs typeface="Helvetica Neue"/>
                        </a:rPr>
                        <a:t>$16,000 gross saving</a:t>
                      </a:r>
                    </a:p>
                  </a:txBody>
                  <a:tcPr marL="91440" marR="91440" marT="45720" marB="45720">
                    <a:lnR w="4763">
                      <a:solidFill>
                        <a:srgbClr val="C5C8B9"/>
                      </a:solidFill>
                      <a:prstDash val="solid"/>
                    </a:lnR>
                    <a:lnB w="4763">
                      <a:solidFill>
                        <a:srgbClr val="C5C8B9"/>
                      </a:solidFill>
                      <a:prstDash val="solid"/>
                    </a:lnB>
                    <a:solidFill>
                      <a:srgbClr val="EEEEE4"/>
                    </a:solidFill>
                  </a:tcPr>
                </a:tc>
                <a:tc>
                  <a:txBody>
                    <a:bodyPr/>
                    <a:lstStyle/>
                    <a:p>
                      <a:r>
                        <a:rPr sz="1650" b="0">
                          <a:solidFill>
                            <a:srgbClr val="171A12"/>
                          </a:solidFill>
                          <a:latin typeface="Helvetica Neue"/>
                          <a:ea typeface="Helvetica Neue"/>
                          <a:cs typeface="Helvetica Neue"/>
                        </a:rPr>
                        <a:t>$160,000 gross saving</a:t>
                      </a:r>
                    </a:p>
                  </a:txBody>
                  <a:tcPr marL="91440" marR="91440" marT="45720" marB="45720">
                    <a:lnR w="4763">
                      <a:solidFill>
                        <a:srgbClr val="C5C8B9"/>
                      </a:solidFill>
                      <a:prstDash val="solid"/>
                    </a:lnR>
                    <a:lnB w="4763">
                      <a:solidFill>
                        <a:srgbClr val="C5C8B9"/>
                      </a:solidFill>
                      <a:prstDash val="solid"/>
                    </a:lnB>
                    <a:solidFill>
                      <a:srgbClr val="EEEEE4"/>
                    </a:solidFill>
                  </a:tcPr>
                </a:tc>
              </a:tr>
            </a:tbl>
          </a:graphicData>
        </a:graphic>
      </p:graphicFrame>
      <p:sp>
        <p:nvSpPr>
          <p:cNvPr id="6" name="">
            <a:extLst xmlns:a="http://schemas.openxmlformats.org/drawingml/2006/main">
              <a:ext uri="{FF2B5EF4-FFF2-40B4-BE49-F238E27FC236}">
                <a16:creationId xmlns:a16="http://schemas.microsoft.com/office/drawing/2014/main" id="{A8DE0C7A-08B1-492E-8353-A57EB2DF0721}"/>
              </a:ext>
            </a:extLst>
          </p:cNvPr>
          <p:cNvSpPr>
            <a:spLocks xmlns:a="http://schemas.openxmlformats.org/drawingml/2006/main" noGrp="1"/>
          </p:cNvSpPr>
          <p:nvPr/>
        </p:nvSpPr>
        <p:spPr>
          <a:xfrm xmlns:a="http://schemas.openxmlformats.org/drawingml/2006/main">
            <a:off x="609600" y="57531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75E43"/>
                </a:solidFill>
                <a:latin typeface="Helvetica Neue"/>
                <a:ea typeface="Helvetica Neue"/>
                <a:cs typeface="Helvetica Neue"/>
              </a:defRPr>
            </a:defPPr>
            <a:lvl1pPr>
              <a:defRPr sz="1500" b="0">
                <a:solidFill>
                  <a:srgbClr val="575E43"/>
                </a:solidFill>
                <a:latin typeface="Helvetica Neue"/>
                <a:ea typeface="Helvetica Neue"/>
                <a:cs typeface="Helvetica Neue"/>
              </a:defRPr>
            </a:lvl1pPr>
            <a:lvl2pPr>
              <a:defRPr sz="1500" b="0">
                <a:solidFill>
                  <a:srgbClr val="575E43"/>
                </a:solidFill>
                <a:latin typeface="Helvetica Neue"/>
                <a:ea typeface="Helvetica Neue"/>
                <a:cs typeface="Helvetica Neue"/>
              </a:defRPr>
            </a:lvl2pPr>
            <a:lvl3pPr>
              <a:defRPr sz="1500" b="0">
                <a:solidFill>
                  <a:srgbClr val="575E43"/>
                </a:solidFill>
                <a:latin typeface="Helvetica Neue"/>
                <a:ea typeface="Helvetica Neue"/>
                <a:cs typeface="Helvetica Neue"/>
              </a:defRPr>
            </a:lvl3pPr>
            <a:lvl4pPr>
              <a:defRPr sz="1500" b="0">
                <a:solidFill>
                  <a:srgbClr val="575E43"/>
                </a:solidFill>
                <a:latin typeface="Helvetica Neue"/>
                <a:ea typeface="Helvetica Neue"/>
                <a:cs typeface="Helvetica Neue"/>
              </a:defRPr>
            </a:lvl4pPr>
            <a:lvl5pPr>
              <a:defRPr sz="1500" b="0">
                <a:solidFill>
                  <a:srgbClr val="575E43"/>
                </a:solidFill>
                <a:latin typeface="Helvetica Neue"/>
                <a:ea typeface="Helvetica Neue"/>
                <a:cs typeface="Helvetica Neue"/>
              </a:defRPr>
            </a:lvl5pPr>
            <a:lvl6pPr>
              <a:defRPr sz="1500" b="0">
                <a:solidFill>
                  <a:srgbClr val="575E43"/>
                </a:solidFill>
                <a:latin typeface="Helvetica Neue"/>
                <a:ea typeface="Helvetica Neue"/>
                <a:cs typeface="Helvetica Neue"/>
              </a:defRPr>
            </a:lvl6pPr>
            <a:lvl7pPr>
              <a:defRPr sz="1500" b="0">
                <a:solidFill>
                  <a:srgbClr val="575E43"/>
                </a:solidFill>
                <a:latin typeface="Helvetica Neue"/>
                <a:ea typeface="Helvetica Neue"/>
                <a:cs typeface="Helvetica Neue"/>
              </a:defRPr>
            </a:lvl7pPr>
            <a:lvl8pPr>
              <a:defRPr sz="1500" b="0">
                <a:solidFill>
                  <a:srgbClr val="575E43"/>
                </a:solidFill>
                <a:latin typeface="Helvetica Neue"/>
                <a:ea typeface="Helvetica Neue"/>
                <a:cs typeface="Helvetica Neue"/>
              </a:defRPr>
            </a:lvl8pPr>
            <a:lvl9pPr>
              <a:defRPr sz="1500" b="0">
                <a:solidFill>
                  <a:srgbClr val="575E43"/>
                </a:solidFill>
                <a:latin typeface="Helvetica Neue"/>
                <a:ea typeface="Helvetica Neue"/>
                <a:cs typeface="Helvetica Neue"/>
              </a:defRPr>
            </a:lvl9pPr>
          </a:lstStyle>
          <a:p xmlns:a="http://schemas.openxmlformats.org/drawingml/2006/main">
            <a:pPr>
              <a:defRPr sz="1500" b="0">
                <a:solidFill>
                  <a:srgbClr val="575E43"/>
                </a:solidFill>
                <a:latin typeface="Helvetica Neue"/>
                <a:ea typeface="Helvetica Neue"/>
                <a:cs typeface="Helvetica Neue"/>
              </a:defRPr>
            </a:pPr>
            <a:r>
              <a:rPr sz="1500" b="0">
                <a:solidFill>
                  <a:srgbClr val="575E43"/>
                </a:solidFill>
                <a:latin typeface="Helvetica Neue"/>
                <a:ea typeface="Helvetica Neue"/>
                <a:cs typeface="Helvetica Neue"/>
              </a:rPr>
              <a:t>Illustration only: same output and service, flat tariff, no demand charges, product fees or customer effort.</a:t>
            </a:r>
          </a:p>
        </p:txBody>
      </p:sp>
    </p:spTree>
    <p:extLst>
      <p:ext uri="{BB962C8B-B14F-4D97-AF65-F5344CB8AC3E}">
        <p14:creationId xmlns:p14="http://schemas.microsoft.com/office/powerpoint/2010/main" val="777253648"/>
      </p:ext>
    </p:extLst>
  </p:cSld>
</p:sld>
</file>

<file path=ppt/slides/slide16.xml><?xml version="1.0" encoding="utf-8"?>
<p:sld xmlns:p="http://schemas.openxmlformats.org/presentationml/2006/main">
  <p:cSld>
    <p:bg>
      <p:bgPr>
        <a:solidFill xmlns:a="http://schemas.openxmlformats.org/drawingml/2006/main">
          <a:srgbClr val="11121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59BAB9A-808D-4DAF-B871-CE34D02301A4}"/>
              </a:ext>
            </a:extLst>
          </p:cNvPr>
          <p:cNvSpPr>
            <a:spLocks xmlns:a="http://schemas.openxmlformats.org/drawingml/2006/main" noGrp="1"/>
          </p:cNvSpPr>
          <p:nvPr/>
        </p:nvSpPr>
        <p:spPr>
          <a:xfrm xmlns:a="http://schemas.openxmlformats.org/drawingml/2006/main">
            <a:off x="609600" y="3429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FFDB24"/>
                </a:solidFill>
                <a:latin typeface="Helvetica Neue"/>
                <a:ea typeface="Helvetica Neue"/>
                <a:cs typeface="Helvetica Neue"/>
              </a:defRPr>
            </a:defPPr>
            <a:lvl1pPr>
              <a:defRPr sz="1125" b="1">
                <a:solidFill>
                  <a:srgbClr val="FFDB24"/>
                </a:solidFill>
                <a:latin typeface="Helvetica Neue"/>
                <a:ea typeface="Helvetica Neue"/>
                <a:cs typeface="Helvetica Neue"/>
              </a:defRPr>
            </a:lvl1pPr>
            <a:lvl2pPr>
              <a:defRPr sz="1125" b="1">
                <a:solidFill>
                  <a:srgbClr val="FFDB24"/>
                </a:solidFill>
                <a:latin typeface="Helvetica Neue"/>
                <a:ea typeface="Helvetica Neue"/>
                <a:cs typeface="Helvetica Neue"/>
              </a:defRPr>
            </a:lvl2pPr>
            <a:lvl3pPr>
              <a:defRPr sz="1125" b="1">
                <a:solidFill>
                  <a:srgbClr val="FFDB24"/>
                </a:solidFill>
                <a:latin typeface="Helvetica Neue"/>
                <a:ea typeface="Helvetica Neue"/>
                <a:cs typeface="Helvetica Neue"/>
              </a:defRPr>
            </a:lvl3pPr>
            <a:lvl4pPr>
              <a:defRPr sz="1125" b="1">
                <a:solidFill>
                  <a:srgbClr val="FFDB24"/>
                </a:solidFill>
                <a:latin typeface="Helvetica Neue"/>
                <a:ea typeface="Helvetica Neue"/>
                <a:cs typeface="Helvetica Neue"/>
              </a:defRPr>
            </a:lvl4pPr>
            <a:lvl5pPr>
              <a:defRPr sz="1125" b="1">
                <a:solidFill>
                  <a:srgbClr val="FFDB24"/>
                </a:solidFill>
                <a:latin typeface="Helvetica Neue"/>
                <a:ea typeface="Helvetica Neue"/>
                <a:cs typeface="Helvetica Neue"/>
              </a:defRPr>
            </a:lvl5pPr>
            <a:lvl6pPr>
              <a:defRPr sz="1125" b="1">
                <a:solidFill>
                  <a:srgbClr val="FFDB24"/>
                </a:solidFill>
                <a:latin typeface="Helvetica Neue"/>
                <a:ea typeface="Helvetica Neue"/>
                <a:cs typeface="Helvetica Neue"/>
              </a:defRPr>
            </a:lvl6pPr>
            <a:lvl7pPr>
              <a:defRPr sz="1125" b="1">
                <a:solidFill>
                  <a:srgbClr val="FFDB24"/>
                </a:solidFill>
                <a:latin typeface="Helvetica Neue"/>
                <a:ea typeface="Helvetica Neue"/>
                <a:cs typeface="Helvetica Neue"/>
              </a:defRPr>
            </a:lvl7pPr>
            <a:lvl8pPr>
              <a:defRPr sz="1125" b="1">
                <a:solidFill>
                  <a:srgbClr val="FFDB24"/>
                </a:solidFill>
                <a:latin typeface="Helvetica Neue"/>
                <a:ea typeface="Helvetica Neue"/>
                <a:cs typeface="Helvetica Neue"/>
              </a:defRPr>
            </a:lvl8pPr>
            <a:lvl9pPr>
              <a:defRPr sz="1125" b="1">
                <a:solidFill>
                  <a:srgbClr val="FFDB24"/>
                </a:solidFill>
                <a:latin typeface="Helvetica Neue"/>
                <a:ea typeface="Helvetica Neue"/>
                <a:cs typeface="Helvetica Neue"/>
              </a:defRPr>
            </a:lvl9pPr>
          </a:lstStyle>
          <a:p xmlns:a="http://schemas.openxmlformats.org/drawingml/2006/main">
            <a:pPr>
              <a:defRPr sz="1125" b="1">
                <a:solidFill>
                  <a:srgbClr val="FFDB24"/>
                </a:solidFill>
                <a:latin typeface="Helvetica Neue"/>
                <a:ea typeface="Helvetica Neue"/>
                <a:cs typeface="Helvetica Neue"/>
              </a:defRPr>
            </a:pPr>
            <a:r>
              <a:rPr sz="1125" b="1">
                <a:solidFill>
                  <a:srgbClr val="FFDB24"/>
                </a:solidFill>
                <a:latin typeface="Helvetica Neue"/>
                <a:ea typeface="Helvetica Neue"/>
                <a:cs typeface="Helvetica Neue"/>
              </a:rPr>
              <a:t>APPENDIX / ELECTRICAL CALCULATION</a:t>
            </a:r>
          </a:p>
        </p:txBody>
      </p:sp>
      <p:sp>
        <p:nvSpPr>
          <p:cNvPr id="2" name="">
            <a:extLst xmlns:a="http://schemas.openxmlformats.org/drawingml/2006/main">
              <a:ext uri="{FF2B5EF4-FFF2-40B4-BE49-F238E27FC236}">
                <a16:creationId xmlns:a16="http://schemas.microsoft.com/office/drawing/2014/main" id="{AD76BD34-F347-4941-BBAA-710C3D6F387D}"/>
              </a:ext>
            </a:extLst>
          </p:cNvPr>
          <p:cNvSpPr>
            <a:spLocks xmlns:a="http://schemas.openxmlformats.org/drawingml/2006/main" noGrp="1"/>
          </p:cNvSpPr>
          <p:nvPr/>
        </p:nvSpPr>
        <p:spPr>
          <a:xfrm xmlns:a="http://schemas.openxmlformats.org/drawingml/2006/main">
            <a:off x="609600" y="914400"/>
            <a:ext cx="109728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F4F3EB"/>
                </a:solidFill>
                <a:latin typeface="Helvetica Neue"/>
                <a:ea typeface="Helvetica Neue"/>
                <a:cs typeface="Helvetica Neue"/>
              </a:defRPr>
            </a:defPPr>
            <a:lvl1pPr>
              <a:defRPr sz="3900" b="0">
                <a:solidFill>
                  <a:srgbClr val="F4F3EB"/>
                </a:solidFill>
                <a:latin typeface="Helvetica Neue"/>
                <a:ea typeface="Helvetica Neue"/>
                <a:cs typeface="Helvetica Neue"/>
              </a:defRPr>
            </a:lvl1pPr>
            <a:lvl2pPr>
              <a:defRPr sz="3900" b="0">
                <a:solidFill>
                  <a:srgbClr val="F4F3EB"/>
                </a:solidFill>
                <a:latin typeface="Helvetica Neue"/>
                <a:ea typeface="Helvetica Neue"/>
                <a:cs typeface="Helvetica Neue"/>
              </a:defRPr>
            </a:lvl2pPr>
            <a:lvl3pPr>
              <a:defRPr sz="3900" b="0">
                <a:solidFill>
                  <a:srgbClr val="F4F3EB"/>
                </a:solidFill>
                <a:latin typeface="Helvetica Neue"/>
                <a:ea typeface="Helvetica Neue"/>
                <a:cs typeface="Helvetica Neue"/>
              </a:defRPr>
            </a:lvl3pPr>
            <a:lvl4pPr>
              <a:defRPr sz="3900" b="0">
                <a:solidFill>
                  <a:srgbClr val="F4F3EB"/>
                </a:solidFill>
                <a:latin typeface="Helvetica Neue"/>
                <a:ea typeface="Helvetica Neue"/>
                <a:cs typeface="Helvetica Neue"/>
              </a:defRPr>
            </a:lvl4pPr>
            <a:lvl5pPr>
              <a:defRPr sz="3900" b="0">
                <a:solidFill>
                  <a:srgbClr val="F4F3EB"/>
                </a:solidFill>
                <a:latin typeface="Helvetica Neue"/>
                <a:ea typeface="Helvetica Neue"/>
                <a:cs typeface="Helvetica Neue"/>
              </a:defRPr>
            </a:lvl5pPr>
            <a:lvl6pPr>
              <a:defRPr sz="3900" b="0">
                <a:solidFill>
                  <a:srgbClr val="F4F3EB"/>
                </a:solidFill>
                <a:latin typeface="Helvetica Neue"/>
                <a:ea typeface="Helvetica Neue"/>
                <a:cs typeface="Helvetica Neue"/>
              </a:defRPr>
            </a:lvl6pPr>
            <a:lvl7pPr>
              <a:defRPr sz="3900" b="0">
                <a:solidFill>
                  <a:srgbClr val="F4F3EB"/>
                </a:solidFill>
                <a:latin typeface="Helvetica Neue"/>
                <a:ea typeface="Helvetica Neue"/>
                <a:cs typeface="Helvetica Neue"/>
              </a:defRPr>
            </a:lvl7pPr>
            <a:lvl8pPr>
              <a:defRPr sz="3900" b="0">
                <a:solidFill>
                  <a:srgbClr val="F4F3EB"/>
                </a:solidFill>
                <a:latin typeface="Helvetica Neue"/>
                <a:ea typeface="Helvetica Neue"/>
                <a:cs typeface="Helvetica Neue"/>
              </a:defRPr>
            </a:lvl8pPr>
            <a:lvl9pPr>
              <a:defRPr sz="3900" b="0">
                <a:solidFill>
                  <a:srgbClr val="F4F3EB"/>
                </a:solidFill>
                <a:latin typeface="Helvetica Neue"/>
                <a:ea typeface="Helvetica Neue"/>
                <a:cs typeface="Helvetica Neue"/>
              </a:defRPr>
            </a:lvl9pPr>
          </a:lstStyle>
          <a:p xmlns:a="http://schemas.openxmlformats.org/drawingml/2006/main">
            <a:pPr>
              <a:defRPr sz="3900" b="0">
                <a:solidFill>
                  <a:srgbClr val="F4F3EB"/>
                </a:solidFill>
                <a:latin typeface="Helvetica Neue"/>
                <a:ea typeface="Helvetica Neue"/>
                <a:cs typeface="Helvetica Neue"/>
              </a:defRPr>
            </a:pPr>
            <a:r>
              <a:rPr sz="3900" b="0">
                <a:solidFill>
                  <a:srgbClr val="F4F3EB"/>
                </a:solidFill>
                <a:latin typeface="Helvetica Neue"/>
                <a:ea typeface="Helvetica Neue"/>
                <a:cs typeface="Helvetica Neue"/>
              </a:rPr>
              <a:t>116 V AC: current, power and energy</a:t>
            </a:r>
          </a:p>
        </p:txBody>
      </p:sp>
      <p:sp>
        <p:nvSpPr>
          <p:cNvPr id="3" name="">
            <a:extLst xmlns:a="http://schemas.openxmlformats.org/drawingml/2006/main">
              <a:ext uri="{FF2B5EF4-FFF2-40B4-BE49-F238E27FC236}">
                <a16:creationId xmlns:a16="http://schemas.microsoft.com/office/drawing/2014/main" id="{292149B2-9E25-402D-9FFF-94801B770B7F}"/>
              </a:ext>
            </a:extLst>
          </p:cNvPr>
          <p:cNvSpPr>
            <a:spLocks xmlns:a="http://schemas.openxmlformats.org/drawingml/2006/main" noGrp="1"/>
          </p:cNvSpPr>
          <p:nvPr/>
        </p:nvSpPr>
        <p:spPr>
          <a:xfrm xmlns:a="http://schemas.openxmlformats.org/drawingml/2006/main">
            <a:off x="609600" y="644842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BABDB0"/>
                </a:solidFill>
                <a:latin typeface="Helvetica Neue"/>
                <a:ea typeface="Helvetica Neue"/>
                <a:cs typeface="Helvetica Neue"/>
              </a:defRPr>
            </a:defPPr>
            <a:lvl1pPr>
              <a:defRPr sz="900" b="0">
                <a:solidFill>
                  <a:srgbClr val="BABDB0"/>
                </a:solidFill>
                <a:latin typeface="Helvetica Neue"/>
                <a:ea typeface="Helvetica Neue"/>
                <a:cs typeface="Helvetica Neue"/>
              </a:defRPr>
            </a:lvl1pPr>
            <a:lvl2pPr>
              <a:defRPr sz="900" b="0">
                <a:solidFill>
                  <a:srgbClr val="BABDB0"/>
                </a:solidFill>
                <a:latin typeface="Helvetica Neue"/>
                <a:ea typeface="Helvetica Neue"/>
                <a:cs typeface="Helvetica Neue"/>
              </a:defRPr>
            </a:lvl2pPr>
            <a:lvl3pPr>
              <a:defRPr sz="900" b="0">
                <a:solidFill>
                  <a:srgbClr val="BABDB0"/>
                </a:solidFill>
                <a:latin typeface="Helvetica Neue"/>
                <a:ea typeface="Helvetica Neue"/>
                <a:cs typeface="Helvetica Neue"/>
              </a:defRPr>
            </a:lvl3pPr>
            <a:lvl4pPr>
              <a:defRPr sz="900" b="0">
                <a:solidFill>
                  <a:srgbClr val="BABDB0"/>
                </a:solidFill>
                <a:latin typeface="Helvetica Neue"/>
                <a:ea typeface="Helvetica Neue"/>
                <a:cs typeface="Helvetica Neue"/>
              </a:defRPr>
            </a:lvl4pPr>
            <a:lvl5pPr>
              <a:defRPr sz="900" b="0">
                <a:solidFill>
                  <a:srgbClr val="BABDB0"/>
                </a:solidFill>
                <a:latin typeface="Helvetica Neue"/>
                <a:ea typeface="Helvetica Neue"/>
                <a:cs typeface="Helvetica Neue"/>
              </a:defRPr>
            </a:lvl5pPr>
            <a:lvl6pPr>
              <a:defRPr sz="900" b="0">
                <a:solidFill>
                  <a:srgbClr val="BABDB0"/>
                </a:solidFill>
                <a:latin typeface="Helvetica Neue"/>
                <a:ea typeface="Helvetica Neue"/>
                <a:cs typeface="Helvetica Neue"/>
              </a:defRPr>
            </a:lvl6pPr>
            <a:lvl7pPr>
              <a:defRPr sz="900" b="0">
                <a:solidFill>
                  <a:srgbClr val="BABDB0"/>
                </a:solidFill>
                <a:latin typeface="Helvetica Neue"/>
                <a:ea typeface="Helvetica Neue"/>
                <a:cs typeface="Helvetica Neue"/>
              </a:defRPr>
            </a:lvl7pPr>
            <a:lvl8pPr>
              <a:defRPr sz="900" b="0">
                <a:solidFill>
                  <a:srgbClr val="BABDB0"/>
                </a:solidFill>
                <a:latin typeface="Helvetica Neue"/>
                <a:ea typeface="Helvetica Neue"/>
                <a:cs typeface="Helvetica Neue"/>
              </a:defRPr>
            </a:lvl8pPr>
            <a:lvl9pPr>
              <a:defRPr sz="900" b="0">
                <a:solidFill>
                  <a:srgbClr val="BABDB0"/>
                </a:solidFill>
                <a:latin typeface="Helvetica Neue"/>
                <a:ea typeface="Helvetica Neue"/>
                <a:cs typeface="Helvetica Neue"/>
              </a:defRPr>
            </a:lvl9pPr>
          </a:lstStyle>
          <a:p xmlns:a="http://schemas.openxmlformats.org/drawingml/2006/main">
            <a:pPr>
              <a:defRPr sz="900" b="0">
                <a:solidFill>
                  <a:srgbClr val="BABDB0"/>
                </a:solidFill>
                <a:latin typeface="Helvetica Neue"/>
                <a:ea typeface="Helvetica Neue"/>
                <a:cs typeface="Helvetica Neue"/>
              </a:defRPr>
            </a:pPr>
            <a:r>
              <a:rPr sz="900" b="0">
                <a:solidFill>
                  <a:srgbClr val="BABDB0"/>
                </a:solidFill>
                <a:latin typeface="Helvetica Neue"/>
                <a:ea typeface="Helvetica Neue"/>
                <a:cs typeface="Helvetica Neue"/>
              </a:rPr>
              <a:t>E FOR ENERGY</a:t>
            </a:r>
          </a:p>
        </p:txBody>
      </p:sp>
      <p:sp>
        <p:nvSpPr>
          <p:cNvPr id="4" name="">
            <a:extLst xmlns:a="http://schemas.openxmlformats.org/drawingml/2006/main">
              <a:ext uri="{FF2B5EF4-FFF2-40B4-BE49-F238E27FC236}">
                <a16:creationId xmlns:a16="http://schemas.microsoft.com/office/drawing/2014/main" id="{6E4B4E72-7F87-48AE-9051-532A9597E523}"/>
              </a:ext>
            </a:extLst>
          </p:cNvPr>
          <p:cNvSpPr>
            <a:spLocks xmlns:a="http://schemas.openxmlformats.org/drawingml/2006/main" noGrp="1"/>
          </p:cNvSpPr>
          <p:nvPr/>
        </p:nvSpPr>
        <p:spPr>
          <a:xfrm xmlns:a="http://schemas.openxmlformats.org/drawingml/2006/main">
            <a:off x="11049000" y="64198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BABDB0"/>
                </a:solidFill>
                <a:latin typeface="Helvetica Neue"/>
                <a:ea typeface="Helvetica Neue"/>
                <a:cs typeface="Helvetica Neue"/>
              </a:defRPr>
            </a:defPPr>
            <a:lvl1pPr>
              <a:defRPr sz="1200" b="0">
                <a:solidFill>
                  <a:srgbClr val="BABDB0"/>
                </a:solidFill>
                <a:latin typeface="Helvetica Neue"/>
                <a:ea typeface="Helvetica Neue"/>
                <a:cs typeface="Helvetica Neue"/>
              </a:defRPr>
            </a:lvl1pPr>
            <a:lvl2pPr>
              <a:defRPr sz="1200" b="0">
                <a:solidFill>
                  <a:srgbClr val="BABDB0"/>
                </a:solidFill>
                <a:latin typeface="Helvetica Neue"/>
                <a:ea typeface="Helvetica Neue"/>
                <a:cs typeface="Helvetica Neue"/>
              </a:defRPr>
            </a:lvl2pPr>
            <a:lvl3pPr>
              <a:defRPr sz="1200" b="0">
                <a:solidFill>
                  <a:srgbClr val="BABDB0"/>
                </a:solidFill>
                <a:latin typeface="Helvetica Neue"/>
                <a:ea typeface="Helvetica Neue"/>
                <a:cs typeface="Helvetica Neue"/>
              </a:defRPr>
            </a:lvl3pPr>
            <a:lvl4pPr>
              <a:defRPr sz="1200" b="0">
                <a:solidFill>
                  <a:srgbClr val="BABDB0"/>
                </a:solidFill>
                <a:latin typeface="Helvetica Neue"/>
                <a:ea typeface="Helvetica Neue"/>
                <a:cs typeface="Helvetica Neue"/>
              </a:defRPr>
            </a:lvl4pPr>
            <a:lvl5pPr>
              <a:defRPr sz="1200" b="0">
                <a:solidFill>
                  <a:srgbClr val="BABDB0"/>
                </a:solidFill>
                <a:latin typeface="Helvetica Neue"/>
                <a:ea typeface="Helvetica Neue"/>
                <a:cs typeface="Helvetica Neue"/>
              </a:defRPr>
            </a:lvl5pPr>
            <a:lvl6pPr>
              <a:defRPr sz="1200" b="0">
                <a:solidFill>
                  <a:srgbClr val="BABDB0"/>
                </a:solidFill>
                <a:latin typeface="Helvetica Neue"/>
                <a:ea typeface="Helvetica Neue"/>
                <a:cs typeface="Helvetica Neue"/>
              </a:defRPr>
            </a:lvl6pPr>
            <a:lvl7pPr>
              <a:defRPr sz="1200" b="0">
                <a:solidFill>
                  <a:srgbClr val="BABDB0"/>
                </a:solidFill>
                <a:latin typeface="Helvetica Neue"/>
                <a:ea typeface="Helvetica Neue"/>
                <a:cs typeface="Helvetica Neue"/>
              </a:defRPr>
            </a:lvl7pPr>
            <a:lvl8pPr>
              <a:defRPr sz="1200" b="0">
                <a:solidFill>
                  <a:srgbClr val="BABDB0"/>
                </a:solidFill>
                <a:latin typeface="Helvetica Neue"/>
                <a:ea typeface="Helvetica Neue"/>
                <a:cs typeface="Helvetica Neue"/>
              </a:defRPr>
            </a:lvl8pPr>
            <a:lvl9pPr>
              <a:defRPr sz="1200" b="0">
                <a:solidFill>
                  <a:srgbClr val="BABDB0"/>
                </a:solidFill>
                <a:latin typeface="Helvetica Neue"/>
                <a:ea typeface="Helvetica Neue"/>
                <a:cs typeface="Helvetica Neue"/>
              </a:defRPr>
            </a:lvl9pPr>
          </a:lstStyle>
          <a:p xmlns:a="http://schemas.openxmlformats.org/drawingml/2006/main">
            <a:pPr>
              <a:defRPr sz="1200" b="0">
                <a:solidFill>
                  <a:srgbClr val="BABDB0"/>
                </a:solidFill>
                <a:latin typeface="Helvetica Neue"/>
                <a:ea typeface="Helvetica Neue"/>
                <a:cs typeface="Helvetica Neue"/>
              </a:defRPr>
            </a:pPr>
            <a:r>
              <a:rPr sz="1200" b="0">
                <a:solidFill>
                  <a:srgbClr val="BABDB0"/>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F3813FEC-E556-4CB7-8368-7225188BFC57}"/>
              </a:ext>
            </a:extLst>
          </p:cNvPr>
          <p:cNvSpPr>
            <a:spLocks xmlns:a="http://schemas.openxmlformats.org/drawingml/2006/main" noGrp="1"/>
          </p:cNvSpPr>
          <p:nvPr/>
        </p:nvSpPr>
        <p:spPr>
          <a:xfrm xmlns:a="http://schemas.openxmlformats.org/drawingml/2006/main">
            <a:off x="609600" y="2466975"/>
            <a:ext cx="5000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FFDB24"/>
                </a:solidFill>
                <a:latin typeface="Helvetica Neue"/>
                <a:ea typeface="Helvetica Neue"/>
                <a:cs typeface="Helvetica Neue"/>
              </a:defRPr>
            </a:defPPr>
            <a:lvl1pPr>
              <a:defRPr sz="2475" b="1">
                <a:solidFill>
                  <a:srgbClr val="FFDB24"/>
                </a:solidFill>
                <a:latin typeface="Helvetica Neue"/>
                <a:ea typeface="Helvetica Neue"/>
                <a:cs typeface="Helvetica Neue"/>
              </a:defRPr>
            </a:lvl1pPr>
            <a:lvl2pPr>
              <a:defRPr sz="2475" b="1">
                <a:solidFill>
                  <a:srgbClr val="FFDB24"/>
                </a:solidFill>
                <a:latin typeface="Helvetica Neue"/>
                <a:ea typeface="Helvetica Neue"/>
                <a:cs typeface="Helvetica Neue"/>
              </a:defRPr>
            </a:lvl2pPr>
            <a:lvl3pPr>
              <a:defRPr sz="2475" b="1">
                <a:solidFill>
                  <a:srgbClr val="FFDB24"/>
                </a:solidFill>
                <a:latin typeface="Helvetica Neue"/>
                <a:ea typeface="Helvetica Neue"/>
                <a:cs typeface="Helvetica Neue"/>
              </a:defRPr>
            </a:lvl3pPr>
            <a:lvl4pPr>
              <a:defRPr sz="2475" b="1">
                <a:solidFill>
                  <a:srgbClr val="FFDB24"/>
                </a:solidFill>
                <a:latin typeface="Helvetica Neue"/>
                <a:ea typeface="Helvetica Neue"/>
                <a:cs typeface="Helvetica Neue"/>
              </a:defRPr>
            </a:lvl4pPr>
            <a:lvl5pPr>
              <a:defRPr sz="2475" b="1">
                <a:solidFill>
                  <a:srgbClr val="FFDB24"/>
                </a:solidFill>
                <a:latin typeface="Helvetica Neue"/>
                <a:ea typeface="Helvetica Neue"/>
                <a:cs typeface="Helvetica Neue"/>
              </a:defRPr>
            </a:lvl5pPr>
            <a:lvl6pPr>
              <a:defRPr sz="2475" b="1">
                <a:solidFill>
                  <a:srgbClr val="FFDB24"/>
                </a:solidFill>
                <a:latin typeface="Helvetica Neue"/>
                <a:ea typeface="Helvetica Neue"/>
                <a:cs typeface="Helvetica Neue"/>
              </a:defRPr>
            </a:lvl6pPr>
            <a:lvl7pPr>
              <a:defRPr sz="2475" b="1">
                <a:solidFill>
                  <a:srgbClr val="FFDB24"/>
                </a:solidFill>
                <a:latin typeface="Helvetica Neue"/>
                <a:ea typeface="Helvetica Neue"/>
                <a:cs typeface="Helvetica Neue"/>
              </a:defRPr>
            </a:lvl7pPr>
            <a:lvl8pPr>
              <a:defRPr sz="2475" b="1">
                <a:solidFill>
                  <a:srgbClr val="FFDB24"/>
                </a:solidFill>
                <a:latin typeface="Helvetica Neue"/>
                <a:ea typeface="Helvetica Neue"/>
                <a:cs typeface="Helvetica Neue"/>
              </a:defRPr>
            </a:lvl8pPr>
            <a:lvl9pPr>
              <a:defRPr sz="2475" b="1">
                <a:solidFill>
                  <a:srgbClr val="FFDB24"/>
                </a:solidFill>
                <a:latin typeface="Helvetica Neue"/>
                <a:ea typeface="Helvetica Neue"/>
                <a:cs typeface="Helvetica Neue"/>
              </a:defRPr>
            </a:lvl9pPr>
          </a:lstStyle>
          <a:p xmlns:a="http://schemas.openxmlformats.org/drawingml/2006/main">
            <a:pPr>
              <a:defRPr sz="2475" b="1">
                <a:solidFill>
                  <a:srgbClr val="FFDB24"/>
                </a:solidFill>
                <a:latin typeface="Helvetica Neue"/>
                <a:ea typeface="Helvetica Neue"/>
                <a:cs typeface="Helvetica Neue"/>
              </a:defRPr>
            </a:pPr>
            <a:r>
              <a:rPr sz="2475" b="1">
                <a:solidFill>
                  <a:srgbClr val="FFDB24"/>
                </a:solidFill>
                <a:latin typeface="Helvetica Neue"/>
                <a:ea typeface="Helvetica Neue"/>
                <a:cs typeface="Helvetica Neue"/>
              </a:rPr>
              <a:t>Instantaneous power</a:t>
            </a:r>
          </a:p>
        </p:txBody>
      </p:sp>
      <p:sp>
        <p:nvSpPr>
          <p:cNvPr id="6" name="">
            <a:extLst xmlns:a="http://schemas.openxmlformats.org/drawingml/2006/main">
              <a:ext uri="{FF2B5EF4-FFF2-40B4-BE49-F238E27FC236}">
                <a16:creationId xmlns:a16="http://schemas.microsoft.com/office/drawing/2014/main" id="{1BC921D5-6EC1-4A85-8CE7-8E58DF553E2C}"/>
              </a:ext>
            </a:extLst>
          </p:cNvPr>
          <p:cNvSpPr>
            <a:spLocks xmlns:a="http://schemas.openxmlformats.org/drawingml/2006/main" noGrp="1"/>
          </p:cNvSpPr>
          <p:nvPr/>
        </p:nvSpPr>
        <p:spPr>
          <a:xfrm xmlns:a="http://schemas.openxmlformats.org/drawingml/2006/main">
            <a:off x="609600" y="3143250"/>
            <a:ext cx="523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0">
                <a:solidFill>
                  <a:srgbClr val="F4F3EB"/>
                </a:solidFill>
                <a:latin typeface="Helvetica Neue"/>
                <a:ea typeface="Helvetica Neue"/>
                <a:cs typeface="Helvetica Neue"/>
              </a:defRPr>
            </a:defPPr>
            <a:lvl1pPr>
              <a:defRPr sz="2850" b="0">
                <a:solidFill>
                  <a:srgbClr val="F4F3EB"/>
                </a:solidFill>
                <a:latin typeface="Helvetica Neue"/>
                <a:ea typeface="Helvetica Neue"/>
                <a:cs typeface="Helvetica Neue"/>
              </a:defRPr>
            </a:lvl1pPr>
            <a:lvl2pPr>
              <a:defRPr sz="2850" b="0">
                <a:solidFill>
                  <a:srgbClr val="F4F3EB"/>
                </a:solidFill>
                <a:latin typeface="Helvetica Neue"/>
                <a:ea typeface="Helvetica Neue"/>
                <a:cs typeface="Helvetica Neue"/>
              </a:defRPr>
            </a:lvl2pPr>
            <a:lvl3pPr>
              <a:defRPr sz="2850" b="0">
                <a:solidFill>
                  <a:srgbClr val="F4F3EB"/>
                </a:solidFill>
                <a:latin typeface="Helvetica Neue"/>
                <a:ea typeface="Helvetica Neue"/>
                <a:cs typeface="Helvetica Neue"/>
              </a:defRPr>
            </a:lvl3pPr>
            <a:lvl4pPr>
              <a:defRPr sz="2850" b="0">
                <a:solidFill>
                  <a:srgbClr val="F4F3EB"/>
                </a:solidFill>
                <a:latin typeface="Helvetica Neue"/>
                <a:ea typeface="Helvetica Neue"/>
                <a:cs typeface="Helvetica Neue"/>
              </a:defRPr>
            </a:lvl4pPr>
            <a:lvl5pPr>
              <a:defRPr sz="2850" b="0">
                <a:solidFill>
                  <a:srgbClr val="F4F3EB"/>
                </a:solidFill>
                <a:latin typeface="Helvetica Neue"/>
                <a:ea typeface="Helvetica Neue"/>
                <a:cs typeface="Helvetica Neue"/>
              </a:defRPr>
            </a:lvl5pPr>
            <a:lvl6pPr>
              <a:defRPr sz="2850" b="0">
                <a:solidFill>
                  <a:srgbClr val="F4F3EB"/>
                </a:solidFill>
                <a:latin typeface="Helvetica Neue"/>
                <a:ea typeface="Helvetica Neue"/>
                <a:cs typeface="Helvetica Neue"/>
              </a:defRPr>
            </a:lvl6pPr>
            <a:lvl7pPr>
              <a:defRPr sz="2850" b="0">
                <a:solidFill>
                  <a:srgbClr val="F4F3EB"/>
                </a:solidFill>
                <a:latin typeface="Helvetica Neue"/>
                <a:ea typeface="Helvetica Neue"/>
                <a:cs typeface="Helvetica Neue"/>
              </a:defRPr>
            </a:lvl7pPr>
            <a:lvl8pPr>
              <a:defRPr sz="2850" b="0">
                <a:solidFill>
                  <a:srgbClr val="F4F3EB"/>
                </a:solidFill>
                <a:latin typeface="Helvetica Neue"/>
                <a:ea typeface="Helvetica Neue"/>
                <a:cs typeface="Helvetica Neue"/>
              </a:defRPr>
            </a:lvl8pPr>
            <a:lvl9pPr>
              <a:defRPr sz="2850" b="0">
                <a:solidFill>
                  <a:srgbClr val="F4F3EB"/>
                </a:solidFill>
                <a:latin typeface="Helvetica Neue"/>
                <a:ea typeface="Helvetica Neue"/>
                <a:cs typeface="Helvetica Neue"/>
              </a:defRPr>
            </a:lvl9pPr>
          </a:lstStyle>
          <a:p xmlns:a="http://schemas.openxmlformats.org/drawingml/2006/main">
            <a:pPr>
              <a:defRPr sz="2850" b="0">
                <a:solidFill>
                  <a:srgbClr val="F4F3EB"/>
                </a:solidFill>
                <a:latin typeface="Helvetica Neue"/>
                <a:ea typeface="Helvetica Neue"/>
                <a:cs typeface="Helvetica Neue"/>
              </a:defRPr>
            </a:pPr>
            <a:r>
              <a:rPr sz="2850" b="0">
                <a:solidFill>
                  <a:srgbClr val="F4F3EB"/>
                </a:solidFill>
                <a:latin typeface="Helvetica Neue"/>
                <a:ea typeface="Helvetica Neue"/>
                <a:cs typeface="Helvetica Neue"/>
              </a:rPr>
              <a:t>p(t) = v(t) × i(t)</a:t>
            </a:r>
          </a:p>
        </p:txBody>
      </p:sp>
      <p:sp>
        <p:nvSpPr>
          <p:cNvPr id="7" name="">
            <a:extLst xmlns:a="http://schemas.openxmlformats.org/drawingml/2006/main">
              <a:ext uri="{FF2B5EF4-FFF2-40B4-BE49-F238E27FC236}">
                <a16:creationId xmlns:a16="http://schemas.microsoft.com/office/drawing/2014/main" id="{B3E52E61-FF0A-46FE-91F4-6D541AA2CD24}"/>
              </a:ext>
            </a:extLst>
          </p:cNvPr>
          <p:cNvSpPr>
            <a:spLocks xmlns:a="http://schemas.openxmlformats.org/drawingml/2006/main" noGrp="1"/>
          </p:cNvSpPr>
          <p:nvPr/>
        </p:nvSpPr>
        <p:spPr>
          <a:xfrm xmlns:a="http://schemas.openxmlformats.org/drawingml/2006/main">
            <a:off x="609600" y="4086225"/>
            <a:ext cx="5095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4F3EB"/>
                </a:solidFill>
                <a:latin typeface="Helvetica Neue"/>
                <a:ea typeface="Helvetica Neue"/>
                <a:cs typeface="Helvetica Neue"/>
              </a:defRPr>
            </a:defPPr>
            <a:lvl1pPr>
              <a:defRPr sz="2100" b="0">
                <a:solidFill>
                  <a:srgbClr val="F4F3EB"/>
                </a:solidFill>
                <a:latin typeface="Helvetica Neue"/>
                <a:ea typeface="Helvetica Neue"/>
                <a:cs typeface="Helvetica Neue"/>
              </a:defRPr>
            </a:lvl1pPr>
            <a:lvl2pPr>
              <a:defRPr sz="2100" b="0">
                <a:solidFill>
                  <a:srgbClr val="F4F3EB"/>
                </a:solidFill>
                <a:latin typeface="Helvetica Neue"/>
                <a:ea typeface="Helvetica Neue"/>
                <a:cs typeface="Helvetica Neue"/>
              </a:defRPr>
            </a:lvl2pPr>
            <a:lvl3pPr>
              <a:defRPr sz="2100" b="0">
                <a:solidFill>
                  <a:srgbClr val="F4F3EB"/>
                </a:solidFill>
                <a:latin typeface="Helvetica Neue"/>
                <a:ea typeface="Helvetica Neue"/>
                <a:cs typeface="Helvetica Neue"/>
              </a:defRPr>
            </a:lvl3pPr>
            <a:lvl4pPr>
              <a:defRPr sz="2100" b="0">
                <a:solidFill>
                  <a:srgbClr val="F4F3EB"/>
                </a:solidFill>
                <a:latin typeface="Helvetica Neue"/>
                <a:ea typeface="Helvetica Neue"/>
                <a:cs typeface="Helvetica Neue"/>
              </a:defRPr>
            </a:lvl4pPr>
            <a:lvl5pPr>
              <a:defRPr sz="2100" b="0">
                <a:solidFill>
                  <a:srgbClr val="F4F3EB"/>
                </a:solidFill>
                <a:latin typeface="Helvetica Neue"/>
                <a:ea typeface="Helvetica Neue"/>
                <a:cs typeface="Helvetica Neue"/>
              </a:defRPr>
            </a:lvl5pPr>
            <a:lvl6pPr>
              <a:defRPr sz="2100" b="0">
                <a:solidFill>
                  <a:srgbClr val="F4F3EB"/>
                </a:solidFill>
                <a:latin typeface="Helvetica Neue"/>
                <a:ea typeface="Helvetica Neue"/>
                <a:cs typeface="Helvetica Neue"/>
              </a:defRPr>
            </a:lvl6pPr>
            <a:lvl7pPr>
              <a:defRPr sz="2100" b="0">
                <a:solidFill>
                  <a:srgbClr val="F4F3EB"/>
                </a:solidFill>
                <a:latin typeface="Helvetica Neue"/>
                <a:ea typeface="Helvetica Neue"/>
                <a:cs typeface="Helvetica Neue"/>
              </a:defRPr>
            </a:lvl7pPr>
            <a:lvl8pPr>
              <a:defRPr sz="2100" b="0">
                <a:solidFill>
                  <a:srgbClr val="F4F3EB"/>
                </a:solidFill>
                <a:latin typeface="Helvetica Neue"/>
                <a:ea typeface="Helvetica Neue"/>
                <a:cs typeface="Helvetica Neue"/>
              </a:defRPr>
            </a:lvl8pPr>
            <a:lvl9pPr>
              <a:defRPr sz="2100" b="0">
                <a:solidFill>
                  <a:srgbClr val="F4F3EB"/>
                </a:solidFill>
                <a:latin typeface="Helvetica Neue"/>
                <a:ea typeface="Helvetica Neue"/>
                <a:cs typeface="Helvetica Neue"/>
              </a:defRPr>
            </a:lvl9pPr>
          </a:lstStyle>
          <a:p xmlns:a="http://schemas.openxmlformats.org/drawingml/2006/main">
            <a:pPr>
              <a:defRPr sz="2100" b="0">
                <a:solidFill>
                  <a:srgbClr val="F4F3EB"/>
                </a:solidFill>
                <a:latin typeface="Helvetica Neue"/>
                <a:ea typeface="Helvetica Neue"/>
                <a:cs typeface="Helvetica Neue"/>
              </a:defRPr>
            </a:pPr>
            <a:r>
              <a:rPr sz="2100" b="0">
                <a:solidFill>
                  <a:srgbClr val="F4F3EB"/>
                </a:solidFill>
                <a:latin typeface="Helvetica Neue"/>
                <a:ea typeface="Helvetica Neue"/>
                <a:cs typeface="Helvetica Neue"/>
              </a:rPr>
              <a:t>Average real power at 116 V RMS:</a:t>
            </a:r>
          </a:p>
          <a:p xmlns:a="http://schemas.openxmlformats.org/drawingml/2006/main">
            <a:pPr>
              <a:defRPr sz="2100" b="0">
                <a:solidFill>
                  <a:srgbClr val="F4F3EB"/>
                </a:solidFill>
                <a:latin typeface="Helvetica Neue"/>
                <a:ea typeface="Helvetica Neue"/>
                <a:cs typeface="Helvetica Neue"/>
              </a:defRPr>
            </a:pPr>
            <a:r>
              <a:rPr sz="2100" b="0">
                <a:solidFill>
                  <a:srgbClr val="F4F3EB"/>
                </a:solidFill>
                <a:latin typeface="Helvetica Neue"/>
                <a:ea typeface="Helvetica Neue"/>
                <a:cs typeface="Helvetica Neue"/>
              </a:rPr>
              <a:t>P (W) = 116 × I RMS (A) × PF</a:t>
            </a:r>
          </a:p>
        </p:txBody>
      </p:sp>
      <p:sp>
        <p:nvSpPr>
          <p:cNvPr id="8" name="">
            <a:extLst xmlns:a="http://schemas.openxmlformats.org/drawingml/2006/main">
              <a:ext uri="{FF2B5EF4-FFF2-40B4-BE49-F238E27FC236}">
                <a16:creationId xmlns:a16="http://schemas.microsoft.com/office/drawing/2014/main" id="{74A38E64-C048-4A3B-B478-DF7ED6803176}"/>
              </a:ext>
            </a:extLst>
          </p:cNvPr>
          <p:cNvSpPr>
            <a:spLocks xmlns:a="http://schemas.openxmlformats.org/drawingml/2006/main" noGrp="1"/>
          </p:cNvSpPr>
          <p:nvPr/>
        </p:nvSpPr>
        <p:spPr>
          <a:xfrm xmlns:a="http://schemas.openxmlformats.org/drawingml/2006/main">
            <a:off x="609600" y="541020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BABDB0"/>
                </a:solidFill>
                <a:latin typeface="Helvetica Neue"/>
                <a:ea typeface="Helvetica Neue"/>
                <a:cs typeface="Helvetica Neue"/>
              </a:defRPr>
            </a:defPPr>
            <a:lvl1pPr>
              <a:defRPr sz="1800" b="0">
                <a:solidFill>
                  <a:srgbClr val="BABDB0"/>
                </a:solidFill>
                <a:latin typeface="Helvetica Neue"/>
                <a:ea typeface="Helvetica Neue"/>
                <a:cs typeface="Helvetica Neue"/>
              </a:defRPr>
            </a:lvl1pPr>
            <a:lvl2pPr>
              <a:defRPr sz="1800" b="0">
                <a:solidFill>
                  <a:srgbClr val="BABDB0"/>
                </a:solidFill>
                <a:latin typeface="Helvetica Neue"/>
                <a:ea typeface="Helvetica Neue"/>
                <a:cs typeface="Helvetica Neue"/>
              </a:defRPr>
            </a:lvl2pPr>
            <a:lvl3pPr>
              <a:defRPr sz="1800" b="0">
                <a:solidFill>
                  <a:srgbClr val="BABDB0"/>
                </a:solidFill>
                <a:latin typeface="Helvetica Neue"/>
                <a:ea typeface="Helvetica Neue"/>
                <a:cs typeface="Helvetica Neue"/>
              </a:defRPr>
            </a:lvl3pPr>
            <a:lvl4pPr>
              <a:defRPr sz="1800" b="0">
                <a:solidFill>
                  <a:srgbClr val="BABDB0"/>
                </a:solidFill>
                <a:latin typeface="Helvetica Neue"/>
                <a:ea typeface="Helvetica Neue"/>
                <a:cs typeface="Helvetica Neue"/>
              </a:defRPr>
            </a:lvl4pPr>
            <a:lvl5pPr>
              <a:defRPr sz="1800" b="0">
                <a:solidFill>
                  <a:srgbClr val="BABDB0"/>
                </a:solidFill>
                <a:latin typeface="Helvetica Neue"/>
                <a:ea typeface="Helvetica Neue"/>
                <a:cs typeface="Helvetica Neue"/>
              </a:defRPr>
            </a:lvl5pPr>
            <a:lvl6pPr>
              <a:defRPr sz="1800" b="0">
                <a:solidFill>
                  <a:srgbClr val="BABDB0"/>
                </a:solidFill>
                <a:latin typeface="Helvetica Neue"/>
                <a:ea typeface="Helvetica Neue"/>
                <a:cs typeface="Helvetica Neue"/>
              </a:defRPr>
            </a:lvl6pPr>
            <a:lvl7pPr>
              <a:defRPr sz="1800" b="0">
                <a:solidFill>
                  <a:srgbClr val="BABDB0"/>
                </a:solidFill>
                <a:latin typeface="Helvetica Neue"/>
                <a:ea typeface="Helvetica Neue"/>
                <a:cs typeface="Helvetica Neue"/>
              </a:defRPr>
            </a:lvl7pPr>
            <a:lvl8pPr>
              <a:defRPr sz="1800" b="0">
                <a:solidFill>
                  <a:srgbClr val="BABDB0"/>
                </a:solidFill>
                <a:latin typeface="Helvetica Neue"/>
                <a:ea typeface="Helvetica Neue"/>
                <a:cs typeface="Helvetica Neue"/>
              </a:defRPr>
            </a:lvl8pPr>
            <a:lvl9pPr>
              <a:defRPr sz="1800" b="0">
                <a:solidFill>
                  <a:srgbClr val="BABDB0"/>
                </a:solidFill>
                <a:latin typeface="Helvetica Neue"/>
                <a:ea typeface="Helvetica Neue"/>
                <a:cs typeface="Helvetica Neue"/>
              </a:defRPr>
            </a:lvl9pPr>
          </a:lstStyle>
          <a:p xmlns:a="http://schemas.openxmlformats.org/drawingml/2006/main">
            <a:pPr>
              <a:defRPr sz="1800" b="0">
                <a:solidFill>
                  <a:srgbClr val="BABDB0"/>
                </a:solidFill>
                <a:latin typeface="Helvetica Neue"/>
                <a:ea typeface="Helvetica Neue"/>
                <a:cs typeface="Helvetica Neue"/>
              </a:defRPr>
            </a:pPr>
            <a:r>
              <a:rPr sz="1800" b="0">
                <a:solidFill>
                  <a:srgbClr val="BABDB0"/>
                </a:solidFill>
                <a:latin typeface="Helvetica Neue"/>
                <a:ea typeface="Helvetica Neue"/>
                <a:cs typeface="Helvetica Neue"/>
              </a:rPr>
              <a:t>116 × I gives apparent power in VA.</a:t>
            </a:r>
          </a:p>
          <a:p xmlns:a="http://schemas.openxmlformats.org/drawingml/2006/main">
            <a:pPr>
              <a:defRPr sz="1800" b="0">
                <a:solidFill>
                  <a:srgbClr val="BABDB0"/>
                </a:solidFill>
                <a:latin typeface="Helvetica Neue"/>
                <a:ea typeface="Helvetica Neue"/>
                <a:cs typeface="Helvetica Neue"/>
              </a:defRPr>
            </a:pPr>
            <a:r>
              <a:rPr sz="1800" b="0">
                <a:solidFill>
                  <a:srgbClr val="BABDB0"/>
                </a:solidFill>
                <a:latin typeface="Helvetica Neue"/>
                <a:ea typeface="Helvetica Neue"/>
                <a:cs typeface="Helvetica Neue"/>
              </a:rPr>
              <a:t>P = 116 × I W requires PF = 1.</a:t>
            </a:r>
          </a:p>
        </p:txBody>
      </p:sp>
      <p:sp>
        <p:nvSpPr>
          <p:cNvPr id="9" name="">
            <a:extLst xmlns:a="http://schemas.openxmlformats.org/drawingml/2006/main">
              <a:ext uri="{FF2B5EF4-FFF2-40B4-BE49-F238E27FC236}">
                <a16:creationId xmlns:a16="http://schemas.microsoft.com/office/drawing/2014/main" id="{1CF56279-26A0-4516-BA11-A509FF76C5D9}"/>
              </a:ext>
            </a:extLst>
          </p:cNvPr>
          <p:cNvSpPr>
            <a:spLocks xmlns:a="http://schemas.openxmlformats.org/drawingml/2006/main" noGrp="1"/>
          </p:cNvSpPr>
          <p:nvPr/>
        </p:nvSpPr>
        <p:spPr>
          <a:xfrm xmlns:a="http://schemas.openxmlformats.org/drawingml/2006/main">
            <a:off x="6419850" y="2466975"/>
            <a:ext cx="5000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EE6758"/>
                </a:solidFill>
                <a:latin typeface="Helvetica Neue"/>
                <a:ea typeface="Helvetica Neue"/>
                <a:cs typeface="Helvetica Neue"/>
              </a:defRPr>
            </a:defPPr>
            <a:lvl1pPr>
              <a:defRPr sz="2475" b="1">
                <a:solidFill>
                  <a:srgbClr val="EE6758"/>
                </a:solidFill>
                <a:latin typeface="Helvetica Neue"/>
                <a:ea typeface="Helvetica Neue"/>
                <a:cs typeface="Helvetica Neue"/>
              </a:defRPr>
            </a:lvl1pPr>
            <a:lvl2pPr>
              <a:defRPr sz="2475" b="1">
                <a:solidFill>
                  <a:srgbClr val="EE6758"/>
                </a:solidFill>
                <a:latin typeface="Helvetica Neue"/>
                <a:ea typeface="Helvetica Neue"/>
                <a:cs typeface="Helvetica Neue"/>
              </a:defRPr>
            </a:lvl2pPr>
            <a:lvl3pPr>
              <a:defRPr sz="2475" b="1">
                <a:solidFill>
                  <a:srgbClr val="EE6758"/>
                </a:solidFill>
                <a:latin typeface="Helvetica Neue"/>
                <a:ea typeface="Helvetica Neue"/>
                <a:cs typeface="Helvetica Neue"/>
              </a:defRPr>
            </a:lvl3pPr>
            <a:lvl4pPr>
              <a:defRPr sz="2475" b="1">
                <a:solidFill>
                  <a:srgbClr val="EE6758"/>
                </a:solidFill>
                <a:latin typeface="Helvetica Neue"/>
                <a:ea typeface="Helvetica Neue"/>
                <a:cs typeface="Helvetica Neue"/>
              </a:defRPr>
            </a:lvl4pPr>
            <a:lvl5pPr>
              <a:defRPr sz="2475" b="1">
                <a:solidFill>
                  <a:srgbClr val="EE6758"/>
                </a:solidFill>
                <a:latin typeface="Helvetica Neue"/>
                <a:ea typeface="Helvetica Neue"/>
                <a:cs typeface="Helvetica Neue"/>
              </a:defRPr>
            </a:lvl5pPr>
            <a:lvl6pPr>
              <a:defRPr sz="2475" b="1">
                <a:solidFill>
                  <a:srgbClr val="EE6758"/>
                </a:solidFill>
                <a:latin typeface="Helvetica Neue"/>
                <a:ea typeface="Helvetica Neue"/>
                <a:cs typeface="Helvetica Neue"/>
              </a:defRPr>
            </a:lvl6pPr>
            <a:lvl7pPr>
              <a:defRPr sz="2475" b="1">
                <a:solidFill>
                  <a:srgbClr val="EE6758"/>
                </a:solidFill>
                <a:latin typeface="Helvetica Neue"/>
                <a:ea typeface="Helvetica Neue"/>
                <a:cs typeface="Helvetica Neue"/>
              </a:defRPr>
            </a:lvl7pPr>
            <a:lvl8pPr>
              <a:defRPr sz="2475" b="1">
                <a:solidFill>
                  <a:srgbClr val="EE6758"/>
                </a:solidFill>
                <a:latin typeface="Helvetica Neue"/>
                <a:ea typeface="Helvetica Neue"/>
                <a:cs typeface="Helvetica Neue"/>
              </a:defRPr>
            </a:lvl8pPr>
            <a:lvl9pPr>
              <a:defRPr sz="2475" b="1">
                <a:solidFill>
                  <a:srgbClr val="EE6758"/>
                </a:solidFill>
                <a:latin typeface="Helvetica Neue"/>
                <a:ea typeface="Helvetica Neue"/>
                <a:cs typeface="Helvetica Neue"/>
              </a:defRPr>
            </a:lvl9pPr>
          </a:lstStyle>
          <a:p xmlns:a="http://schemas.openxmlformats.org/drawingml/2006/main">
            <a:pPr>
              <a:defRPr sz="2475" b="1">
                <a:solidFill>
                  <a:srgbClr val="EE6758"/>
                </a:solidFill>
                <a:latin typeface="Helvetica Neue"/>
                <a:ea typeface="Helvetica Neue"/>
                <a:cs typeface="Helvetica Neue"/>
              </a:defRPr>
            </a:pPr>
            <a:r>
              <a:rPr sz="2475" b="1">
                <a:solidFill>
                  <a:srgbClr val="EE6758"/>
                </a:solidFill>
                <a:latin typeface="Helvetica Neue"/>
                <a:ea typeface="Helvetica Neue"/>
                <a:cs typeface="Helvetica Neue"/>
              </a:rPr>
              <a:t>Energy over a test window</a:t>
            </a:r>
          </a:p>
        </p:txBody>
      </p:sp>
      <p:sp>
        <p:nvSpPr>
          <p:cNvPr id="10" name="">
            <a:extLst xmlns:a="http://schemas.openxmlformats.org/drawingml/2006/main">
              <a:ext uri="{FF2B5EF4-FFF2-40B4-BE49-F238E27FC236}">
                <a16:creationId xmlns:a16="http://schemas.microsoft.com/office/drawing/2014/main" id="{C32E01F2-2A72-49BE-A904-F597E9F71D41}"/>
              </a:ext>
            </a:extLst>
          </p:cNvPr>
          <p:cNvSpPr>
            <a:spLocks xmlns:a="http://schemas.openxmlformats.org/drawingml/2006/main" noGrp="1"/>
          </p:cNvSpPr>
          <p:nvPr/>
        </p:nvSpPr>
        <p:spPr>
          <a:xfrm xmlns:a="http://schemas.openxmlformats.org/drawingml/2006/main">
            <a:off x="6419850" y="3143250"/>
            <a:ext cx="523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F4F3EB"/>
                </a:solidFill>
                <a:latin typeface="Helvetica Neue"/>
                <a:ea typeface="Helvetica Neue"/>
                <a:cs typeface="Helvetica Neue"/>
              </a:defRPr>
            </a:defPPr>
            <a:lvl1pPr>
              <a:defRPr sz="2550" b="0">
                <a:solidFill>
                  <a:srgbClr val="F4F3EB"/>
                </a:solidFill>
                <a:latin typeface="Helvetica Neue"/>
                <a:ea typeface="Helvetica Neue"/>
                <a:cs typeface="Helvetica Neue"/>
              </a:defRPr>
            </a:lvl1pPr>
            <a:lvl2pPr>
              <a:defRPr sz="2550" b="0">
                <a:solidFill>
                  <a:srgbClr val="F4F3EB"/>
                </a:solidFill>
                <a:latin typeface="Helvetica Neue"/>
                <a:ea typeface="Helvetica Neue"/>
                <a:cs typeface="Helvetica Neue"/>
              </a:defRPr>
            </a:lvl2pPr>
            <a:lvl3pPr>
              <a:defRPr sz="2550" b="0">
                <a:solidFill>
                  <a:srgbClr val="F4F3EB"/>
                </a:solidFill>
                <a:latin typeface="Helvetica Neue"/>
                <a:ea typeface="Helvetica Neue"/>
                <a:cs typeface="Helvetica Neue"/>
              </a:defRPr>
            </a:lvl3pPr>
            <a:lvl4pPr>
              <a:defRPr sz="2550" b="0">
                <a:solidFill>
                  <a:srgbClr val="F4F3EB"/>
                </a:solidFill>
                <a:latin typeface="Helvetica Neue"/>
                <a:ea typeface="Helvetica Neue"/>
                <a:cs typeface="Helvetica Neue"/>
              </a:defRPr>
            </a:lvl4pPr>
            <a:lvl5pPr>
              <a:defRPr sz="2550" b="0">
                <a:solidFill>
                  <a:srgbClr val="F4F3EB"/>
                </a:solidFill>
                <a:latin typeface="Helvetica Neue"/>
                <a:ea typeface="Helvetica Neue"/>
                <a:cs typeface="Helvetica Neue"/>
              </a:defRPr>
            </a:lvl5pPr>
            <a:lvl6pPr>
              <a:defRPr sz="2550" b="0">
                <a:solidFill>
                  <a:srgbClr val="F4F3EB"/>
                </a:solidFill>
                <a:latin typeface="Helvetica Neue"/>
                <a:ea typeface="Helvetica Neue"/>
                <a:cs typeface="Helvetica Neue"/>
              </a:defRPr>
            </a:lvl6pPr>
            <a:lvl7pPr>
              <a:defRPr sz="2550" b="0">
                <a:solidFill>
                  <a:srgbClr val="F4F3EB"/>
                </a:solidFill>
                <a:latin typeface="Helvetica Neue"/>
                <a:ea typeface="Helvetica Neue"/>
                <a:cs typeface="Helvetica Neue"/>
              </a:defRPr>
            </a:lvl7pPr>
            <a:lvl8pPr>
              <a:defRPr sz="2550" b="0">
                <a:solidFill>
                  <a:srgbClr val="F4F3EB"/>
                </a:solidFill>
                <a:latin typeface="Helvetica Neue"/>
                <a:ea typeface="Helvetica Neue"/>
                <a:cs typeface="Helvetica Neue"/>
              </a:defRPr>
            </a:lvl8pPr>
            <a:lvl9pPr>
              <a:defRPr sz="2550" b="0">
                <a:solidFill>
                  <a:srgbClr val="F4F3EB"/>
                </a:solidFill>
                <a:latin typeface="Helvetica Neue"/>
                <a:ea typeface="Helvetica Neue"/>
                <a:cs typeface="Helvetica Neue"/>
              </a:defRPr>
            </a:lvl9pPr>
          </a:lstStyle>
          <a:p xmlns:a="http://schemas.openxmlformats.org/drawingml/2006/main">
            <a:pPr>
              <a:defRPr sz="2550" b="0">
                <a:solidFill>
                  <a:srgbClr val="F4F3EB"/>
                </a:solidFill>
                <a:latin typeface="Helvetica Neue"/>
                <a:ea typeface="Helvetica Neue"/>
                <a:cs typeface="Helvetica Neue"/>
              </a:defRPr>
            </a:pPr>
            <a:r>
              <a:rPr sz="2550" b="0">
                <a:solidFill>
                  <a:srgbClr val="F4F3EB"/>
                </a:solidFill>
                <a:latin typeface="Helvetica Neue"/>
                <a:ea typeface="Helvetica Neue"/>
                <a:cs typeface="Helvetica Neue"/>
              </a:rPr>
              <a:t>E (Wh) = ∫ P(t) dt / 3,600</a:t>
            </a:r>
          </a:p>
        </p:txBody>
      </p:sp>
      <p:sp>
        <p:nvSpPr>
          <p:cNvPr id="11" name="">
            <a:extLst xmlns:a="http://schemas.openxmlformats.org/drawingml/2006/main">
              <a:ext uri="{FF2B5EF4-FFF2-40B4-BE49-F238E27FC236}">
                <a16:creationId xmlns:a16="http://schemas.microsoft.com/office/drawing/2014/main" id="{1CB6EB53-3818-4158-91E6-3C76C8C3020A}"/>
              </a:ext>
            </a:extLst>
          </p:cNvPr>
          <p:cNvSpPr>
            <a:spLocks xmlns:a="http://schemas.openxmlformats.org/drawingml/2006/main" noGrp="1"/>
          </p:cNvSpPr>
          <p:nvPr/>
        </p:nvSpPr>
        <p:spPr>
          <a:xfrm xmlns:a="http://schemas.openxmlformats.org/drawingml/2006/main">
            <a:off x="6419850" y="4086225"/>
            <a:ext cx="5095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4F3EB"/>
                </a:solidFill>
                <a:latin typeface="Helvetica Neue"/>
                <a:ea typeface="Helvetica Neue"/>
                <a:cs typeface="Helvetica Neue"/>
              </a:defRPr>
            </a:defPPr>
            <a:lvl1pPr>
              <a:defRPr sz="2025" b="0">
                <a:solidFill>
                  <a:srgbClr val="F4F3EB"/>
                </a:solidFill>
                <a:latin typeface="Helvetica Neue"/>
                <a:ea typeface="Helvetica Neue"/>
                <a:cs typeface="Helvetica Neue"/>
              </a:defRPr>
            </a:lvl1pPr>
            <a:lvl2pPr>
              <a:defRPr sz="2025" b="0">
                <a:solidFill>
                  <a:srgbClr val="F4F3EB"/>
                </a:solidFill>
                <a:latin typeface="Helvetica Neue"/>
                <a:ea typeface="Helvetica Neue"/>
                <a:cs typeface="Helvetica Neue"/>
              </a:defRPr>
            </a:lvl2pPr>
            <a:lvl3pPr>
              <a:defRPr sz="2025" b="0">
                <a:solidFill>
                  <a:srgbClr val="F4F3EB"/>
                </a:solidFill>
                <a:latin typeface="Helvetica Neue"/>
                <a:ea typeface="Helvetica Neue"/>
                <a:cs typeface="Helvetica Neue"/>
              </a:defRPr>
            </a:lvl3pPr>
            <a:lvl4pPr>
              <a:defRPr sz="2025" b="0">
                <a:solidFill>
                  <a:srgbClr val="F4F3EB"/>
                </a:solidFill>
                <a:latin typeface="Helvetica Neue"/>
                <a:ea typeface="Helvetica Neue"/>
                <a:cs typeface="Helvetica Neue"/>
              </a:defRPr>
            </a:lvl4pPr>
            <a:lvl5pPr>
              <a:defRPr sz="2025" b="0">
                <a:solidFill>
                  <a:srgbClr val="F4F3EB"/>
                </a:solidFill>
                <a:latin typeface="Helvetica Neue"/>
                <a:ea typeface="Helvetica Neue"/>
                <a:cs typeface="Helvetica Neue"/>
              </a:defRPr>
            </a:lvl5pPr>
            <a:lvl6pPr>
              <a:defRPr sz="2025" b="0">
                <a:solidFill>
                  <a:srgbClr val="F4F3EB"/>
                </a:solidFill>
                <a:latin typeface="Helvetica Neue"/>
                <a:ea typeface="Helvetica Neue"/>
                <a:cs typeface="Helvetica Neue"/>
              </a:defRPr>
            </a:lvl6pPr>
            <a:lvl7pPr>
              <a:defRPr sz="2025" b="0">
                <a:solidFill>
                  <a:srgbClr val="F4F3EB"/>
                </a:solidFill>
                <a:latin typeface="Helvetica Neue"/>
                <a:ea typeface="Helvetica Neue"/>
                <a:cs typeface="Helvetica Neue"/>
              </a:defRPr>
            </a:lvl7pPr>
            <a:lvl8pPr>
              <a:defRPr sz="2025" b="0">
                <a:solidFill>
                  <a:srgbClr val="F4F3EB"/>
                </a:solidFill>
                <a:latin typeface="Helvetica Neue"/>
                <a:ea typeface="Helvetica Neue"/>
                <a:cs typeface="Helvetica Neue"/>
              </a:defRPr>
            </a:lvl8pPr>
            <a:lvl9pPr>
              <a:defRPr sz="2025" b="0">
                <a:solidFill>
                  <a:srgbClr val="F4F3EB"/>
                </a:solidFill>
                <a:latin typeface="Helvetica Neue"/>
                <a:ea typeface="Helvetica Neue"/>
                <a:cs typeface="Helvetica Neue"/>
              </a:defRPr>
            </a:lvl9pPr>
          </a:lstStyle>
          <a:p xmlns:a="http://schemas.openxmlformats.org/drawingml/2006/main">
            <a:pPr>
              <a:defRPr sz="2025" b="0">
                <a:solidFill>
                  <a:srgbClr val="F4F3EB"/>
                </a:solidFill>
                <a:latin typeface="Helvetica Neue"/>
                <a:ea typeface="Helvetica Neue"/>
                <a:cs typeface="Helvetica Neue"/>
              </a:defRPr>
            </a:pPr>
            <a:r>
              <a:rPr sz="2025" b="0">
                <a:solidFill>
                  <a:srgbClr val="F4F3EB"/>
                </a:solidFill>
                <a:latin typeface="Helvetica Neue"/>
                <a:ea typeface="Helvetica Neue"/>
                <a:cs typeface="Helvetica Neue"/>
              </a:rPr>
              <a:t>Time in seconds. Supported NVIDIA</a:t>
            </a:r>
          </a:p>
          <a:p xmlns:a="http://schemas.openxmlformats.org/drawingml/2006/main">
            <a:pPr>
              <a:defRPr sz="2025" b="0">
                <a:solidFill>
                  <a:srgbClr val="F4F3EB"/>
                </a:solidFill>
                <a:latin typeface="Helvetica Neue"/>
                <a:ea typeface="Helvetica Neue"/>
                <a:cs typeface="Helvetica Neue"/>
              </a:defRPr>
            </a:pPr>
            <a:r>
              <a:rPr sz="2025" b="0">
                <a:solidFill>
                  <a:srgbClr val="F4F3EB"/>
                </a:solidFill>
                <a:latin typeface="Helvetica Neue"/>
                <a:ea typeface="Helvetica Neue"/>
                <a:cs typeface="Helvetica Neue"/>
              </a:rPr>
              <a:t>GPU counters in mJ can give:</a:t>
            </a:r>
          </a:p>
          <a:p xmlns:a="http://schemas.openxmlformats.org/drawingml/2006/main">
            <a:pPr>
              <a:defRPr sz="2025" b="0">
                <a:solidFill>
                  <a:srgbClr val="F4F3EB"/>
                </a:solidFill>
                <a:latin typeface="Helvetica Neue"/>
                <a:ea typeface="Helvetica Neue"/>
                <a:cs typeface="Helvetica Neue"/>
              </a:defRPr>
            </a:pPr>
            <a:r>
              <a:rPr sz="2025" b="0">
                <a:solidFill>
                  <a:srgbClr val="F4F3EB"/>
                </a:solidFill>
                <a:latin typeface="Helvetica Neue"/>
                <a:ea typeface="Helvetica Neue"/>
                <a:cs typeface="Helvetica Neue"/>
              </a:rPr>
              <a:t>GPU Wh = Σ Δcounter / 3,600,000</a:t>
            </a:r>
          </a:p>
        </p:txBody>
      </p:sp>
      <p:sp>
        <p:nvSpPr>
          <p:cNvPr id="12" name="">
            <a:extLst xmlns:a="http://schemas.openxmlformats.org/drawingml/2006/main">
              <a:ext uri="{FF2B5EF4-FFF2-40B4-BE49-F238E27FC236}">
                <a16:creationId xmlns:a16="http://schemas.microsoft.com/office/drawing/2014/main" id="{4E4E174E-9272-465D-9D0E-F9C1D13A8812}"/>
              </a:ext>
            </a:extLst>
          </p:cNvPr>
          <p:cNvSpPr>
            <a:spLocks xmlns:a="http://schemas.openxmlformats.org/drawingml/2006/main" noGrp="1"/>
          </p:cNvSpPr>
          <p:nvPr/>
        </p:nvSpPr>
        <p:spPr>
          <a:xfrm xmlns:a="http://schemas.openxmlformats.org/drawingml/2006/main">
            <a:off x="6419850" y="541020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BABDB0"/>
                </a:solidFill>
                <a:latin typeface="Helvetica Neue"/>
                <a:ea typeface="Helvetica Neue"/>
                <a:cs typeface="Helvetica Neue"/>
              </a:defRPr>
            </a:defPPr>
            <a:lvl1pPr>
              <a:defRPr sz="1800" b="0">
                <a:solidFill>
                  <a:srgbClr val="BABDB0"/>
                </a:solidFill>
                <a:latin typeface="Helvetica Neue"/>
                <a:ea typeface="Helvetica Neue"/>
                <a:cs typeface="Helvetica Neue"/>
              </a:defRPr>
            </a:lvl1pPr>
            <a:lvl2pPr>
              <a:defRPr sz="1800" b="0">
                <a:solidFill>
                  <a:srgbClr val="BABDB0"/>
                </a:solidFill>
                <a:latin typeface="Helvetica Neue"/>
                <a:ea typeface="Helvetica Neue"/>
                <a:cs typeface="Helvetica Neue"/>
              </a:defRPr>
            </a:lvl2pPr>
            <a:lvl3pPr>
              <a:defRPr sz="1800" b="0">
                <a:solidFill>
                  <a:srgbClr val="BABDB0"/>
                </a:solidFill>
                <a:latin typeface="Helvetica Neue"/>
                <a:ea typeface="Helvetica Neue"/>
                <a:cs typeface="Helvetica Neue"/>
              </a:defRPr>
            </a:lvl3pPr>
            <a:lvl4pPr>
              <a:defRPr sz="1800" b="0">
                <a:solidFill>
                  <a:srgbClr val="BABDB0"/>
                </a:solidFill>
                <a:latin typeface="Helvetica Neue"/>
                <a:ea typeface="Helvetica Neue"/>
                <a:cs typeface="Helvetica Neue"/>
              </a:defRPr>
            </a:lvl4pPr>
            <a:lvl5pPr>
              <a:defRPr sz="1800" b="0">
                <a:solidFill>
                  <a:srgbClr val="BABDB0"/>
                </a:solidFill>
                <a:latin typeface="Helvetica Neue"/>
                <a:ea typeface="Helvetica Neue"/>
                <a:cs typeface="Helvetica Neue"/>
              </a:defRPr>
            </a:lvl5pPr>
            <a:lvl6pPr>
              <a:defRPr sz="1800" b="0">
                <a:solidFill>
                  <a:srgbClr val="BABDB0"/>
                </a:solidFill>
                <a:latin typeface="Helvetica Neue"/>
                <a:ea typeface="Helvetica Neue"/>
                <a:cs typeface="Helvetica Neue"/>
              </a:defRPr>
            </a:lvl6pPr>
            <a:lvl7pPr>
              <a:defRPr sz="1800" b="0">
                <a:solidFill>
                  <a:srgbClr val="BABDB0"/>
                </a:solidFill>
                <a:latin typeface="Helvetica Neue"/>
                <a:ea typeface="Helvetica Neue"/>
                <a:cs typeface="Helvetica Neue"/>
              </a:defRPr>
            </a:lvl7pPr>
            <a:lvl8pPr>
              <a:defRPr sz="1800" b="0">
                <a:solidFill>
                  <a:srgbClr val="BABDB0"/>
                </a:solidFill>
                <a:latin typeface="Helvetica Neue"/>
                <a:ea typeface="Helvetica Neue"/>
                <a:cs typeface="Helvetica Neue"/>
              </a:defRPr>
            </a:lvl8pPr>
            <a:lvl9pPr>
              <a:defRPr sz="1800" b="0">
                <a:solidFill>
                  <a:srgbClr val="BABDB0"/>
                </a:solidFill>
                <a:latin typeface="Helvetica Neue"/>
                <a:ea typeface="Helvetica Neue"/>
                <a:cs typeface="Helvetica Neue"/>
              </a:defRPr>
            </a:lvl9pPr>
          </a:lstStyle>
          <a:p xmlns:a="http://schemas.openxmlformats.org/drawingml/2006/main">
            <a:pPr>
              <a:defRPr sz="1800" b="0">
                <a:solidFill>
                  <a:srgbClr val="BABDB0"/>
                </a:solidFill>
                <a:latin typeface="Helvetica Neue"/>
                <a:ea typeface="Helvetica Neue"/>
                <a:cs typeface="Helvetica Neue"/>
              </a:defRPr>
            </a:pPr>
            <a:r>
              <a:rPr sz="1800" b="0">
                <a:solidFill>
                  <a:srgbClr val="BABDB0"/>
                </a:solidFill>
                <a:latin typeface="Helvetica Neue"/>
                <a:ea typeface="Helvetica Neue"/>
                <a:cs typeface="Helvetica Neue"/>
              </a:rPr>
              <a:t>Supply energy already includes GPUs.</a:t>
            </a:r>
          </a:p>
          <a:p xmlns:a="http://schemas.openxmlformats.org/drawingml/2006/main">
            <a:pPr>
              <a:defRPr sz="1800" b="0">
                <a:solidFill>
                  <a:srgbClr val="BABDB0"/>
                </a:solidFill>
                <a:latin typeface="Helvetica Neue"/>
                <a:ea typeface="Helvetica Neue"/>
                <a:cs typeface="Helvetica Neue"/>
              </a:defRPr>
            </a:pPr>
            <a:r>
              <a:rPr sz="1800" b="0">
                <a:solidFill>
                  <a:srgbClr val="BABDB0"/>
                </a:solidFill>
                <a:latin typeface="Helvetica Neue"/>
                <a:ea typeface="Helvetica Neue"/>
                <a:cs typeface="Helvetica Neue"/>
              </a:rPr>
              <a:t>Keep GPU and system scopes separate.</a:t>
            </a:r>
          </a:p>
        </p:txBody>
      </p:sp>
    </p:spTree>
    <p:extLst>
      <p:ext uri="{BB962C8B-B14F-4D97-AF65-F5344CB8AC3E}">
        <p14:creationId xmlns:p14="http://schemas.microsoft.com/office/powerpoint/2010/main" val="15304791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2026-10-17T17:25:31.4100000Z</dcterms:created>
  <dcterms:modified xsi:type="dcterms:W3CDTF">2026-10-17T17:25:31.4100000Z</dcterms:modified>
</coreProperties>
</file>